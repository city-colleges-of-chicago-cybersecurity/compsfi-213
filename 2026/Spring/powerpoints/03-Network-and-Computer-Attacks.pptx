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16.xml" ContentType="application/vnd.openxmlformats-officedocument.theme+xml"/>
  <Override PartName="/ppt/theme/theme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7.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wmf" ContentType="image/x-wmf"/>
  <Override PartName="/ppt/media/image4.jpeg" ContentType="image/jpeg"/>
  <Override PartName="/ppt/media/image5.png" ContentType="image/png"/>
  <Override PartName="/ppt/media/image8.jpeg" ContentType="image/jpeg"/>
  <Override PartName="/ppt/media/image6.png" ContentType="image/png"/>
  <Override PartName="/ppt/media/image7.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3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2.xml.rels" ContentType="application/vnd.openxmlformats-package.relationships+xml"/>
  <Override PartName="/ppt/slides/slide38.xml" ContentType="application/vnd.openxmlformats-officedocument.presentationml.slide+xml"/>
  <Override PartName="/ppt/slides/slide39.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notesSlides/_rels/notesSlide34.xml.rels" ContentType="application/vnd.openxmlformats-package.relationships+xml"/>
  <Override PartName="/ppt/notesSlides/_rels/notesSlide17.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35.xml.rels" ContentType="application/vnd.openxmlformats-package.relationships+xml"/>
  <Override PartName="/ppt/notesSlides/_rels/notesSlide11.xml.rels" ContentType="application/vnd.openxmlformats-package.relationships+xml"/>
  <Override PartName="/ppt/notesSlides/_rels/notesSlide1.xml.rels" ContentType="application/vnd.openxmlformats-package.relationships+xml"/>
  <Override PartName="/ppt/notesSlides/notesSlide11.xml" ContentType="application/vnd.openxmlformats-officedocument.presentationml.notesSlide+xml"/>
  <Override PartName="/ppt/notesSlides/notesSlide35.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3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Lst>
  <p:notesMasterIdLst>
    <p:notesMasterId r:id="rId17"/>
  </p:notes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290" r:id="rId52"/>
    <p:sldId id="291" r:id="rId53"/>
    <p:sldId id="292" r:id="rId54"/>
    <p:sldId id="293" r:id="rId55"/>
    <p:sldId id="294" r:id="rId5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notesMaster" Target="notesMasters/notesMaster1.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47" Type="http://schemas.openxmlformats.org/officeDocument/2006/relationships/slide" Target="slides/slide30.xml"/><Relationship Id="rId48" Type="http://schemas.openxmlformats.org/officeDocument/2006/relationships/slide" Target="slides/slide31.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 Id="rId52" Type="http://schemas.openxmlformats.org/officeDocument/2006/relationships/slide" Target="slides/slide35.xml"/><Relationship Id="rId53" Type="http://schemas.openxmlformats.org/officeDocument/2006/relationships/slide" Target="slides/slide36.xml"/><Relationship Id="rId54" Type="http://schemas.openxmlformats.org/officeDocument/2006/relationships/slide" Target="slides/slide37.xml"/><Relationship Id="rId55" Type="http://schemas.openxmlformats.org/officeDocument/2006/relationships/slide" Target="slides/slide38.xml"/><Relationship Id="rId56" Type="http://schemas.openxmlformats.org/officeDocument/2006/relationships/slide" Target="slides/slide39.xml"/><Relationship Id="rId5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3400" spc="-1" strike="noStrike">
                <a:solidFill>
                  <a:schemeClr val="dk1"/>
                </a:solidFill>
                <a:latin typeface="Calibri"/>
              </a:rPr>
              <a:t>Click to move the slide</a:t>
            </a:r>
            <a:endParaRPr b="0" lang="en-US" sz="3400" spc="-1" strike="noStrike">
              <a:solidFill>
                <a:schemeClr val="dk1"/>
              </a:solidFill>
              <a:latin typeface="Calibri"/>
            </a:endParaRPr>
          </a:p>
        </p:txBody>
      </p:sp>
      <p:sp>
        <p:nvSpPr>
          <p:cNvPr id="8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7"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8"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9"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5A7A6F72-57D0-448C-B83F-2D344BA0CE0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685800" y="1143000"/>
            <a:ext cx="5486040" cy="3085920"/>
          </a:xfrm>
          <a:prstGeom prst="rect">
            <a:avLst/>
          </a:prstGeom>
          <a:ln w="0">
            <a:noFill/>
          </a:ln>
        </p:spPr>
      </p:sp>
      <p:sp>
        <p:nvSpPr>
          <p:cNvPr id="17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6"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FD8D8ABF-E1FC-4E38-A7D7-436D1C45AFDB}"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685800" y="1143000"/>
            <a:ext cx="5486040" cy="3085920"/>
          </a:xfrm>
          <a:prstGeom prst="rect">
            <a:avLst/>
          </a:prstGeom>
          <a:ln w="0">
            <a:noFill/>
          </a:ln>
        </p:spPr>
      </p:sp>
      <p:sp>
        <p:nvSpPr>
          <p:cNvPr id="1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9"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31C523A3-D9AC-4D68-AE7A-0DB588B94DFD}"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685800" y="1143000"/>
            <a:ext cx="5486040" cy="3085920"/>
          </a:xfrm>
          <a:prstGeom prst="rect">
            <a:avLst/>
          </a:prstGeom>
          <a:ln w="0">
            <a:noFill/>
          </a:ln>
        </p:spPr>
      </p:sp>
      <p:sp>
        <p:nvSpPr>
          <p:cNvPr id="18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2"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821FE627-A810-409C-89E2-F172CE388992}"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685800" y="1143000"/>
            <a:ext cx="5486040" cy="3085920"/>
          </a:xfrm>
          <a:prstGeom prst="rect">
            <a:avLst/>
          </a:prstGeom>
          <a:ln w="0">
            <a:noFill/>
          </a:ln>
        </p:spPr>
      </p:sp>
      <p:sp>
        <p:nvSpPr>
          <p:cNvPr id="18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5"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437D40D8-84FA-4FFA-A333-83F39CF0AD17}"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685800" y="1143000"/>
            <a:ext cx="5486040" cy="3085920"/>
          </a:xfrm>
          <a:prstGeom prst="rect">
            <a:avLst/>
          </a:prstGeom>
          <a:ln w="0">
            <a:noFill/>
          </a:ln>
        </p:spPr>
      </p:sp>
      <p:sp>
        <p:nvSpPr>
          <p:cNvPr id="18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8"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AE4B4B6C-4CBF-48CF-B9A6-CA6DF9299C6B}"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685800" y="1143000"/>
            <a:ext cx="5486040" cy="3085920"/>
          </a:xfrm>
          <a:prstGeom prst="rect">
            <a:avLst/>
          </a:prstGeom>
          <a:ln w="0">
            <a:noFill/>
          </a:ln>
        </p:spPr>
      </p:sp>
      <p:sp>
        <p:nvSpPr>
          <p:cNvPr id="19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1"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03963ACD-7DD9-4A97-B070-E5BDBBF465A3}"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685800" y="1143000"/>
            <a:ext cx="5486040" cy="3085920"/>
          </a:xfrm>
          <a:prstGeom prst="rect">
            <a:avLst/>
          </a:prstGeom>
          <a:ln w="0">
            <a:noFill/>
          </a:ln>
        </p:spPr>
      </p:sp>
      <p:sp>
        <p:nvSpPr>
          <p:cNvPr id="19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defTabSz="914400">
              <a:lnSpc>
                <a:spcPct val="100000"/>
              </a:lnSpc>
              <a:spcBef>
                <a:spcPts val="360"/>
              </a:spcBef>
              <a:buNone/>
              <a:tabLst>
                <a:tab algn="l" pos="0"/>
              </a:tabLst>
            </a:pPr>
            <a:r>
              <a:rPr b="0" lang="en-US" sz="2000" spc="-1" strike="noStrike">
                <a:solidFill>
                  <a:srgbClr val="000000"/>
                </a:solidFill>
                <a:latin typeface="Arial"/>
              </a:rPr>
              <a:t>Instructions: </a:t>
            </a:r>
            <a:endParaRPr b="0" lang="en-US" sz="2000" spc="-1" strike="noStrike">
              <a:solidFill>
                <a:srgbClr val="000000"/>
              </a:solidFill>
              <a:latin typeface="Arial"/>
            </a:endParaRPr>
          </a:p>
          <a:p>
            <a:pPr marL="457200" indent="0" defTabSz="914400">
              <a:lnSpc>
                <a:spcPct val="100000"/>
              </a:lnSpc>
              <a:spcBef>
                <a:spcPts val="360"/>
              </a:spcBef>
              <a:buNone/>
              <a:tabLst>
                <a:tab algn="l" pos="0"/>
              </a:tabLst>
            </a:pPr>
            <a:r>
              <a:rPr b="0" lang="en-US" sz="2000" spc="-1" strike="noStrike">
                <a:solidFill>
                  <a:srgbClr val="000000"/>
                </a:solidFill>
                <a:latin typeface="Arial"/>
              </a:rPr>
              <a:t>1. Use this activity to solicit student opinions about concepts in the module or to play a game. </a:t>
            </a:r>
            <a:endParaRPr b="0" lang="en-US" sz="2000" spc="-1" strike="noStrike">
              <a:solidFill>
                <a:srgbClr val="000000"/>
              </a:solidFill>
              <a:latin typeface="Arial"/>
            </a:endParaRPr>
          </a:p>
          <a:p>
            <a:pPr marL="457200" indent="0" defTabSz="914400">
              <a:lnSpc>
                <a:spcPct val="100000"/>
              </a:lnSpc>
              <a:spcBef>
                <a:spcPts val="360"/>
              </a:spcBef>
              <a:buNone/>
              <a:tabLst>
                <a:tab algn="l" pos="0"/>
              </a:tabLst>
            </a:pPr>
            <a:r>
              <a:rPr b="0" lang="en-US" sz="2000" spc="-1" strike="noStrike">
                <a:solidFill>
                  <a:srgbClr val="000000"/>
                </a:solidFill>
                <a:latin typeface="Arial"/>
              </a:rPr>
              <a:t>2. Go to kahoot.com, or the platform of your preference, and log in or sign up.</a:t>
            </a:r>
            <a:endParaRPr b="0" lang="en-US" sz="2000" spc="-1" strike="noStrike">
              <a:solidFill>
                <a:srgbClr val="000000"/>
              </a:solidFill>
              <a:latin typeface="Arial"/>
            </a:endParaRPr>
          </a:p>
          <a:p>
            <a:pPr marL="457200" indent="0" defTabSz="914400">
              <a:lnSpc>
                <a:spcPct val="100000"/>
              </a:lnSpc>
              <a:spcBef>
                <a:spcPts val="360"/>
              </a:spcBef>
              <a:buNone/>
              <a:tabLst>
                <a:tab algn="l" pos="0"/>
              </a:tabLst>
            </a:pPr>
            <a:r>
              <a:rPr b="0" lang="en-US" sz="2000" spc="-1" strike="noStrike">
                <a:solidFill>
                  <a:srgbClr val="000000"/>
                </a:solidFill>
                <a:latin typeface="Arial"/>
              </a:rPr>
              <a:t>3. Create the challenge.</a:t>
            </a:r>
            <a:endParaRPr b="0" lang="en-US" sz="2000" spc="-1" strike="noStrike">
              <a:solidFill>
                <a:srgbClr val="000000"/>
              </a:solidFill>
              <a:latin typeface="Arial"/>
            </a:endParaRPr>
          </a:p>
          <a:p>
            <a:pPr marL="457200" indent="0" defTabSz="914400">
              <a:lnSpc>
                <a:spcPct val="100000"/>
              </a:lnSpc>
              <a:spcBef>
                <a:spcPts val="360"/>
              </a:spcBef>
              <a:buNone/>
              <a:tabLst>
                <a:tab algn="l" pos="0"/>
              </a:tabLst>
            </a:pPr>
            <a:r>
              <a:rPr b="0" lang="en-US" sz="2000" spc="-1" strike="noStrike">
                <a:solidFill>
                  <a:srgbClr val="000000"/>
                </a:solidFill>
                <a:latin typeface="Arial"/>
              </a:rPr>
              <a:t>4. Teacher Tip: Turn off the timer to prioritize accuracy or turn on the nickname generator to avoid inappropriate nicknames.</a:t>
            </a:r>
            <a:endParaRPr b="0" lang="en-US" sz="2000" spc="-1" strike="noStrike">
              <a:solidFill>
                <a:srgbClr val="000000"/>
              </a:solidFill>
              <a:latin typeface="Arial"/>
            </a:endParaRPr>
          </a:p>
          <a:p>
            <a:pPr marL="457200" indent="0" defTabSz="914400">
              <a:lnSpc>
                <a:spcPct val="100000"/>
              </a:lnSpc>
              <a:spcBef>
                <a:spcPts val="360"/>
              </a:spcBef>
              <a:buNone/>
              <a:tabLst>
                <a:tab algn="l" pos="0"/>
              </a:tabLst>
            </a:pPr>
            <a:r>
              <a:rPr b="0" lang="en-US" sz="2000" spc="-1" strike="noStrike">
                <a:solidFill>
                  <a:srgbClr val="000000"/>
                </a:solidFill>
                <a:latin typeface="Arial"/>
              </a:rPr>
              <a:t>5. Invite players by sharing the link or PIN.</a:t>
            </a:r>
            <a:endParaRPr b="0" lang="en-US" sz="2000" spc="-1" strike="noStrike">
              <a:solidFill>
                <a:srgbClr val="000000"/>
              </a:solidFill>
              <a:latin typeface="Arial"/>
            </a:endParaRPr>
          </a:p>
          <a:p>
            <a:pPr marL="457200" indent="0" defTabSz="914400">
              <a:lnSpc>
                <a:spcPct val="100000"/>
              </a:lnSpc>
              <a:spcBef>
                <a:spcPts val="360"/>
              </a:spcBef>
              <a:buNone/>
              <a:tabLst>
                <a:tab algn="l" pos="0"/>
              </a:tabLst>
            </a:pPr>
            <a:r>
              <a:rPr b="0" lang="en-US" sz="2000" spc="-1" strike="noStrike">
                <a:solidFill>
                  <a:srgbClr val="000000"/>
                </a:solidFill>
                <a:latin typeface="Arial"/>
              </a:rPr>
              <a:t>6. This can be done synchronously during class or asynchronously for review or homework. </a:t>
            </a:r>
            <a:endParaRPr b="0" lang="en-US" sz="2000" spc="-1" strike="noStrike">
              <a:solidFill>
                <a:srgbClr val="000000"/>
              </a:solidFill>
              <a:latin typeface="Arial"/>
            </a:endParaRPr>
          </a:p>
          <a:p>
            <a:pPr indent="0" defTabSz="914400">
              <a:lnSpc>
                <a:spcPct val="100000"/>
              </a:lnSpc>
              <a:spcBef>
                <a:spcPts val="360"/>
              </a:spcBef>
              <a:buNone/>
              <a:tabLst>
                <a:tab algn="l" pos="0"/>
              </a:tabLst>
            </a:pPr>
            <a:endParaRPr b="0" lang="en-US" sz="2000" spc="-1" strike="noStrike">
              <a:solidFill>
                <a:srgbClr val="000000"/>
              </a:solidFill>
              <a:latin typeface="Arial"/>
            </a:endParaRPr>
          </a:p>
          <a:p>
            <a:pPr indent="0" defTabSz="914400">
              <a:lnSpc>
                <a:spcPct val="100000"/>
              </a:lnSpc>
              <a:buNone/>
              <a:tabLst>
                <a:tab algn="l" pos="0"/>
              </a:tabLst>
            </a:pPr>
            <a:endParaRPr b="0" lang="en-US" sz="2000" spc="-1" strike="noStrike">
              <a:solidFill>
                <a:srgbClr val="000000"/>
              </a:solidFill>
              <a:latin typeface="Arial"/>
            </a:endParaRPr>
          </a:p>
        </p:txBody>
      </p:sp>
      <p:sp>
        <p:nvSpPr>
          <p:cNvPr id="194"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17EEACC0-ED6A-4116-BC67-4F6E518DB417}"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685800" y="1143000"/>
            <a:ext cx="5486040" cy="3085920"/>
          </a:xfrm>
          <a:prstGeom prst="rect">
            <a:avLst/>
          </a:prstGeom>
          <a:ln w="0">
            <a:noFill/>
          </a:ln>
        </p:spPr>
      </p:sp>
      <p:sp>
        <p:nvSpPr>
          <p:cNvPr id="19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7"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C35AF163-1759-460F-B3BD-A59A72D948CC}"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ulleted List">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umbered List">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ullets">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abl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Table">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hapter Slide">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Unit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ter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Sections and Content">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Comparison">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ntent Comparison">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with Caption">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nd Caption">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png"/><Relationship Id="rId3" Type="http://schemas.openxmlformats.org/officeDocument/2006/relationships/slideLayout" Target="../slideLayouts/slideLayout1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Picture 6" descr=""/>
          <p:cNvPicPr/>
          <p:nvPr/>
        </p:nvPicPr>
        <p:blipFill>
          <a:blip r:embed="rId2"/>
          <a:stretch/>
        </p:blipFill>
        <p:spPr>
          <a:xfrm>
            <a:off x="477000" y="6356520"/>
            <a:ext cx="1579320" cy="353520"/>
          </a:xfrm>
          <a:prstGeom prst="rect">
            <a:avLst/>
          </a:prstGeom>
          <a:ln w="0">
            <a:noFill/>
          </a:ln>
        </p:spPr>
      </p:pic>
      <p:pic>
        <p:nvPicPr>
          <p:cNvPr id="1" name="Picture 7" descr=""/>
          <p:cNvPicPr/>
          <p:nvPr/>
        </p:nvPicPr>
        <p:blipFill>
          <a:blip r:embed="rId3"/>
          <a:stretch/>
        </p:blipFill>
        <p:spPr>
          <a:xfrm>
            <a:off x="360" y="0"/>
            <a:ext cx="12191400" cy="6865560"/>
          </a:xfrm>
          <a:prstGeom prst="rect">
            <a:avLst/>
          </a:prstGeom>
          <a:ln w="0">
            <a:noFill/>
          </a:ln>
        </p:spPr>
      </p:pic>
      <p:sp>
        <p:nvSpPr>
          <p:cNvPr id="2" name="PlaceHolder 1"/>
          <p:cNvSpPr>
            <a:spLocks noGrp="1"/>
          </p:cNvSpPr>
          <p:nvPr>
            <p:ph type="title"/>
          </p:nvPr>
        </p:nvSpPr>
        <p:spPr>
          <a:xfrm>
            <a:off x="838080" y="2291040"/>
            <a:ext cx="10515240" cy="68364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chemeClr val="lt1"/>
                </a:solidFill>
                <a:latin typeface="Arial"/>
                <a:ea typeface="Arial"/>
              </a:rPr>
              <a:t>Click to edit Master title style</a:t>
            </a:r>
            <a:endParaRPr b="0" lang="en-US" sz="3400" spc="-1" strike="noStrike">
              <a:solidFill>
                <a:schemeClr val="dk1"/>
              </a:solidFill>
              <a:latin typeface="Calibri"/>
            </a:endParaRPr>
          </a:p>
        </p:txBody>
      </p:sp>
      <p:sp>
        <p:nvSpPr>
          <p:cNvPr id="3" name="PlaceHolder 2"/>
          <p:cNvSpPr>
            <a:spLocks noGrp="1"/>
          </p:cNvSpPr>
          <p:nvPr>
            <p:ph type="body"/>
          </p:nvPr>
        </p:nvSpPr>
        <p:spPr>
          <a:xfrm>
            <a:off x="4867200" y="3620160"/>
            <a:ext cx="2457000" cy="597240"/>
          </a:xfrm>
          <a:prstGeom prst="rect">
            <a:avLst/>
          </a:prstGeom>
          <a:noFill/>
          <a:ln w="0">
            <a:noFill/>
          </a:ln>
        </p:spPr>
        <p:txBody>
          <a:bodyPr numCol="1" spcCol="0" lIns="0" rIns="0" tIns="0" bIns="0" anchor="t">
            <a:normAutofit/>
          </a:bodyPr>
          <a:p>
            <a:pPr indent="0" algn="ctr">
              <a:lnSpc>
                <a:spcPct val="90000"/>
              </a:lnSpc>
              <a:spcBef>
                <a:spcPts val="1001"/>
              </a:spcBef>
              <a:buNone/>
              <a:tabLst>
                <a:tab algn="l" pos="0"/>
              </a:tabLst>
            </a:pPr>
            <a:r>
              <a:rPr b="0" lang="en-US" sz="2000" spc="-1" strike="noStrike">
                <a:solidFill>
                  <a:schemeClr val="lt1"/>
                </a:solidFill>
                <a:latin typeface="Arial"/>
                <a:ea typeface="Arial"/>
              </a:rPr>
              <a:t>Click to edit date</a:t>
            </a:r>
            <a:endParaRPr b="0" lang="en-US" sz="2000" spc="-1" strike="noStrike">
              <a:solidFill>
                <a:srgbClr val="000000"/>
              </a:solidFill>
              <a:latin typeface="Arial"/>
            </a:endParaRPr>
          </a:p>
        </p:txBody>
      </p:sp>
      <p:pic>
        <p:nvPicPr>
          <p:cNvPr id="4" name="Picture 7" descr=""/>
          <p:cNvPicPr/>
          <p:nvPr/>
        </p:nvPicPr>
        <p:blipFill>
          <a:blip r:embed="rId4"/>
          <a:stretch/>
        </p:blipFill>
        <p:spPr>
          <a:xfrm>
            <a:off x="424800" y="6356520"/>
            <a:ext cx="1699200" cy="383400"/>
          </a:xfrm>
          <a:prstGeom prst="rect">
            <a:avLst/>
          </a:prstGeom>
          <a:ln w="0">
            <a:noFill/>
          </a:ln>
        </p:spPr>
      </p:pic>
      <p:sp>
        <p:nvSpPr>
          <p:cNvPr id="5" name="PlaceHolder 3"/>
          <p:cNvSpPr>
            <a:spLocks noGrp="1"/>
          </p:cNvSpPr>
          <p:nvPr>
            <p:ph type="ftr" idx="1"/>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pc="-1" strike="noStrike">
                <a:solidFill>
                  <a:schemeClr val="lt1"/>
                </a:solidFill>
                <a:latin typeface="arial"/>
              </a:defRPr>
            </a:lvl1pPr>
          </a:lstStyle>
          <a:p>
            <a:pPr indent="0">
              <a:lnSpc>
                <a:spcPct val="100000"/>
              </a:lnSpc>
              <a:buNone/>
            </a:pPr>
            <a:r>
              <a:rPr b="0" lang="en-US" sz="1400" spc="-1" strike="noStrike">
                <a:solidFill>
                  <a:schemeClr val="lt1"/>
                </a:solidFill>
                <a:latin typeface="arial"/>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 name="Picture 6" descr=""/>
          <p:cNvPicPr/>
          <p:nvPr/>
        </p:nvPicPr>
        <p:blipFill>
          <a:blip r:embed="rId2"/>
          <a:stretch/>
        </p:blipFill>
        <p:spPr>
          <a:xfrm>
            <a:off x="477000" y="6356520"/>
            <a:ext cx="1579320" cy="353520"/>
          </a:xfrm>
          <a:prstGeom prst="rect">
            <a:avLst/>
          </a:prstGeom>
          <a:ln w="0">
            <a:noFill/>
          </a:ln>
        </p:spPr>
      </p:pic>
      <p:sp>
        <p:nvSpPr>
          <p:cNvPr id="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8"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Click to add text here. Lorem ipsum dolor sit amet, </a:t>
            </a:r>
            <a:r>
              <a:rPr b="0" lang="en-US" sz="2000" spc="-1" strike="noStrike">
                <a:solidFill>
                  <a:srgbClr val="000000"/>
                </a:solidFill>
                <a:latin typeface="Arial"/>
                <a:ea typeface="Arial"/>
              </a:rPr>
              <a:t>consectetur adipiscing elit, sed do eiusmod tempor </a:t>
            </a:r>
            <a:r>
              <a:rPr b="0" lang="en-US" sz="2000" spc="-1" strike="noStrike">
                <a:solidFill>
                  <a:srgbClr val="000000"/>
                </a:solidFill>
                <a:latin typeface="Arial"/>
                <a:ea typeface="Arial"/>
              </a:rPr>
              <a:t>incididunt ut labore et dolore magna aliqua. </a:t>
            </a:r>
            <a:r>
              <a:rPr b="0" lang="en-US" sz="2000" spc="-1" strike="noStrike">
                <a:solidFill>
                  <a:srgbClr val="000000"/>
                </a:solidFill>
                <a:latin typeface="Arial"/>
                <a:ea typeface="Arial"/>
              </a:rPr>
              <a:t>Faucibus nisl tincidunt eget nullam non.</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Mauris a diam maecenas sed enim ut sem viverra.</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Sed ullamcorper morbi tincidunt ornare. Sit amet </a:t>
            </a:r>
            <a:r>
              <a:rPr b="0" lang="en-US" sz="2000" spc="-1" strike="noStrike">
                <a:solidFill>
                  <a:srgbClr val="000000"/>
                </a:solidFill>
                <a:latin typeface="Arial"/>
                <a:ea typeface="Arial"/>
              </a:rPr>
              <a:t>volutpat consequat mauris nunc congue nisi. Mauris </a:t>
            </a:r>
            <a:r>
              <a:rPr b="0" lang="en-US" sz="2000" spc="-1" strike="noStrike">
                <a:solidFill>
                  <a:srgbClr val="000000"/>
                </a:solidFill>
                <a:latin typeface="Arial"/>
                <a:ea typeface="Arial"/>
              </a:rPr>
              <a:t>sit amet massa vitae.</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Consectetur libero id faucibus nisl tincidunt eget.</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Nulla facilisi morbi tempus iaculis urna id volutpat </a:t>
            </a:r>
            <a:r>
              <a:rPr b="0" lang="en-US" sz="2000" spc="-1" strike="noStrike">
                <a:solidFill>
                  <a:srgbClr val="000000"/>
                </a:solidFill>
                <a:latin typeface="Arial"/>
                <a:ea typeface="Arial"/>
              </a:rPr>
              <a:t>lacus. Imperdiet nulla malesuada pellentesque elit </a:t>
            </a:r>
            <a:r>
              <a:rPr b="0" lang="en-US" sz="2000" spc="-1" strike="noStrike">
                <a:solidFill>
                  <a:srgbClr val="000000"/>
                </a:solidFill>
                <a:latin typeface="Arial"/>
                <a:ea typeface="Arial"/>
              </a:rPr>
              <a:t>eget gravida cum sociis.</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Sed velit dignissim sodales ut.</a:t>
            </a:r>
            <a:endParaRPr b="0" lang="en-US" sz="2000" spc="-1" strike="noStrike">
              <a:solidFill>
                <a:srgbClr val="000000"/>
              </a:solidFill>
              <a:latin typeface="Arial"/>
            </a:endParaRPr>
          </a:p>
        </p:txBody>
      </p:sp>
      <p:sp>
        <p:nvSpPr>
          <p:cNvPr id="9"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4th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 name="Picture 6" descr=""/>
          <p:cNvPicPr/>
          <p:nvPr/>
        </p:nvPicPr>
        <p:blipFill>
          <a:blip r:embed="rId2"/>
          <a:stretch/>
        </p:blipFill>
        <p:spPr>
          <a:xfrm>
            <a:off x="477000" y="6356520"/>
            <a:ext cx="1579320" cy="353520"/>
          </a:xfrm>
          <a:prstGeom prst="rect">
            <a:avLst/>
          </a:prstGeom>
          <a:ln w="0">
            <a:noFill/>
          </a:ln>
        </p:spPr>
      </p:pic>
      <p:sp>
        <p:nvSpPr>
          <p:cNvPr id="1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12"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Mauris a diam maecenas sed enim ut sem viverra.</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Sed ullamcorper morbi tincidunt ornare. Sit amet volutpat consequat mauris nunc congue nisi. Mauris sit amet massa vitae.</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Consectetur libero id faucibus nisl tincidunt eget.</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Nulla facilisi morbi tempus iaculis urna id volutpat lacus. Imperdiet nulla malesuada pellentesque elit eget gravida cum sociis.</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Sed velit dignissim sodales ut.</a:t>
            </a:r>
            <a:endParaRPr b="0" lang="en-US" sz="2000" spc="-1" strike="noStrike">
              <a:solidFill>
                <a:srgbClr val="000000"/>
              </a:solidFill>
              <a:latin typeface="Arial"/>
            </a:endParaRPr>
          </a:p>
        </p:txBody>
      </p:sp>
      <p:sp>
        <p:nvSpPr>
          <p:cNvPr id="13"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 name="Picture 6" descr=""/>
          <p:cNvPicPr/>
          <p:nvPr/>
        </p:nvPicPr>
        <p:blipFill>
          <a:blip r:embed="rId2"/>
          <a:stretch/>
        </p:blipFill>
        <p:spPr>
          <a:xfrm>
            <a:off x="477000" y="6356520"/>
            <a:ext cx="1579320" cy="353520"/>
          </a:xfrm>
          <a:prstGeom prst="rect">
            <a:avLst/>
          </a:prstGeom>
          <a:ln w="0">
            <a:noFill/>
          </a:ln>
        </p:spPr>
      </p:pic>
      <p:sp>
        <p:nvSpPr>
          <p:cNvPr id="1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16"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First level</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Second level</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Third level</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Fourth level</a:t>
            </a:r>
            <a:endParaRPr b="0" lang="en-US" sz="2000" spc="-1" strike="noStrike">
              <a:solidFill>
                <a:srgbClr val="004a78"/>
              </a:solidFill>
              <a:latin typeface="Arial"/>
            </a:endParaRPr>
          </a:p>
          <a:p>
            <a:pPr lvl="4" marL="2057400" indent="-228600" defTabSz="914400">
              <a:lnSpc>
                <a:spcPct val="90000"/>
              </a:lnSpc>
              <a:spcBef>
                <a:spcPts val="499"/>
              </a:spcBef>
              <a:buClr>
                <a:srgbClr val="000000"/>
              </a:buClr>
              <a:buFont typeface="Helvetica"/>
              <a:buChar char="⁃"/>
            </a:pPr>
            <a:r>
              <a:rPr b="0" lang="en-US" sz="2000" spc="-1" strike="noStrike">
                <a:solidFill>
                  <a:srgbClr val="004a78"/>
                </a:solidFill>
                <a:latin typeface="Arial"/>
                <a:ea typeface="Arial"/>
              </a:rPr>
              <a:t>Fifth level</a:t>
            </a:r>
            <a:endParaRPr b="0" lang="en-US" sz="2000" spc="-1" strike="noStrike">
              <a:solidFill>
                <a:srgbClr val="004a78"/>
              </a:solidFill>
              <a:latin typeface="Arial"/>
            </a:endParaRPr>
          </a:p>
        </p:txBody>
      </p:sp>
      <p:sp>
        <p:nvSpPr>
          <p:cNvPr id="17"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 name="Picture 6" descr=""/>
          <p:cNvPicPr/>
          <p:nvPr/>
        </p:nvPicPr>
        <p:blipFill>
          <a:blip r:embed="rId2"/>
          <a:stretch/>
        </p:blipFill>
        <p:spPr>
          <a:xfrm>
            <a:off x="477000" y="6356520"/>
            <a:ext cx="1579320" cy="353520"/>
          </a:xfrm>
          <a:prstGeom prst="rect">
            <a:avLst/>
          </a:prstGeom>
          <a:ln w="0">
            <a:noFill/>
          </a:ln>
        </p:spPr>
      </p:pic>
      <p:sp>
        <p:nvSpPr>
          <p:cNvPr id="1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20" name="PlaceHolder 2"/>
          <p:cNvSpPr>
            <a:spLocks noGrp="1"/>
          </p:cNvSpPr>
          <p:nvPr>
            <p:ph type="body"/>
          </p:nvPr>
        </p:nvSpPr>
        <p:spPr>
          <a:xfrm>
            <a:off x="1895400" y="2019960"/>
            <a:ext cx="8127720" cy="33796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table</a:t>
            </a:r>
            <a:endParaRPr b="0" lang="en-US" sz="1800" spc="-1" strike="noStrike">
              <a:solidFill>
                <a:srgbClr val="000000"/>
              </a:solidFill>
              <a:latin typeface="Arial"/>
            </a:endParaRPr>
          </a:p>
        </p:txBody>
      </p:sp>
      <p:sp>
        <p:nvSpPr>
          <p:cNvPr id="21"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 name="Picture 6" descr=""/>
          <p:cNvPicPr/>
          <p:nvPr/>
        </p:nvPicPr>
        <p:blipFill>
          <a:blip r:embed="rId2"/>
          <a:stretch/>
        </p:blipFill>
        <p:spPr>
          <a:xfrm>
            <a:off x="477000" y="6356520"/>
            <a:ext cx="1579320" cy="353520"/>
          </a:xfrm>
          <a:prstGeom prst="rect">
            <a:avLst/>
          </a:prstGeom>
          <a:ln w="0">
            <a:noFill/>
          </a:ln>
        </p:spPr>
      </p:pic>
      <p:sp>
        <p:nvSpPr>
          <p:cNvPr id="2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24" name="PlaceHolder 2"/>
          <p:cNvSpPr>
            <a:spLocks noGrp="1"/>
          </p:cNvSpPr>
          <p:nvPr>
            <p:ph type="body"/>
          </p:nvPr>
        </p:nvSpPr>
        <p:spPr>
          <a:xfrm>
            <a:off x="1652400" y="4026600"/>
            <a:ext cx="8507160" cy="21430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table</a:t>
            </a:r>
            <a:endParaRPr b="0" lang="en-US" sz="1800" spc="-1" strike="noStrike">
              <a:solidFill>
                <a:srgbClr val="000000"/>
              </a:solidFill>
              <a:latin typeface="Arial"/>
            </a:endParaRPr>
          </a:p>
        </p:txBody>
      </p:sp>
      <p:sp>
        <p:nvSpPr>
          <p:cNvPr id="25"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
        <p:nvSpPr>
          <p:cNvPr id="26" name="PlaceHolder 3"/>
          <p:cNvSpPr>
            <a:spLocks noGrp="1"/>
          </p:cNvSpPr>
          <p:nvPr>
            <p:ph type="body"/>
          </p:nvPr>
        </p:nvSpPr>
        <p:spPr>
          <a:xfrm>
            <a:off x="743400" y="1638360"/>
            <a:ext cx="10609920" cy="214308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First level</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Second level</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Third level</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alibri"/>
              <a:buChar char="▶"/>
            </a:pPr>
            <a:r>
              <a:rPr b="0" lang="en-US" sz="2000" spc="-1" strike="noStrike">
                <a:solidFill>
                  <a:srgbClr val="004a78"/>
                </a:solidFill>
                <a:latin typeface="Arial"/>
                <a:ea typeface="Arial"/>
              </a:rPr>
              <a:t>Fourth level</a:t>
            </a:r>
            <a:endParaRPr b="0" lang="en-US" sz="2000" spc="-1" strike="noStrike">
              <a:solidFill>
                <a:srgbClr val="004a78"/>
              </a:solidFill>
              <a:latin typeface="Arial"/>
            </a:endParaRPr>
          </a:p>
          <a:p>
            <a:pPr lvl="4" marL="2057400" indent="-228600" defTabSz="914400">
              <a:lnSpc>
                <a:spcPct val="90000"/>
              </a:lnSpc>
              <a:spcBef>
                <a:spcPts val="499"/>
              </a:spcBef>
              <a:buClr>
                <a:srgbClr val="000000"/>
              </a:buClr>
              <a:buFont typeface="Helvetica"/>
              <a:buChar char="⁃"/>
            </a:pPr>
            <a:r>
              <a:rPr b="0" lang="en-US" sz="2000" spc="-1" strike="noStrike">
                <a:solidFill>
                  <a:srgbClr val="004a78"/>
                </a:solidFill>
                <a:latin typeface="Arial"/>
                <a:ea typeface="Arial"/>
              </a:rPr>
              <a:t>Fifth level</a:t>
            </a:r>
            <a:endParaRPr b="0" lang="en-US" sz="2000" spc="-1" strike="noStrike">
              <a:solidFill>
                <a:srgbClr val="004a78"/>
              </a:solidFill>
              <a:latin typeface="Arial"/>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7" name="Picture 6" descr=""/>
          <p:cNvPicPr/>
          <p:nvPr/>
        </p:nvPicPr>
        <p:blipFill>
          <a:blip r:embed="rId2"/>
          <a:stretch/>
        </p:blipFill>
        <p:spPr>
          <a:xfrm>
            <a:off x="477000" y="6356520"/>
            <a:ext cx="1579320" cy="353520"/>
          </a:xfrm>
          <a:prstGeom prst="rect">
            <a:avLst/>
          </a:prstGeom>
          <a:ln w="0">
            <a:noFill/>
          </a:ln>
        </p:spPr>
      </p:pic>
      <p:pic>
        <p:nvPicPr>
          <p:cNvPr id="28" name="Picture 1" descr=""/>
          <p:cNvPicPr/>
          <p:nvPr/>
        </p:nvPicPr>
        <p:blipFill>
          <a:blip r:embed="rId3"/>
          <a:stretch/>
        </p:blipFill>
        <p:spPr>
          <a:xfrm>
            <a:off x="360" y="0"/>
            <a:ext cx="12191400" cy="6865560"/>
          </a:xfrm>
          <a:prstGeom prst="rect">
            <a:avLst/>
          </a:prstGeom>
          <a:ln w="0">
            <a:noFill/>
          </a:ln>
        </p:spPr>
      </p:pic>
      <p:sp>
        <p:nvSpPr>
          <p:cNvPr id="29" name="PlaceHolder 1"/>
          <p:cNvSpPr>
            <a:spLocks noGrp="1"/>
          </p:cNvSpPr>
          <p:nvPr>
            <p:ph type="body"/>
          </p:nvPr>
        </p:nvSpPr>
        <p:spPr>
          <a:xfrm>
            <a:off x="3997080" y="3112920"/>
            <a:ext cx="3297240" cy="617760"/>
          </a:xfrm>
          <a:prstGeom prst="rect">
            <a:avLst/>
          </a:prstGeom>
          <a:noFill/>
          <a:ln w="0">
            <a:noFill/>
          </a:ln>
        </p:spPr>
        <p:txBody>
          <a:bodyPr numCol="1" spcCol="0" lIns="0" rIns="0" tIns="0" bIns="0" anchor="b">
            <a:noAutofit/>
          </a:bodyPr>
          <a:p>
            <a:pPr indent="0">
              <a:lnSpc>
                <a:spcPct val="90000"/>
              </a:lnSpc>
              <a:spcBef>
                <a:spcPts val="1001"/>
              </a:spcBef>
              <a:buNone/>
              <a:tabLst>
                <a:tab algn="l" pos="0"/>
              </a:tabLst>
            </a:pPr>
            <a:r>
              <a:rPr b="0" lang="en-US" sz="3600" spc="-1" strike="noStrike">
                <a:solidFill>
                  <a:schemeClr val="lt1"/>
                </a:solidFill>
                <a:latin typeface="Arial"/>
                <a:ea typeface="Arial"/>
              </a:rPr>
              <a:t>Chapter 1</a:t>
            </a:r>
            <a:endParaRPr b="0" lang="en-US" sz="3600" spc="-1" strike="noStrike">
              <a:solidFill>
                <a:srgbClr val="000000"/>
              </a:solidFill>
              <a:latin typeface="Arial"/>
            </a:endParaRPr>
          </a:p>
        </p:txBody>
      </p:sp>
      <p:sp>
        <p:nvSpPr>
          <p:cNvPr id="30" name="PlaceHolder 2"/>
          <p:cNvSpPr>
            <a:spLocks noGrp="1"/>
          </p:cNvSpPr>
          <p:nvPr>
            <p:ph type="title"/>
          </p:nvPr>
        </p:nvSpPr>
        <p:spPr>
          <a:xfrm>
            <a:off x="3997080" y="4035600"/>
            <a:ext cx="6402240" cy="671760"/>
          </a:xfrm>
          <a:prstGeom prst="rect">
            <a:avLst/>
          </a:prstGeom>
          <a:noFill/>
          <a:ln w="0">
            <a:noFill/>
          </a:ln>
        </p:spPr>
        <p:txBody>
          <a:bodyPr numCol="1" spcCol="0" lIns="0" rIns="0" tIns="0" bIns="0" anchor="t">
            <a:noAutofit/>
          </a:bodyPr>
          <a:p>
            <a:pPr indent="0">
              <a:lnSpc>
                <a:spcPct val="90000"/>
              </a:lnSpc>
              <a:buNone/>
            </a:pPr>
            <a:r>
              <a:rPr b="1" lang="en-US" sz="3400" spc="-1" strike="noStrike">
                <a:solidFill>
                  <a:schemeClr val="lt1"/>
                </a:solidFill>
                <a:latin typeface="Arial"/>
                <a:ea typeface="Arial"/>
              </a:rPr>
              <a:t>Click to edit Master title style</a:t>
            </a:r>
            <a:endParaRPr b="0" lang="en-US" sz="3400" spc="-1" strike="noStrike">
              <a:solidFill>
                <a:schemeClr val="dk1"/>
              </a:solidFill>
              <a:latin typeface="Calibri"/>
            </a:endParaRPr>
          </a:p>
        </p:txBody>
      </p:sp>
      <p:sp>
        <p:nvSpPr>
          <p:cNvPr id="31" name="PlaceHolder 3"/>
          <p:cNvSpPr>
            <a:spLocks noGrp="1"/>
          </p:cNvSpPr>
          <p:nvPr>
            <p:ph type="body"/>
          </p:nvPr>
        </p:nvSpPr>
        <p:spPr>
          <a:xfrm>
            <a:off x="246240" y="314640"/>
            <a:ext cx="3342960" cy="43174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picture</a:t>
            </a:r>
            <a:endParaRPr b="0" lang="en-US" sz="1800" spc="-1" strike="noStrike">
              <a:solidFill>
                <a:srgbClr val="000000"/>
              </a:solidFill>
              <a:latin typeface="Arial"/>
            </a:endParaRPr>
          </a:p>
        </p:txBody>
      </p:sp>
      <p:pic>
        <p:nvPicPr>
          <p:cNvPr id="32" name="Picture 7" descr=""/>
          <p:cNvPicPr/>
          <p:nvPr/>
        </p:nvPicPr>
        <p:blipFill>
          <a:blip r:embed="rId4"/>
          <a:stretch/>
        </p:blipFill>
        <p:spPr>
          <a:xfrm>
            <a:off x="424800" y="6356520"/>
            <a:ext cx="1699200" cy="383400"/>
          </a:xfrm>
          <a:prstGeom prst="rect">
            <a:avLst/>
          </a:prstGeom>
          <a:ln w="0">
            <a:noFill/>
          </a:ln>
        </p:spPr>
      </p:pic>
      <p:sp>
        <p:nvSpPr>
          <p:cNvPr id="33" name="PlaceHolder 4"/>
          <p:cNvSpPr>
            <a:spLocks noGrp="1"/>
          </p:cNvSpPr>
          <p:nvPr>
            <p:ph type="body"/>
          </p:nvPr>
        </p:nvSpPr>
        <p:spPr>
          <a:xfrm>
            <a:off x="2923920" y="6375240"/>
            <a:ext cx="8843040" cy="364680"/>
          </a:xfrm>
          <a:prstGeom prst="rect">
            <a:avLst/>
          </a:prstGeom>
          <a:noFill/>
          <a:ln w="0">
            <a:noFill/>
          </a:ln>
        </p:spPr>
        <p:txBody>
          <a:bodyPr numCol="1" spcCol="0" lIns="0" rIns="0" tIns="0" bIns="0" anchor="t">
            <a:noAutofit/>
          </a:bodyPr>
          <a:p>
            <a:pPr indent="0" defTabSz="914400">
              <a:lnSpc>
                <a:spcPct val="90000"/>
              </a:lnSpc>
              <a:spcBef>
                <a:spcPts val="1001"/>
              </a:spcBef>
              <a:buNone/>
              <a:tabLst>
                <a:tab algn="l" pos="0"/>
              </a:tabLst>
            </a:pPr>
            <a:r>
              <a:rPr b="0" lang="en-US" sz="1400" spc="-1" strike="noStrike">
                <a:solidFill>
                  <a:schemeClr val="lt1"/>
                </a:solidFill>
                <a:latin typeface="Arial"/>
                <a:ea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5"/>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4" name="Picture 6" descr=""/>
          <p:cNvPicPr/>
          <p:nvPr/>
        </p:nvPicPr>
        <p:blipFill>
          <a:blip r:embed="rId2"/>
          <a:stretch/>
        </p:blipFill>
        <p:spPr>
          <a:xfrm>
            <a:off x="477000" y="6356520"/>
            <a:ext cx="1579320" cy="353520"/>
          </a:xfrm>
          <a:prstGeom prst="rect">
            <a:avLst/>
          </a:prstGeom>
          <a:ln w="0">
            <a:noFill/>
          </a:ln>
        </p:spPr>
      </p:pic>
      <p:pic>
        <p:nvPicPr>
          <p:cNvPr id="35" name="Picture 9" descr=""/>
          <p:cNvPicPr/>
          <p:nvPr/>
        </p:nvPicPr>
        <p:blipFill>
          <a:blip r:embed="rId3"/>
          <a:stretch/>
        </p:blipFill>
        <p:spPr>
          <a:xfrm>
            <a:off x="360" y="0"/>
            <a:ext cx="12191400" cy="6865560"/>
          </a:xfrm>
          <a:prstGeom prst="rect">
            <a:avLst/>
          </a:prstGeom>
          <a:ln w="0">
            <a:noFill/>
          </a:ln>
        </p:spPr>
      </p:pic>
      <p:sp>
        <p:nvSpPr>
          <p:cNvPr id="36" name="PlaceHolder 1"/>
          <p:cNvSpPr>
            <a:spLocks noGrp="1"/>
          </p:cNvSpPr>
          <p:nvPr>
            <p:ph type="body"/>
          </p:nvPr>
        </p:nvSpPr>
        <p:spPr>
          <a:xfrm>
            <a:off x="1274400" y="2193480"/>
            <a:ext cx="9642600" cy="617760"/>
          </a:xfrm>
          <a:prstGeom prst="rect">
            <a:avLst/>
          </a:prstGeom>
          <a:noFill/>
          <a:ln w="0">
            <a:noFill/>
          </a:ln>
        </p:spPr>
        <p:txBody>
          <a:bodyPr numCol="1" spcCol="0" lIns="0" rIns="0" tIns="0" bIns="0" anchor="b">
            <a:noAutofit/>
          </a:bodyPr>
          <a:p>
            <a:pPr indent="0" algn="ctr">
              <a:lnSpc>
                <a:spcPct val="90000"/>
              </a:lnSpc>
              <a:spcBef>
                <a:spcPts val="1001"/>
              </a:spcBef>
              <a:buNone/>
              <a:tabLst>
                <a:tab algn="l" pos="0"/>
              </a:tabLst>
            </a:pPr>
            <a:r>
              <a:rPr b="0" lang="en-US" sz="5000" spc="-1" strike="noStrike">
                <a:solidFill>
                  <a:schemeClr val="lt1"/>
                </a:solidFill>
                <a:latin typeface="Arial"/>
                <a:ea typeface="Arial"/>
              </a:rPr>
              <a:t>Unit 1</a:t>
            </a:r>
            <a:endParaRPr b="0" lang="en-US" sz="5000" spc="-1" strike="noStrike">
              <a:solidFill>
                <a:srgbClr val="000000"/>
              </a:solidFill>
              <a:latin typeface="Arial"/>
            </a:endParaRPr>
          </a:p>
        </p:txBody>
      </p:sp>
      <p:sp>
        <p:nvSpPr>
          <p:cNvPr id="37" name="PlaceHolder 2"/>
          <p:cNvSpPr>
            <a:spLocks noGrp="1"/>
          </p:cNvSpPr>
          <p:nvPr>
            <p:ph type="title"/>
          </p:nvPr>
        </p:nvSpPr>
        <p:spPr>
          <a:xfrm>
            <a:off x="838080" y="309600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chemeClr val="lt1"/>
                </a:solidFill>
                <a:latin typeface="Arial"/>
                <a:ea typeface="Arial"/>
              </a:rPr>
              <a:t>Click to edit Master title style</a:t>
            </a:r>
            <a:endParaRPr b="0" lang="en-US" sz="3400" spc="-1" strike="noStrike">
              <a:solidFill>
                <a:schemeClr val="dk1"/>
              </a:solidFill>
              <a:latin typeface="Calibri"/>
            </a:endParaRPr>
          </a:p>
        </p:txBody>
      </p:sp>
      <p:pic>
        <p:nvPicPr>
          <p:cNvPr id="38" name="Picture 7" descr=""/>
          <p:cNvPicPr/>
          <p:nvPr/>
        </p:nvPicPr>
        <p:blipFill>
          <a:blip r:embed="rId4"/>
          <a:stretch/>
        </p:blipFill>
        <p:spPr>
          <a:xfrm>
            <a:off x="424800" y="6356520"/>
            <a:ext cx="1699200" cy="383400"/>
          </a:xfrm>
          <a:prstGeom prst="rect">
            <a:avLst/>
          </a:prstGeom>
          <a:ln w="0">
            <a:noFill/>
          </a:ln>
        </p:spPr>
      </p:pic>
      <p:sp>
        <p:nvSpPr>
          <p:cNvPr id="39" name="PlaceHolder 3"/>
          <p:cNvSpPr>
            <a:spLocks noGrp="1"/>
          </p:cNvSpPr>
          <p:nvPr>
            <p:ph type="ftr" idx="2"/>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pc="-1" strike="noStrike">
                <a:solidFill>
                  <a:schemeClr val="lt1"/>
                </a:solidFill>
                <a:latin typeface="arial"/>
              </a:defRPr>
            </a:lvl1pPr>
          </a:lstStyle>
          <a:p>
            <a:pPr indent="0">
              <a:lnSpc>
                <a:spcPct val="100000"/>
              </a:lnSpc>
              <a:buNone/>
            </a:pPr>
            <a:r>
              <a:rPr b="0" lang="en-US" sz="1400" spc="-1" strike="noStrike">
                <a:solidFill>
                  <a:schemeClr val="lt1"/>
                </a:solidFill>
                <a:latin typeface="arial"/>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0" name="Picture 6" descr=""/>
          <p:cNvPicPr/>
          <p:nvPr/>
        </p:nvPicPr>
        <p:blipFill>
          <a:blip r:embed="rId2"/>
          <a:stretch/>
        </p:blipFill>
        <p:spPr>
          <a:xfrm>
            <a:off x="477000" y="6356520"/>
            <a:ext cx="1579320" cy="353520"/>
          </a:xfrm>
          <a:prstGeom prst="rect">
            <a:avLst/>
          </a:prstGeom>
          <a:ln w="0">
            <a:noFill/>
          </a:ln>
        </p:spPr>
      </p:pic>
      <p:pic>
        <p:nvPicPr>
          <p:cNvPr id="41" name="Picture 1" descr=""/>
          <p:cNvPicPr/>
          <p:nvPr/>
        </p:nvPicPr>
        <p:blipFill>
          <a:blip r:embed="rId3"/>
          <a:stretch/>
        </p:blipFill>
        <p:spPr>
          <a:xfrm>
            <a:off x="360" y="0"/>
            <a:ext cx="12191400" cy="6865560"/>
          </a:xfrm>
          <a:prstGeom prst="rect">
            <a:avLst/>
          </a:prstGeom>
          <a:ln w="0">
            <a:noFill/>
          </a:ln>
        </p:spPr>
      </p:pic>
      <p:sp>
        <p:nvSpPr>
          <p:cNvPr id="42" name="PlaceHolder 1"/>
          <p:cNvSpPr>
            <a:spLocks noGrp="1"/>
          </p:cNvSpPr>
          <p:nvPr>
            <p:ph type="body"/>
          </p:nvPr>
        </p:nvSpPr>
        <p:spPr>
          <a:xfrm>
            <a:off x="3997080" y="3112920"/>
            <a:ext cx="3297240" cy="617760"/>
          </a:xfrm>
          <a:prstGeom prst="rect">
            <a:avLst/>
          </a:prstGeom>
          <a:noFill/>
          <a:ln w="0">
            <a:noFill/>
          </a:ln>
        </p:spPr>
        <p:txBody>
          <a:bodyPr numCol="1" spcCol="0" lIns="0" rIns="0" tIns="0" bIns="0" anchor="b">
            <a:noAutofit/>
          </a:bodyPr>
          <a:p>
            <a:pPr indent="0">
              <a:lnSpc>
                <a:spcPct val="90000"/>
              </a:lnSpc>
              <a:spcBef>
                <a:spcPts val="1001"/>
              </a:spcBef>
              <a:buNone/>
              <a:tabLst>
                <a:tab algn="l" pos="0"/>
              </a:tabLst>
            </a:pPr>
            <a:r>
              <a:rPr b="0" lang="en-US" sz="3600" spc="-1" strike="noStrike">
                <a:solidFill>
                  <a:schemeClr val="lt1"/>
                </a:solidFill>
                <a:latin typeface="Arial"/>
                <a:ea typeface="Arial"/>
              </a:rPr>
              <a:t>Chapter 1</a:t>
            </a:r>
            <a:endParaRPr b="0" lang="en-US" sz="3600" spc="-1" strike="noStrike">
              <a:solidFill>
                <a:srgbClr val="000000"/>
              </a:solidFill>
              <a:latin typeface="Arial"/>
            </a:endParaRPr>
          </a:p>
        </p:txBody>
      </p:sp>
      <p:sp>
        <p:nvSpPr>
          <p:cNvPr id="43" name="PlaceHolder 2"/>
          <p:cNvSpPr>
            <a:spLocks noGrp="1"/>
          </p:cNvSpPr>
          <p:nvPr>
            <p:ph type="title"/>
          </p:nvPr>
        </p:nvSpPr>
        <p:spPr>
          <a:xfrm>
            <a:off x="3997080" y="4035600"/>
            <a:ext cx="6402240" cy="671760"/>
          </a:xfrm>
          <a:prstGeom prst="rect">
            <a:avLst/>
          </a:prstGeom>
          <a:noFill/>
          <a:ln w="0">
            <a:noFill/>
          </a:ln>
        </p:spPr>
        <p:txBody>
          <a:bodyPr numCol="1" spcCol="0" lIns="0" rIns="0" tIns="0" bIns="0" anchor="t">
            <a:noAutofit/>
          </a:bodyPr>
          <a:p>
            <a:pPr indent="0">
              <a:lnSpc>
                <a:spcPct val="90000"/>
              </a:lnSpc>
              <a:buNone/>
            </a:pPr>
            <a:r>
              <a:rPr b="1" lang="en-US" sz="3400" spc="-1" strike="noStrike">
                <a:solidFill>
                  <a:schemeClr val="lt1"/>
                </a:solidFill>
                <a:latin typeface="Arial"/>
                <a:ea typeface="Arial"/>
              </a:rPr>
              <a:t>Click to edit Master title style</a:t>
            </a:r>
            <a:endParaRPr b="0" lang="en-US" sz="3400" spc="-1" strike="noStrike">
              <a:solidFill>
                <a:schemeClr val="dk1"/>
              </a:solidFill>
              <a:latin typeface="Calibri"/>
            </a:endParaRPr>
          </a:p>
        </p:txBody>
      </p:sp>
      <p:sp>
        <p:nvSpPr>
          <p:cNvPr id="44" name="PlaceHolder 3"/>
          <p:cNvSpPr>
            <a:spLocks noGrp="1"/>
          </p:cNvSpPr>
          <p:nvPr>
            <p:ph type="body"/>
          </p:nvPr>
        </p:nvSpPr>
        <p:spPr>
          <a:xfrm>
            <a:off x="246240" y="314640"/>
            <a:ext cx="3342960" cy="43174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picture</a:t>
            </a:r>
            <a:endParaRPr b="0" lang="en-US" sz="1800" spc="-1" strike="noStrike">
              <a:solidFill>
                <a:srgbClr val="000000"/>
              </a:solidFill>
              <a:latin typeface="Arial"/>
            </a:endParaRPr>
          </a:p>
        </p:txBody>
      </p:sp>
      <p:pic>
        <p:nvPicPr>
          <p:cNvPr id="45" name="Picture 7" descr=""/>
          <p:cNvPicPr/>
          <p:nvPr/>
        </p:nvPicPr>
        <p:blipFill>
          <a:blip r:embed="rId4"/>
          <a:stretch/>
        </p:blipFill>
        <p:spPr>
          <a:xfrm>
            <a:off x="424800" y="6356520"/>
            <a:ext cx="1699200" cy="383400"/>
          </a:xfrm>
          <a:prstGeom prst="rect">
            <a:avLst/>
          </a:prstGeom>
          <a:ln w="0">
            <a:noFill/>
          </a:ln>
        </p:spPr>
      </p:pic>
      <p:sp>
        <p:nvSpPr>
          <p:cNvPr id="46" name="PlaceHolder 4"/>
          <p:cNvSpPr>
            <a:spLocks noGrp="1"/>
          </p:cNvSpPr>
          <p:nvPr>
            <p:ph type="ftr" idx="3"/>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pc="-1" strike="noStrike">
                <a:solidFill>
                  <a:schemeClr val="lt1"/>
                </a:solidFill>
                <a:latin typeface="arial"/>
              </a:defRPr>
            </a:lvl1pPr>
          </a:lstStyle>
          <a:p>
            <a:pPr indent="0">
              <a:lnSpc>
                <a:spcPct val="100000"/>
              </a:lnSpc>
              <a:buNone/>
            </a:pPr>
            <a:r>
              <a:rPr b="0" lang="en-US" sz="1400" spc="-1" strike="noStrike">
                <a:solidFill>
                  <a:schemeClr val="lt1"/>
                </a:solidFill>
                <a:latin typeface="arial"/>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5"/>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7" name="Picture 6" descr=""/>
          <p:cNvPicPr/>
          <p:nvPr/>
        </p:nvPicPr>
        <p:blipFill>
          <a:blip r:embed="rId2"/>
          <a:stretch/>
        </p:blipFill>
        <p:spPr>
          <a:xfrm>
            <a:off x="477000" y="6356520"/>
            <a:ext cx="1579320" cy="353520"/>
          </a:xfrm>
          <a:prstGeom prst="rect">
            <a:avLst/>
          </a:prstGeom>
          <a:ln w="0">
            <a:noFill/>
          </a:ln>
        </p:spPr>
      </p:pic>
      <p:sp>
        <p:nvSpPr>
          <p:cNvPr id="4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49" name="PlaceHolder 2"/>
          <p:cNvSpPr>
            <a:spLocks noGrp="1"/>
          </p:cNvSpPr>
          <p:nvPr>
            <p:ph type="body"/>
          </p:nvPr>
        </p:nvSpPr>
        <p:spPr>
          <a:xfrm>
            <a:off x="743400" y="1289520"/>
            <a:ext cx="10711080" cy="37324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 Sit amet volutpat consequat mauris nunc congue nisi. Mauris sit amet massa vitae. Consectetur libero id faucibus nisl tincidunt eget. Nulla facilisi morbi tempus iaculis urna id volutpat lacus. Imperdiet nulla malesuada pellentesque elit eget gravida cum sociis. Sed velit dignissim sodales ut.</a:t>
            </a:r>
            <a:endParaRPr b="0" lang="en-US" sz="2400" spc="-1" strike="noStrike">
              <a:solidFill>
                <a:srgbClr val="000000"/>
              </a:solidFill>
              <a:latin typeface="Arial"/>
            </a:endParaRPr>
          </a:p>
        </p:txBody>
      </p:sp>
      <p:sp>
        <p:nvSpPr>
          <p:cNvPr id="50"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1" name="Picture 6" descr=""/>
          <p:cNvPicPr/>
          <p:nvPr/>
        </p:nvPicPr>
        <p:blipFill>
          <a:blip r:embed="rId2"/>
          <a:stretch/>
        </p:blipFill>
        <p:spPr>
          <a:xfrm>
            <a:off x="477000" y="6356520"/>
            <a:ext cx="1579320" cy="353520"/>
          </a:xfrm>
          <a:prstGeom prst="rect">
            <a:avLst/>
          </a:prstGeom>
          <a:ln w="0">
            <a:noFill/>
          </a:ln>
        </p:spPr>
      </p:pic>
      <p:sp>
        <p:nvSpPr>
          <p:cNvPr id="5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53" name="PlaceHolder 2"/>
          <p:cNvSpPr>
            <a:spLocks noGrp="1"/>
          </p:cNvSpPr>
          <p:nvPr>
            <p:ph type="body"/>
          </p:nvPr>
        </p:nvSpPr>
        <p:spPr>
          <a:xfrm>
            <a:off x="743400" y="1290600"/>
            <a:ext cx="10711080" cy="34776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1" lang="en-US" sz="2400" spc="-1" strike="noStrike">
                <a:solidFill>
                  <a:srgbClr val="006298"/>
                </a:solidFill>
                <a:latin typeface="Arial"/>
                <a:ea typeface="Arial"/>
              </a:rPr>
              <a:t>Section Header</a:t>
            </a:r>
            <a:endParaRPr b="0" lang="en-US" sz="2400" spc="-1" strike="noStrike">
              <a:solidFill>
                <a:srgbClr val="000000"/>
              </a:solidFill>
              <a:latin typeface="Arial"/>
            </a:endParaRPr>
          </a:p>
        </p:txBody>
      </p:sp>
      <p:sp>
        <p:nvSpPr>
          <p:cNvPr id="54" name="PlaceHolder 3"/>
          <p:cNvSpPr>
            <a:spLocks noGrp="1"/>
          </p:cNvSpPr>
          <p:nvPr>
            <p:ph type="body"/>
          </p:nvPr>
        </p:nvSpPr>
        <p:spPr>
          <a:xfrm>
            <a:off x="740160" y="1737360"/>
            <a:ext cx="10711080" cy="1462320"/>
          </a:xfrm>
          <a:prstGeom prst="rect">
            <a:avLst/>
          </a:prstGeom>
          <a:noFill/>
          <a:ln w="0">
            <a:noFill/>
          </a:ln>
        </p:spPr>
        <p:txBody>
          <a:bodyPr numCol="1" spcCol="0" lIns="0" rIns="0" tIns="0" bIns="0" anchor="t">
            <a:noAutofit/>
          </a:bodyPr>
          <a:p>
            <a:pPr marL="343080" indent="-343080">
              <a:lnSpc>
                <a:spcPct val="90000"/>
              </a:lnSpc>
              <a:spcBef>
                <a:spcPts val="1001"/>
              </a:spcBef>
              <a:buClr>
                <a:srgbClr val="000000"/>
              </a:buClr>
              <a:buFont typeface="Arial"/>
              <a:buChar char="•"/>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a:t>
            </a:r>
            <a:endParaRPr b="0" lang="en-US" sz="2400" spc="-1" strike="noStrike">
              <a:solidFill>
                <a:srgbClr val="000000"/>
              </a:solidFill>
              <a:latin typeface="Arial"/>
            </a:endParaRPr>
          </a:p>
        </p:txBody>
      </p:sp>
      <p:sp>
        <p:nvSpPr>
          <p:cNvPr id="55" name="PlaceHolder 4"/>
          <p:cNvSpPr>
            <a:spLocks noGrp="1"/>
          </p:cNvSpPr>
          <p:nvPr>
            <p:ph type="body"/>
          </p:nvPr>
        </p:nvSpPr>
        <p:spPr>
          <a:xfrm>
            <a:off x="743400" y="3389760"/>
            <a:ext cx="10711080" cy="34776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1" lang="en-US" sz="2400" spc="-1" strike="noStrike">
                <a:solidFill>
                  <a:srgbClr val="006298"/>
                </a:solidFill>
                <a:latin typeface="Arial"/>
                <a:ea typeface="Arial"/>
              </a:rPr>
              <a:t>Section Header</a:t>
            </a:r>
            <a:endParaRPr b="0" lang="en-US" sz="2400" spc="-1" strike="noStrike">
              <a:solidFill>
                <a:srgbClr val="000000"/>
              </a:solidFill>
              <a:latin typeface="Arial"/>
            </a:endParaRPr>
          </a:p>
        </p:txBody>
      </p:sp>
      <p:sp>
        <p:nvSpPr>
          <p:cNvPr id="56" name="PlaceHolder 5"/>
          <p:cNvSpPr>
            <a:spLocks noGrp="1"/>
          </p:cNvSpPr>
          <p:nvPr>
            <p:ph type="body"/>
          </p:nvPr>
        </p:nvSpPr>
        <p:spPr>
          <a:xfrm>
            <a:off x="743400" y="3856320"/>
            <a:ext cx="10711080" cy="146232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a:t>
            </a:r>
            <a:endParaRPr b="0" lang="en-US" sz="2400" spc="-1" strike="noStrike">
              <a:solidFill>
                <a:srgbClr val="000000"/>
              </a:solidFill>
              <a:latin typeface="Arial"/>
            </a:endParaRPr>
          </a:p>
        </p:txBody>
      </p:sp>
      <p:sp>
        <p:nvSpPr>
          <p:cNvPr id="57"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8" name="Picture 6" descr=""/>
          <p:cNvPicPr/>
          <p:nvPr/>
        </p:nvPicPr>
        <p:blipFill>
          <a:blip r:embed="rId2"/>
          <a:stretch/>
        </p:blipFill>
        <p:spPr>
          <a:xfrm>
            <a:off x="477000" y="6356520"/>
            <a:ext cx="1579320" cy="353520"/>
          </a:xfrm>
          <a:prstGeom prst="rect">
            <a:avLst/>
          </a:prstGeom>
          <a:ln w="0">
            <a:noFill/>
          </a:ln>
        </p:spPr>
      </p:pic>
      <p:sp>
        <p:nvSpPr>
          <p:cNvPr id="5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60" name="PlaceHolder 2"/>
          <p:cNvSpPr>
            <a:spLocks noGrp="1"/>
          </p:cNvSpPr>
          <p:nvPr>
            <p:ph type="body"/>
          </p:nvPr>
        </p:nvSpPr>
        <p:spPr>
          <a:xfrm>
            <a:off x="743400" y="-2089440"/>
            <a:ext cx="508428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61" name="PlaceHolder 3"/>
          <p:cNvSpPr>
            <a:spLocks noGrp="1"/>
          </p:cNvSpPr>
          <p:nvPr>
            <p:ph type="body"/>
          </p:nvPr>
        </p:nvSpPr>
        <p:spPr>
          <a:xfrm>
            <a:off x="743400" y="2202840"/>
            <a:ext cx="508428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 Massa tempor nec feugiat nisl pretium fusce id velit. Amet est placerat in egestas erat imperdiet sed euismod. In egestas erat imperdiet sed euismod nisi porta lorem. Fermentum et sollicitudin ac orci phasellus egestas tellus rutrum tellus. Nec dui nunc mattis enim. Nisl condimentum id venenatis a condimentum. Non enim praesent elementum facilisis leo vel fringilla est ullamcorper.</a:t>
            </a:r>
            <a:endParaRPr b="0" lang="en-US" sz="1800" spc="-1" strike="noStrike">
              <a:solidFill>
                <a:srgbClr val="000000"/>
              </a:solidFill>
              <a:latin typeface="Arial"/>
            </a:endParaRPr>
          </a:p>
        </p:txBody>
      </p:sp>
      <p:sp>
        <p:nvSpPr>
          <p:cNvPr id="62" name="PlaceHolder 4"/>
          <p:cNvSpPr>
            <a:spLocks noGrp="1"/>
          </p:cNvSpPr>
          <p:nvPr>
            <p:ph type="body"/>
          </p:nvPr>
        </p:nvSpPr>
        <p:spPr>
          <a:xfrm>
            <a:off x="6370560" y="-2089440"/>
            <a:ext cx="508428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63" name="PlaceHolder 5"/>
          <p:cNvSpPr>
            <a:spLocks noGrp="1"/>
          </p:cNvSpPr>
          <p:nvPr>
            <p:ph type="body"/>
          </p:nvPr>
        </p:nvSpPr>
        <p:spPr>
          <a:xfrm>
            <a:off x="6370560" y="2202840"/>
            <a:ext cx="508428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a:t>
            </a:r>
            <a:endParaRPr b="0" lang="en-US" sz="1800" spc="-1" strike="noStrike">
              <a:solidFill>
                <a:srgbClr val="000000"/>
              </a:solidFill>
              <a:latin typeface="Arial"/>
            </a:endParaRPr>
          </a:p>
          <a:p>
            <a:pPr indent="0">
              <a:lnSpc>
                <a:spcPct val="90000"/>
              </a:lnSpc>
              <a:spcBef>
                <a:spcPts val="1001"/>
              </a:spcBef>
              <a:buNone/>
              <a:tabLst>
                <a:tab algn="l" pos="0"/>
              </a:tabLst>
            </a:pPr>
            <a:r>
              <a:rPr b="0" lang="en-US" sz="1800" spc="-1" strike="noStrike">
                <a:solidFill>
                  <a:srgbClr val="000000"/>
                </a:solidFill>
                <a:latin typeface="Arial"/>
                <a:ea typeface="Arial"/>
              </a:rPr>
              <a:t>Viverra vitae congue eu consequat ac felis donec et. Magnis dis parturient montes nascetur. Massa tempor nec feugiat nisl pretium fusce id velit. </a:t>
            </a:r>
            <a:endParaRPr b="0" lang="en-US" sz="1800" spc="-1" strike="noStrike">
              <a:solidFill>
                <a:srgbClr val="000000"/>
              </a:solidFill>
              <a:latin typeface="Arial"/>
            </a:endParaRPr>
          </a:p>
          <a:p>
            <a:pPr indent="0">
              <a:lnSpc>
                <a:spcPct val="90000"/>
              </a:lnSpc>
              <a:spcBef>
                <a:spcPts val="1001"/>
              </a:spcBef>
              <a:buNone/>
              <a:tabLst>
                <a:tab algn="l" pos="0"/>
              </a:tabLst>
            </a:pPr>
            <a:r>
              <a:rPr b="0" lang="en-US" sz="1800" spc="-1" strike="noStrike">
                <a:solidFill>
                  <a:srgbClr val="000000"/>
                </a:solidFill>
                <a:latin typeface="Arial"/>
                <a:ea typeface="Arial"/>
              </a:rPr>
              <a:t>Amet est placerat in egestas erat imperdiet sed euismod. In egestas erat imperdiet sed euismod nisi porta lorem. Fermentum et sollicitudin ac orci phasellus egestas tellus rutrum tellus. Nec dui nunc mattis enim. Nisl condimentum id venenatis a condimentum. Non enim praesent elementum facilisis leo vel fringilla est ullamcorper.</a:t>
            </a:r>
            <a:endParaRPr b="0" lang="en-US" sz="1800" spc="-1" strike="noStrike">
              <a:solidFill>
                <a:srgbClr val="000000"/>
              </a:solidFill>
              <a:latin typeface="Arial"/>
            </a:endParaRPr>
          </a:p>
        </p:txBody>
      </p:sp>
      <p:sp>
        <p:nvSpPr>
          <p:cNvPr id="64"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5" name="Picture 6" descr=""/>
          <p:cNvPicPr/>
          <p:nvPr/>
        </p:nvPicPr>
        <p:blipFill>
          <a:blip r:embed="rId2"/>
          <a:stretch/>
        </p:blipFill>
        <p:spPr>
          <a:xfrm>
            <a:off x="477000" y="6356520"/>
            <a:ext cx="1579320" cy="353520"/>
          </a:xfrm>
          <a:prstGeom prst="rect">
            <a:avLst/>
          </a:prstGeom>
          <a:ln w="0">
            <a:noFill/>
          </a:ln>
        </p:spPr>
      </p:pic>
      <p:sp>
        <p:nvSpPr>
          <p:cNvPr id="6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67" name="PlaceHolder 2"/>
          <p:cNvSpPr>
            <a:spLocks noGrp="1"/>
          </p:cNvSpPr>
          <p:nvPr>
            <p:ph type="body"/>
          </p:nvPr>
        </p:nvSpPr>
        <p:spPr>
          <a:xfrm>
            <a:off x="743400" y="-2089440"/>
            <a:ext cx="330012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68" name="PlaceHolder 3"/>
          <p:cNvSpPr>
            <a:spLocks noGrp="1"/>
          </p:cNvSpPr>
          <p:nvPr>
            <p:ph type="body"/>
          </p:nvPr>
        </p:nvSpPr>
        <p:spPr>
          <a:xfrm>
            <a:off x="74340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pc="-1" strike="noStrike">
              <a:solidFill>
                <a:srgbClr val="000000"/>
              </a:solidFill>
              <a:latin typeface="Arial"/>
            </a:endParaRPr>
          </a:p>
        </p:txBody>
      </p:sp>
      <p:sp>
        <p:nvSpPr>
          <p:cNvPr id="69" name="PlaceHolder 4"/>
          <p:cNvSpPr>
            <a:spLocks noGrp="1"/>
          </p:cNvSpPr>
          <p:nvPr>
            <p:ph type="body"/>
          </p:nvPr>
        </p:nvSpPr>
        <p:spPr>
          <a:xfrm>
            <a:off x="4445640" y="-2089440"/>
            <a:ext cx="330012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70" name="PlaceHolder 5"/>
          <p:cNvSpPr>
            <a:spLocks noGrp="1"/>
          </p:cNvSpPr>
          <p:nvPr>
            <p:ph type="body"/>
          </p:nvPr>
        </p:nvSpPr>
        <p:spPr>
          <a:xfrm>
            <a:off x="444564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pc="-1" strike="noStrike">
              <a:solidFill>
                <a:srgbClr val="000000"/>
              </a:solidFill>
              <a:latin typeface="Arial"/>
            </a:endParaRPr>
          </a:p>
        </p:txBody>
      </p:sp>
      <p:sp>
        <p:nvSpPr>
          <p:cNvPr id="71" name="PlaceHolder 6"/>
          <p:cNvSpPr>
            <a:spLocks noGrp="1"/>
          </p:cNvSpPr>
          <p:nvPr>
            <p:ph type="body"/>
          </p:nvPr>
        </p:nvSpPr>
        <p:spPr>
          <a:xfrm>
            <a:off x="8146080" y="-2089440"/>
            <a:ext cx="330012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72" name="PlaceHolder 7"/>
          <p:cNvSpPr>
            <a:spLocks noGrp="1"/>
          </p:cNvSpPr>
          <p:nvPr>
            <p:ph type="body"/>
          </p:nvPr>
        </p:nvSpPr>
        <p:spPr>
          <a:xfrm>
            <a:off x="815472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pc="-1" strike="noStrike">
              <a:solidFill>
                <a:srgbClr val="000000"/>
              </a:solidFill>
              <a:latin typeface="Arial"/>
            </a:endParaRPr>
          </a:p>
        </p:txBody>
      </p:sp>
      <p:sp>
        <p:nvSpPr>
          <p:cNvPr id="73"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4" name="Picture 6" descr=""/>
          <p:cNvPicPr/>
          <p:nvPr/>
        </p:nvPicPr>
        <p:blipFill>
          <a:blip r:embed="rId2"/>
          <a:stretch/>
        </p:blipFill>
        <p:spPr>
          <a:xfrm>
            <a:off x="477000" y="6356520"/>
            <a:ext cx="1579320" cy="353520"/>
          </a:xfrm>
          <a:prstGeom prst="rect">
            <a:avLst/>
          </a:prstGeom>
          <a:ln w="0">
            <a:noFill/>
          </a:ln>
        </p:spPr>
      </p:pic>
      <p:sp>
        <p:nvSpPr>
          <p:cNvPr id="7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76" name="PlaceHolder 2"/>
          <p:cNvSpPr>
            <a:spLocks noGrp="1"/>
          </p:cNvSpPr>
          <p:nvPr>
            <p:ph type="body"/>
          </p:nvPr>
        </p:nvSpPr>
        <p:spPr>
          <a:xfrm>
            <a:off x="743400" y="1289520"/>
            <a:ext cx="10711080" cy="27496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 Sit amet volutpat consequat mauris nunc congue nisi. Mauris sit amet massa vitae. Consectetur libero id faucibus nisl tincidunt eget. Nulla facilisi morbi tempus iaculis urna id volutpat lacus. Imperdiet nulla malesuada pellentesque elit eget gravida cum sociis. Sed velit dignissim sodales ut.</a:t>
            </a:r>
            <a:endParaRPr b="0" lang="en-US" sz="2400" spc="-1" strike="noStrike">
              <a:solidFill>
                <a:srgbClr val="000000"/>
              </a:solidFill>
              <a:latin typeface="Arial"/>
            </a:endParaRPr>
          </a:p>
        </p:txBody>
      </p:sp>
      <p:sp>
        <p:nvSpPr>
          <p:cNvPr id="77" name="PlaceHolder 3"/>
          <p:cNvSpPr>
            <a:spLocks noGrp="1"/>
          </p:cNvSpPr>
          <p:nvPr>
            <p:ph type="body"/>
          </p:nvPr>
        </p:nvSpPr>
        <p:spPr>
          <a:xfrm>
            <a:off x="740160" y="4846680"/>
            <a:ext cx="10711080" cy="82512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US" sz="1800" spc="-1" strike="noStrike">
                <a:solidFill>
                  <a:srgbClr val="006298"/>
                </a:solidFill>
                <a:latin typeface="Arial"/>
                <a:ea typeface="Arial"/>
              </a:rPr>
              <a:t>Click to add caption to accompany content. Lorem ipsum dolor sit amet, consectetur adipiscing elit, sed do eiusmod tempor incididunt ut labore et dolore magna aliqua. Viverra vitae congue eu consequat ac felis donec et.</a:t>
            </a:r>
            <a:endParaRPr b="0" lang="en-US" sz="1800" spc="-1" strike="noStrike">
              <a:solidFill>
                <a:srgbClr val="000000"/>
              </a:solidFill>
              <a:latin typeface="Arial"/>
            </a:endParaRPr>
          </a:p>
        </p:txBody>
      </p:sp>
      <p:sp>
        <p:nvSpPr>
          <p:cNvPr id="78"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9" name="Picture 6" descr=""/>
          <p:cNvPicPr/>
          <p:nvPr/>
        </p:nvPicPr>
        <p:blipFill>
          <a:blip r:embed="rId2"/>
          <a:stretch/>
        </p:blipFill>
        <p:spPr>
          <a:xfrm>
            <a:off x="477000" y="6356520"/>
            <a:ext cx="1579320" cy="353520"/>
          </a:xfrm>
          <a:prstGeom prst="rect">
            <a:avLst/>
          </a:prstGeom>
          <a:ln w="0">
            <a:noFill/>
          </a:ln>
        </p:spPr>
      </p:pic>
      <p:sp>
        <p:nvSpPr>
          <p:cNvPr id="8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81" name="PlaceHolder 2"/>
          <p:cNvSpPr>
            <a:spLocks noGrp="1"/>
          </p:cNvSpPr>
          <p:nvPr>
            <p:ph type="body"/>
          </p:nvPr>
        </p:nvSpPr>
        <p:spPr>
          <a:xfrm>
            <a:off x="732960" y="1619640"/>
            <a:ext cx="6476760" cy="425880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picture</a:t>
            </a:r>
            <a:endParaRPr b="0" lang="en-US" sz="1800" spc="-1" strike="noStrike">
              <a:solidFill>
                <a:srgbClr val="000000"/>
              </a:solidFill>
              <a:latin typeface="Arial"/>
            </a:endParaRPr>
          </a:p>
        </p:txBody>
      </p:sp>
      <p:sp>
        <p:nvSpPr>
          <p:cNvPr id="82" name="PlaceHolder 3"/>
          <p:cNvSpPr>
            <a:spLocks noGrp="1"/>
          </p:cNvSpPr>
          <p:nvPr>
            <p:ph type="body"/>
          </p:nvPr>
        </p:nvSpPr>
        <p:spPr>
          <a:xfrm>
            <a:off x="7479000" y="4070520"/>
            <a:ext cx="3976200" cy="180792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US" sz="1800" spc="-1" strike="noStrike">
                <a:solidFill>
                  <a:srgbClr val="006298"/>
                </a:solidFill>
                <a:latin typeface="Arial"/>
                <a:ea typeface="Arial"/>
              </a:rPr>
              <a:t>Click to add caption to accompany content. Lorem ipsum dolor sit amet, consectetur adipiscing elit, sed do eiusmod tempor incididunt ut labore et dolore magna aliqua. Viverra vitae congue eu consequat ac felis donec et.</a:t>
            </a:r>
            <a:endParaRPr b="0" lang="en-US" sz="1800" spc="-1" strike="noStrike">
              <a:solidFill>
                <a:srgbClr val="000000"/>
              </a:solidFill>
              <a:latin typeface="Arial"/>
            </a:endParaRPr>
          </a:p>
        </p:txBody>
      </p:sp>
      <p:sp>
        <p:nvSpPr>
          <p:cNvPr id="83"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7.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5.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5.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hyperlink" Target="https://tools.cisco.com/security/center/content/CiscoSecurityAdvisory/cisco-sa-20160210-asa-ike" TargetMode="External"/><Relationship Id="rId2" Type="http://schemas.openxmlformats.org/officeDocument/2006/relationships/hyperlink" Target="https://blog.qualys.com/vulnerabilities-threat-research/2015/01/27/the-ghost-vulnerability" TargetMode="External"/><Relationship Id="rId3" Type="http://schemas.openxmlformats.org/officeDocument/2006/relationships/slideLayout" Target="../slideLayouts/slideLayout5.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5.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3729960" y="1901880"/>
            <a:ext cx="8036640" cy="1526760"/>
          </a:xfrm>
          <a:prstGeom prst="rect">
            <a:avLst/>
          </a:prstGeom>
          <a:noFill/>
          <a:ln w="0">
            <a:noFill/>
          </a:ln>
        </p:spPr>
        <p:txBody>
          <a:bodyPr numCol="1" spcCol="0" lIns="0" rIns="0" tIns="0" bIns="0" anchor="ctr">
            <a:noAutofit/>
          </a:bodyPr>
          <a:p>
            <a:pPr indent="0" algn="ctr">
              <a:lnSpc>
                <a:spcPct val="90000"/>
              </a:lnSpc>
              <a:buNone/>
            </a:pPr>
            <a:r>
              <a:rPr b="0" lang="en-US" sz="4000" spc="-1" strike="noStrike">
                <a:solidFill>
                  <a:schemeClr val="lt1"/>
                </a:solidFill>
                <a:latin typeface="Arial"/>
                <a:ea typeface="Arial"/>
              </a:rPr>
              <a:t>Hands-On Ethical Hacking and Network Defense,</a:t>
            </a:r>
            <a:br>
              <a:rPr sz="4000"/>
            </a:br>
            <a:r>
              <a:rPr b="0" lang="en-US" sz="4000" spc="-1" strike="noStrike">
                <a:solidFill>
                  <a:schemeClr val="lt1"/>
                </a:solidFill>
                <a:latin typeface="Arial"/>
                <a:ea typeface="Arial"/>
              </a:rPr>
              <a:t>Edition 4</a:t>
            </a:r>
            <a:endParaRPr b="0" lang="en-US" sz="4000" spc="-1" strike="noStrike">
              <a:solidFill>
                <a:schemeClr val="dk1"/>
              </a:solidFill>
              <a:latin typeface="Calibri"/>
            </a:endParaRPr>
          </a:p>
        </p:txBody>
      </p:sp>
      <p:sp>
        <p:nvSpPr>
          <p:cNvPr id="91" name="PlaceHolder 2"/>
          <p:cNvSpPr>
            <a:spLocks noGrp="1"/>
          </p:cNvSpPr>
          <p:nvPr>
            <p:ph/>
          </p:nvPr>
        </p:nvSpPr>
        <p:spPr>
          <a:xfrm>
            <a:off x="4817160" y="3828600"/>
            <a:ext cx="6372000" cy="1116360"/>
          </a:xfrm>
          <a:prstGeom prst="rect">
            <a:avLst/>
          </a:prstGeom>
          <a:noFill/>
          <a:ln w="0">
            <a:noFill/>
          </a:ln>
        </p:spPr>
        <p:txBody>
          <a:bodyPr numCol="1" spcCol="0" lIns="0" rIns="0" tIns="0" bIns="0" anchor="ctr">
            <a:noAutofit/>
          </a:bodyPr>
          <a:p>
            <a:pPr indent="0" algn="ctr">
              <a:lnSpc>
                <a:spcPct val="90000"/>
              </a:lnSpc>
              <a:spcBef>
                <a:spcPts val="1001"/>
              </a:spcBef>
              <a:buNone/>
              <a:tabLst>
                <a:tab algn="l" pos="0"/>
              </a:tabLst>
            </a:pPr>
            <a:r>
              <a:rPr b="1" lang="en-US" sz="3600" spc="-1" strike="noStrike">
                <a:solidFill>
                  <a:schemeClr val="lt1"/>
                </a:solidFill>
                <a:latin typeface="Arial"/>
                <a:ea typeface="Arial"/>
              </a:rPr>
              <a:t>Module 3: </a:t>
            </a:r>
            <a:r>
              <a:rPr b="0" lang="en-US" sz="3600" spc="-1" strike="noStrike">
                <a:solidFill>
                  <a:schemeClr val="lt1"/>
                </a:solidFill>
                <a:latin typeface="Arial"/>
                <a:ea typeface="Arial"/>
              </a:rPr>
              <a:t>Network and Computer Attacks</a:t>
            </a:r>
            <a:endParaRPr b="0" lang="en-US" sz="3600" spc="-1" strike="noStrike">
              <a:solidFill>
                <a:srgbClr val="000000"/>
              </a:solidFill>
              <a:latin typeface="Arial"/>
            </a:endParaRPr>
          </a:p>
        </p:txBody>
      </p:sp>
      <p:pic>
        <p:nvPicPr>
          <p:cNvPr id="92" name="Picture Placeholder 7" descr="">
            <a:extLst>
              <a:ext uri="{C183D7F6-B498-43B3-948B-1728B52AA6E4}">
                <adec:decorative xmlns:adec="http://schemas.microsoft.com/office/drawing/2017/decorative" val="1"/>
              </a:ext>
            </a:extLst>
          </p:cNvPr>
          <p:cNvPicPr/>
          <p:nvPr/>
        </p:nvPicPr>
        <p:blipFill>
          <a:blip r:embed="rId1"/>
          <a:srcRect l="923" t="0" r="923" b="0"/>
          <a:stretch/>
        </p:blipFill>
        <p:spPr>
          <a:xfrm>
            <a:off x="246240" y="314280"/>
            <a:ext cx="3342960" cy="4317480"/>
          </a:xfrm>
          <a:prstGeom prst="rect">
            <a:avLst/>
          </a:prstGeom>
          <a:ln w="0">
            <a:noFill/>
          </a:ln>
        </p:spPr>
      </p:pic>
      <p:sp>
        <p:nvSpPr>
          <p:cNvPr id="93" name="PlaceHolder 3"/>
          <p:cNvSpPr>
            <a:spLocks noGrp="1"/>
          </p:cNvSpPr>
          <p:nvPr>
            <p:ph/>
          </p:nvPr>
        </p:nvSpPr>
        <p:spPr>
          <a:xfrm>
            <a:off x="2708640" y="6347160"/>
            <a:ext cx="9057960" cy="44172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1400" spc="-1" strike="noStrike">
                <a:solidFill>
                  <a:schemeClr val="lt1"/>
                </a:solidFill>
                <a:latin typeface="arial"/>
              </a:rPr>
              <a:t>Simpson, Antill</a:t>
            </a:r>
            <a:r>
              <a:rPr b="0" lang="en-US" sz="1400" spc="-1" strike="noStrike">
                <a:solidFill>
                  <a:schemeClr val="lt1"/>
                </a:solidFill>
                <a:latin typeface="arial"/>
                <a:ea typeface="Arial"/>
              </a:rPr>
              <a:t>, Wilson, Hands-On Ethical Hacking and Network Defense, 4</a:t>
            </a:r>
            <a:r>
              <a:rPr b="0" lang="en-US" sz="1400" spc="-1" strike="noStrike" baseline="30000">
                <a:solidFill>
                  <a:schemeClr val="lt1"/>
                </a:solidFill>
                <a:latin typeface="arial"/>
                <a:ea typeface="Arial"/>
              </a:rPr>
              <a:t>th</a:t>
            </a:r>
            <a:r>
              <a:rPr b="0" lang="en-US" sz="1400" spc="-1" strike="noStrike">
                <a:solidFill>
                  <a:schemeClr val="lt1"/>
                </a:solidFill>
                <a:latin typeface="arial"/>
                <a:ea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Malicious Software (Malware)</a:t>
            </a:r>
            <a:endParaRPr b="0" lang="en-US" sz="3400" spc="-1" strike="noStrike">
              <a:solidFill>
                <a:schemeClr val="dk1"/>
              </a:solidFill>
              <a:latin typeface="Calibri"/>
            </a:endParaRPr>
          </a:p>
        </p:txBody>
      </p:sp>
      <p:sp>
        <p:nvSpPr>
          <p:cNvPr id="95"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Network attacks are initiated to steal data that can be used or sold for financial gain or to carry out a sociopolitical agenda</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Malicious software (</a:t>
            </a:r>
            <a:r>
              <a:rPr b="1" lang="en-US" sz="2000" spc="-1" strike="noStrike">
                <a:solidFill>
                  <a:srgbClr val="004a78"/>
                </a:solidFill>
                <a:latin typeface="Arial"/>
                <a:ea typeface="Arial"/>
              </a:rPr>
              <a:t>malware</a:t>
            </a:r>
            <a:r>
              <a:rPr b="0" lang="en-US" sz="2000" spc="-1" strike="noStrike">
                <a:solidFill>
                  <a:srgbClr val="004a78"/>
                </a:solidFill>
                <a:latin typeface="Arial"/>
                <a:ea typeface="Arial"/>
              </a:rPr>
              <a:t>) </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Virus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Worm</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Trojan program</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Main goal</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To make money</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Malware was once targeted specifically at Windows, Linux, and other traditional OSs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Now, it is written to target tablets, smartphones, and other Internet-connected devices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Viruses (1 of 4)</a:t>
            </a:r>
            <a:endParaRPr b="0" lang="en-US" sz="3400" spc="-1" strike="noStrike">
              <a:solidFill>
                <a:schemeClr val="dk1"/>
              </a:solidFill>
              <a:latin typeface="Calibri"/>
            </a:endParaRPr>
          </a:p>
        </p:txBody>
      </p:sp>
      <p:sp>
        <p:nvSpPr>
          <p:cNvPr id="97" name="PlaceHolder 2"/>
          <p:cNvSpPr>
            <a:spLocks noGrp="1"/>
          </p:cNvSpPr>
          <p:nvPr>
            <p:ph/>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Virus: </a:t>
            </a:r>
            <a:r>
              <a:rPr b="0" lang="en-US" sz="2000" spc="-1" strike="noStrike">
                <a:solidFill>
                  <a:srgbClr val="004a78"/>
                </a:solidFill>
                <a:latin typeface="Arial"/>
                <a:ea typeface="Arial"/>
              </a:rPr>
              <a:t>A program that attaches itself to a file or another program, often sent via email</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Can’t replicate itself or operate without the presence of a host</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Does not stand on its own</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Examples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Phishing: Sender of a phishing email uses social engineering to lure a user into following a malicious link to a fake website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1" lang="en-US" sz="2000" spc="-1" strike="noStrike">
                <a:solidFill>
                  <a:srgbClr val="004a78"/>
                </a:solidFill>
                <a:latin typeface="Arial"/>
                <a:ea typeface="Arial"/>
              </a:rPr>
              <a:t>Ransomware: </a:t>
            </a:r>
            <a:r>
              <a:rPr b="0" lang="en-US" sz="2000" spc="-1" strike="noStrike">
                <a:solidFill>
                  <a:srgbClr val="004a78"/>
                </a:solidFill>
                <a:latin typeface="Arial"/>
                <a:ea typeface="Arial"/>
              </a:rPr>
              <a:t>A type of virus that locks a target system until a ransom is paid</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Bad news about viruses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No foolproof prevention method</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Viruses (2 of 4)</a:t>
            </a:r>
            <a:endParaRPr b="0" lang="en-US" sz="3400" spc="-1" strike="noStrike">
              <a:solidFill>
                <a:schemeClr val="dk1"/>
              </a:solidFill>
              <a:latin typeface="Calibri"/>
            </a:endParaRPr>
          </a:p>
        </p:txBody>
      </p:sp>
      <p:pic>
        <p:nvPicPr>
          <p:cNvPr id="99" name="Picture Placeholder 7" descr="An email message pretending to be from Netflix. It contains a link to a website containing malicious code."/>
          <p:cNvPicPr/>
          <p:nvPr/>
        </p:nvPicPr>
        <p:blipFill>
          <a:blip r:embed="rId1"/>
          <a:stretch/>
        </p:blipFill>
        <p:spPr>
          <a:xfrm>
            <a:off x="1812600" y="1037160"/>
            <a:ext cx="7488360" cy="4612320"/>
          </a:xfrm>
          <a:prstGeom prst="rect">
            <a:avLst/>
          </a:prstGeom>
          <a:ln w="0">
            <a:noFill/>
          </a:ln>
        </p:spPr>
      </p:pic>
      <p:sp>
        <p:nvSpPr>
          <p:cNvPr id="100" name="PlaceHolder 2"/>
          <p:cNvSpPr>
            <a:spLocks noGrp="1"/>
          </p:cNvSpPr>
          <p:nvPr>
            <p:ph/>
          </p:nvPr>
        </p:nvSpPr>
        <p:spPr>
          <a:xfrm>
            <a:off x="3633120" y="5708520"/>
            <a:ext cx="4142880" cy="22392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4a78"/>
                </a:solidFill>
                <a:latin typeface="Arial"/>
                <a:ea typeface="Arial"/>
              </a:rPr>
              <a:t>Figure 3-1 </a:t>
            </a:r>
            <a:r>
              <a:rPr b="0" lang="en-US" sz="1800" spc="-1" strike="noStrike">
                <a:solidFill>
                  <a:srgbClr val="004a78"/>
                </a:solidFill>
                <a:latin typeface="Arial"/>
                <a:ea typeface="Arial"/>
              </a:rPr>
              <a:t>Phishing email message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Viruses (3 of 4)</a:t>
            </a:r>
            <a:endParaRPr b="0" lang="en-US" sz="3400" spc="-1" strike="noStrike">
              <a:solidFill>
                <a:schemeClr val="dk1"/>
              </a:solidFill>
              <a:latin typeface="Calibri"/>
            </a:endParaRPr>
          </a:p>
        </p:txBody>
      </p:sp>
      <p:sp>
        <p:nvSpPr>
          <p:cNvPr id="10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Antivirus software </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Compares signatures and common malicious programmatic behaviors of known viruses against every file on a computer</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Signatures are kept in a </a:t>
            </a:r>
            <a:r>
              <a:rPr b="1" lang="en-US" sz="2000" spc="-1" strike="noStrike">
                <a:solidFill>
                  <a:srgbClr val="004a78"/>
                </a:solidFill>
                <a:latin typeface="Arial"/>
                <a:ea typeface="Arial"/>
              </a:rPr>
              <a:t>virus signature file</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Must update regularly</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Many antivirus software packages offer automatic updates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Network security devices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Can monitor entire networks and intercept malware before it reaches users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1" lang="en-US" sz="2000" spc="-1" strike="noStrike">
                <a:solidFill>
                  <a:srgbClr val="004a78"/>
                </a:solidFill>
                <a:latin typeface="Arial"/>
                <a:ea typeface="Arial"/>
              </a:rPr>
              <a:t>Sandboxing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Allows users to run programs in a secure, isolated operating area that prevents malicious files from being written to the hard drive</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600" spc="-1" strike="noStrike">
                <a:solidFill>
                  <a:srgbClr val="004a78"/>
                </a:solidFill>
                <a:latin typeface="Arial"/>
                <a:ea typeface="Arial"/>
              </a:rPr>
              <a:t>Common Computer Viruses (1 of 3)</a:t>
            </a:r>
            <a:endParaRPr b="0" lang="en-US" sz="3600" spc="-1" strike="noStrike">
              <a:solidFill>
                <a:schemeClr val="dk1"/>
              </a:solidFill>
              <a:latin typeface="Calibri"/>
            </a:endParaRPr>
          </a:p>
        </p:txBody>
      </p:sp>
      <p:graphicFrame>
        <p:nvGraphicFramePr>
          <p:cNvPr id="104" name="Table 7"/>
          <p:cNvGraphicFramePr/>
          <p:nvPr/>
        </p:nvGraphicFramePr>
        <p:xfrm>
          <a:off x="381960" y="1037160"/>
          <a:ext cx="11427840" cy="6588000"/>
        </p:xfrm>
        <a:graphic>
          <a:graphicData uri="http://schemas.openxmlformats.org/drawingml/2006/table">
            <a:tbl>
              <a:tblPr/>
              <a:tblGrid>
                <a:gridCol w="2731320"/>
                <a:gridCol w="8696520"/>
              </a:tblGrid>
              <a:tr h="307440">
                <a:tc>
                  <a:txBody>
                    <a:bodyPr anchor="t">
                      <a:noAutofit/>
                    </a:bodyPr>
                    <a:p>
                      <a:pPr defTabSz="914400">
                        <a:lnSpc>
                          <a:spcPct val="100000"/>
                        </a:lnSpc>
                      </a:pPr>
                      <a:r>
                        <a:rPr b="1" lang="en-IN" sz="1800" spc="-1" strike="noStrike">
                          <a:solidFill>
                            <a:schemeClr val="lt1"/>
                          </a:solidFill>
                          <a:latin typeface="Calibri"/>
                        </a:rPr>
                        <a:t>Virus</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US"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537840">
                <a:tc>
                  <a:txBody>
                    <a:bodyPr anchor="t">
                      <a:noAutofit/>
                    </a:bodyPr>
                    <a:p>
                      <a:pPr defTabSz="914400">
                        <a:lnSpc>
                          <a:spcPct val="100000"/>
                        </a:lnSpc>
                      </a:pPr>
                      <a:r>
                        <a:rPr b="0" lang="en-IN" sz="1800" spc="-1" strike="noStrike">
                          <a:solidFill>
                            <a:schemeClr val="dk1"/>
                          </a:solidFill>
                          <a:latin typeface="Calibri"/>
                        </a:rPr>
                        <a:t>Ryuk</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The Ryuk ransomware virus was responsible for more than one-third of all ransomware attacks in 2020. Ryuk is used in attacks targeting companies, hospitals, and government municipalities. Ryuk encrypts critical files and typically demands a multimillion-dollar ransom.</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37840">
                <a:tc>
                  <a:txBody>
                    <a:bodyPr anchor="t">
                      <a:noAutofit/>
                    </a:bodyPr>
                    <a:p>
                      <a:pPr defTabSz="914400">
                        <a:lnSpc>
                          <a:spcPct val="100000"/>
                        </a:lnSpc>
                      </a:pPr>
                      <a:r>
                        <a:rPr b="0" lang="en-IN" sz="1800" spc="-1" strike="noStrike">
                          <a:solidFill>
                            <a:schemeClr val="dk1"/>
                          </a:solidFill>
                          <a:latin typeface="Calibri"/>
                        </a:rPr>
                        <a:t>FormBook</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FormBook is a malware family of data stealers and form grabbers. It attempts to steal the contents of the Windows Clipboard, log what you type on the keyboard, and steal data while you browse the web. It is sold as “malware-as-a-service” on hacking forums. Hackers can purchase a subscription and use the FormBook tool. FormBook is usually distributed through spam email </a:t>
                      </a:r>
                      <a:r>
                        <a:rPr b="0" lang="en-IN" sz="1800" spc="-1" strike="noStrike">
                          <a:solidFill>
                            <a:schemeClr val="dk1"/>
                          </a:solidFill>
                          <a:latin typeface="Calibri"/>
                        </a:rPr>
                        <a:t>containing malicious attachments.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07440">
                <a:tc>
                  <a:txBody>
                    <a:bodyPr anchor="t">
                      <a:noAutofit/>
                    </a:bodyPr>
                    <a:p>
                      <a:pPr defTabSz="914400">
                        <a:lnSpc>
                          <a:spcPct val="100000"/>
                        </a:lnSpc>
                      </a:pPr>
                      <a:r>
                        <a:rPr b="0" lang="en-IN" sz="1800" spc="-1" strike="noStrike">
                          <a:solidFill>
                            <a:schemeClr val="dk1"/>
                          </a:solidFill>
                          <a:latin typeface="Calibri"/>
                        </a:rPr>
                        <a:t>CryptoLocker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CryptoLocker is less prevalent now but is considered the father of many ransomware viruses. CryptoLocker has become a term referring to families of ransomware viruses. In 2016, it was estimated to have infected more than 250,000 computers. This malware locks the user’s files in an encrypted container and requires the victim to pay ransom for their decryption. Like most malware, it is delivered through an email message that is designed to trick users into clicking a malicious link or attachment. Once a machine is infected, victims have a set amount of time to pay the ransom if they want to retrieve their files.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600" spc="-1" strike="noStrike">
                <a:solidFill>
                  <a:srgbClr val="004a78"/>
                </a:solidFill>
                <a:latin typeface="Arial"/>
                <a:ea typeface="Arial"/>
              </a:rPr>
              <a:t>Common Computer Viruses (2 of 3)</a:t>
            </a:r>
            <a:endParaRPr b="0" lang="en-US" sz="3600" spc="-1" strike="noStrike">
              <a:solidFill>
                <a:schemeClr val="dk1"/>
              </a:solidFill>
              <a:latin typeface="Calibri"/>
            </a:endParaRPr>
          </a:p>
        </p:txBody>
      </p:sp>
      <p:graphicFrame>
        <p:nvGraphicFramePr>
          <p:cNvPr id="106" name="Table 7"/>
          <p:cNvGraphicFramePr/>
          <p:nvPr/>
        </p:nvGraphicFramePr>
        <p:xfrm>
          <a:off x="381960" y="1144080"/>
          <a:ext cx="11427840" cy="5563080"/>
        </p:xfrm>
        <a:graphic>
          <a:graphicData uri="http://schemas.openxmlformats.org/drawingml/2006/table">
            <a:tbl>
              <a:tblPr/>
              <a:tblGrid>
                <a:gridCol w="2680560"/>
                <a:gridCol w="8747640"/>
              </a:tblGrid>
              <a:tr h="307440">
                <a:tc>
                  <a:txBody>
                    <a:bodyPr anchor="t">
                      <a:noAutofit/>
                    </a:bodyPr>
                    <a:p>
                      <a:pPr defTabSz="914400">
                        <a:lnSpc>
                          <a:spcPct val="100000"/>
                        </a:lnSpc>
                      </a:pPr>
                      <a:r>
                        <a:rPr b="1" lang="en-IN" sz="1800" spc="-1" strike="noStrike">
                          <a:solidFill>
                            <a:schemeClr val="lt1"/>
                          </a:solidFill>
                          <a:latin typeface="Calibri"/>
                        </a:rPr>
                        <a:t>Virus</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US"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537840">
                <a:tc>
                  <a:txBody>
                    <a:bodyPr anchor="t">
                      <a:noAutofit/>
                    </a:bodyPr>
                    <a:p>
                      <a:pPr defTabSz="914400">
                        <a:lnSpc>
                          <a:spcPct val="100000"/>
                        </a:lnSpc>
                      </a:pPr>
                      <a:r>
                        <a:rPr b="0" lang="en-IN" sz="1800" spc="-1" strike="noStrike">
                          <a:solidFill>
                            <a:schemeClr val="dk1"/>
                          </a:solidFill>
                          <a:latin typeface="Calibri"/>
                        </a:rPr>
                        <a:t>MalumPOS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Malware has targeted devices responsible for processing payments, referred to as POS (point of sale) systems. The MalumPOS virus was used in mid-2015 to attack POS devices at hotel chains. This virus was programmed to find, intercept, copy, and exfiltrate payment card information (e.g., credit/debit card numbers and other information stored on the magnetic strip of a credit card). POS attacks were rare in 2020, but a new strain seems to target personally identifying information only instead of full payment card information.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37840">
                <a:tc>
                  <a:txBody>
                    <a:bodyPr anchor="t">
                      <a:noAutofit/>
                    </a:bodyPr>
                    <a:p>
                      <a:pPr defTabSz="914400">
                        <a:lnSpc>
                          <a:spcPct val="100000"/>
                        </a:lnSpc>
                      </a:pPr>
                      <a:r>
                        <a:rPr b="0" lang="en-IN" sz="1800" spc="-1" strike="noStrike">
                          <a:solidFill>
                            <a:schemeClr val="dk1"/>
                          </a:solidFill>
                          <a:latin typeface="Calibri"/>
                        </a:rPr>
                        <a:t>Carbanak</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This virus is spread via phishing emails that almost always target financial institutions. These phishing emails contain a Word document and a malicious .cpl file. (Keep this in mind for the upcoming base-64 decoding exercise.) When it first accesses a system, the malware runs a number of checks to ensure it can gain the proper privileges to further its attack. When proper privileges are obtained or verified, the malware opens a backdoor to a few remote servers under the control of an unknown (to this point) malicious actor. This malware has been used to facilitate fraudulent transactions in financial institutions’ funds transfer systems and ATM machines.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600" spc="-1" strike="noStrike">
                <a:solidFill>
                  <a:srgbClr val="004a78"/>
                </a:solidFill>
                <a:latin typeface="Arial"/>
                <a:ea typeface="Arial"/>
              </a:rPr>
              <a:t>Common Computer Viruses (3 of 3)</a:t>
            </a:r>
            <a:endParaRPr b="0" lang="en-US" sz="3600" spc="-1" strike="noStrike">
              <a:solidFill>
                <a:schemeClr val="dk1"/>
              </a:solidFill>
              <a:latin typeface="Calibri"/>
            </a:endParaRPr>
          </a:p>
        </p:txBody>
      </p:sp>
      <p:graphicFrame>
        <p:nvGraphicFramePr>
          <p:cNvPr id="108" name="Table 7"/>
          <p:cNvGraphicFramePr/>
          <p:nvPr/>
        </p:nvGraphicFramePr>
        <p:xfrm>
          <a:off x="381960" y="1320480"/>
          <a:ext cx="11427840" cy="4941000"/>
        </p:xfrm>
        <a:graphic>
          <a:graphicData uri="http://schemas.openxmlformats.org/drawingml/2006/table">
            <a:tbl>
              <a:tblPr/>
              <a:tblGrid>
                <a:gridCol w="3227760"/>
                <a:gridCol w="8200440"/>
              </a:tblGrid>
              <a:tr h="307440">
                <a:tc>
                  <a:txBody>
                    <a:bodyPr anchor="t">
                      <a:noAutofit/>
                    </a:bodyPr>
                    <a:p>
                      <a:pPr defTabSz="914400">
                        <a:lnSpc>
                          <a:spcPct val="100000"/>
                        </a:lnSpc>
                      </a:pPr>
                      <a:r>
                        <a:rPr b="1" lang="en-IN" sz="1800" spc="-1" strike="noStrike">
                          <a:solidFill>
                            <a:schemeClr val="lt1"/>
                          </a:solidFill>
                          <a:latin typeface="Calibri"/>
                        </a:rPr>
                        <a:t>Virus</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US"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07440">
                <a:tc>
                  <a:txBody>
                    <a:bodyPr anchor="t">
                      <a:noAutofit/>
                    </a:bodyPr>
                    <a:p>
                      <a:pPr defTabSz="914400">
                        <a:lnSpc>
                          <a:spcPct val="100000"/>
                        </a:lnSpc>
                      </a:pPr>
                      <a:r>
                        <a:rPr b="0" lang="en-IN" sz="1800" spc="-1" strike="noStrike">
                          <a:solidFill>
                            <a:schemeClr val="dk1"/>
                          </a:solidFill>
                          <a:latin typeface="Calibri"/>
                        </a:rPr>
                        <a:t>Gumblar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First detected in March 2009, this malware spread by mass-hacking hundreds of thousands of websites, which then exploited visiting browsers via Adobe PDF and Flash vulnerabilities. It has made a resurgence in 2020, crashing thousands of blogs and websites that use WordPress, Drupal, Joomla, and other PHP-based constructs. The malware steals FTP credentials and uses them to further compromise websites that the victim maintains. It also hijacks Google searches and blocks access to antivirus update sites to prevent removal. Recent variations install a backdoor that attempts to connect to a botnet.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07440">
                <a:tc>
                  <a:txBody>
                    <a:bodyPr anchor="t">
                      <a:noAutofit/>
                    </a:bodyPr>
                    <a:p>
                      <a:pPr defTabSz="914400">
                        <a:lnSpc>
                          <a:spcPct val="100000"/>
                        </a:lnSpc>
                      </a:pPr>
                      <a:r>
                        <a:rPr b="0" lang="en-IN" sz="1800" spc="-1" strike="noStrike">
                          <a:solidFill>
                            <a:schemeClr val="dk1"/>
                          </a:solidFill>
                          <a:latin typeface="Calibri"/>
                        </a:rPr>
                        <a:t>Gpcode or</a:t>
                      </a: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Calibri"/>
                        </a:rPr>
                        <a:t>PGPCoder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This ransomware virus was detected in 2008 and was still active in 2020. Although not</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widespread, it is unique because it uses practically unbreakable 1024-bit asymmetric key encryption to hide a user’s documents on the computer and hold them for ransom until the victim pays for the encryption key.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Viruses (4 of 4)</a:t>
            </a:r>
            <a:endParaRPr b="0" lang="en-US" sz="3400" spc="-1" strike="noStrike">
              <a:solidFill>
                <a:schemeClr val="dk1"/>
              </a:solidFill>
              <a:latin typeface="Calibri"/>
            </a:endParaRPr>
          </a:p>
        </p:txBody>
      </p:sp>
      <p:sp>
        <p:nvSpPr>
          <p:cNvPr id="11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Some viruses contained in email attachments were encoded in base 64</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Running a base-64 decoder on suspicious email attachments can help determine if malware or viruses are detected</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Examples of what to look for: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Hidden computer programs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Executable pieces of programming code known as </a:t>
            </a:r>
            <a:r>
              <a:rPr b="1" lang="en-US" sz="2000" spc="-1" strike="noStrike">
                <a:solidFill>
                  <a:srgbClr val="004a78"/>
                </a:solidFill>
                <a:latin typeface="Arial"/>
                <a:ea typeface="Arial"/>
              </a:rPr>
              <a:t>shell</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Creates an interface to an OS for issuing system commands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Should not appear in an email attachment</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Macro Viruses</a:t>
            </a:r>
            <a:endParaRPr b="0" lang="en-US" sz="3400" spc="-1" strike="noStrike">
              <a:solidFill>
                <a:schemeClr val="dk1"/>
              </a:solidFill>
              <a:latin typeface="Calibri"/>
            </a:endParaRPr>
          </a:p>
        </p:txBody>
      </p:sp>
      <p:sp>
        <p:nvSpPr>
          <p:cNvPr id="11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Macro virus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 virus coded as a macro in programs that support a macro programming language (e.g., Visual Basic for Applications)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Macro: Basically, a list of commands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Can be coded to carry out several malicious actions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Example</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Melissa: Appeared in 1999</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Viruses were created by programmers in the past</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Today, even nonprogrammers can create viruses easily</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Instructions on how to create a virus step by step are posted on websites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Security professionals learn from thinking like attackers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Worms</a:t>
            </a:r>
            <a:endParaRPr b="0" lang="en-US" sz="3400" spc="-1" strike="noStrike">
              <a:solidFill>
                <a:schemeClr val="dk1"/>
              </a:solidFill>
              <a:latin typeface="Calibri"/>
            </a:endParaRPr>
          </a:p>
        </p:txBody>
      </p:sp>
      <p:sp>
        <p:nvSpPr>
          <p:cNvPr id="11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Worm</a:t>
            </a:r>
            <a:r>
              <a:rPr b="0" lang="en-US" sz="2000" spc="-1" strike="noStrike">
                <a:solidFill>
                  <a:srgbClr val="004a78"/>
                </a:solidFill>
                <a:latin typeface="Arial"/>
                <a:ea typeface="Arial"/>
              </a:rPr>
              <a:t>: A program that replicates and propagates itself without having to attach itself to a host</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Infamous examples: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Stuxnet</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Code Red</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Conficker</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Theoretically, a worm that replicates itself multiple times to every user it infects can infect every computer in the world over a short period</a:t>
            </a:r>
            <a:endParaRPr b="0" lang="en-US" sz="2000" spc="-1" strike="noStrike">
              <a:solidFill>
                <a:srgbClr val="000000"/>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Some infamous worms have cost businesses billions of dollars because of:</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Lost productivity caused by computer downtime and time spent recovering lost data</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Reinstalling programs and operating systems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Hiring or contracting IT personnel </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Common Computer Worms (1 of 2)</a:t>
            </a:r>
            <a:endParaRPr b="0" lang="en-US" sz="3400" spc="-1" strike="noStrike">
              <a:solidFill>
                <a:schemeClr val="dk1"/>
              </a:solidFill>
              <a:latin typeface="Calibri"/>
            </a:endParaRPr>
          </a:p>
        </p:txBody>
      </p:sp>
      <p:graphicFrame>
        <p:nvGraphicFramePr>
          <p:cNvPr id="116" name="Table 4"/>
          <p:cNvGraphicFramePr/>
          <p:nvPr/>
        </p:nvGraphicFramePr>
        <p:xfrm>
          <a:off x="333720" y="1313280"/>
          <a:ext cx="11524320" cy="5654880"/>
        </p:xfrm>
        <a:graphic>
          <a:graphicData uri="http://schemas.openxmlformats.org/drawingml/2006/table">
            <a:tbl>
              <a:tblPr/>
              <a:tblGrid>
                <a:gridCol w="1832400"/>
                <a:gridCol w="9691920"/>
              </a:tblGrid>
              <a:tr h="368640">
                <a:tc>
                  <a:txBody>
                    <a:bodyPr anchor="t">
                      <a:noAutofit/>
                    </a:bodyPr>
                    <a:p>
                      <a:pPr defTabSz="914400">
                        <a:lnSpc>
                          <a:spcPct val="100000"/>
                        </a:lnSpc>
                      </a:pPr>
                      <a:r>
                        <a:rPr b="0" lang="en-IN" sz="1800" spc="-1" strike="noStrike">
                          <a:solidFill>
                            <a:schemeClr val="lt1"/>
                          </a:solidFill>
                          <a:latin typeface="Calibri"/>
                        </a:rPr>
                        <a:t>Worm</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0" lang="en-IN"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210680">
                <a:tc>
                  <a:txBody>
                    <a:bodyPr anchor="t">
                      <a:noAutofit/>
                    </a:bodyPr>
                    <a:p>
                      <a:pPr defTabSz="914400">
                        <a:lnSpc>
                          <a:spcPct val="100000"/>
                        </a:lnSpc>
                      </a:pPr>
                      <a:r>
                        <a:rPr b="0" lang="en-IN" sz="1800" spc="-1" strike="noStrike">
                          <a:solidFill>
                            <a:schemeClr val="dk1"/>
                          </a:solidFill>
                          <a:latin typeface="Calibri"/>
                        </a:rPr>
                        <a:t>WannaCry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WannaCry is a ransomware cryptoworm that began its attack in 2017. It targeted vulnerabilities in the Microsoft Windows file-sharing protocol server message block (SMB), which allowed it to spread from system to system. Once on a system, it would then release its ransomware attack. Within a day, WannaCry had infected more than 230,000 computers in about 150 countries.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8640">
                <a:tc>
                  <a:txBody>
                    <a:bodyPr anchor="t">
                      <a:noAutofit/>
                    </a:bodyPr>
                    <a:p>
                      <a:pPr defTabSz="914400">
                        <a:lnSpc>
                          <a:spcPct val="100000"/>
                        </a:lnSpc>
                      </a:pPr>
                      <a:r>
                        <a:rPr b="0" lang="en-IN" sz="1800" spc="-1" strike="noStrike">
                          <a:solidFill>
                            <a:schemeClr val="dk1"/>
                          </a:solidFill>
                          <a:latin typeface="Calibri"/>
                        </a:rPr>
                        <a:t>Flame (also called KyWiper)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Often touted as the most complex malware ever created, Flame was discovered in May 2012. It used advanced techniques to infect both local and remote computers. Its capabilities included microphone/webcam spying, keystroke logging, and screen capturing.</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8640">
                <a:tc>
                  <a:txBody>
                    <a:bodyPr anchor="t">
                      <a:noAutofit/>
                    </a:bodyPr>
                    <a:p>
                      <a:pPr defTabSz="914400">
                        <a:lnSpc>
                          <a:spcPct val="100000"/>
                        </a:lnSpc>
                      </a:pPr>
                      <a:r>
                        <a:rPr b="0" lang="en-IN" sz="1800" spc="-1" strike="noStrike">
                          <a:solidFill>
                            <a:schemeClr val="dk1"/>
                          </a:solidFill>
                          <a:latin typeface="Calibri"/>
                        </a:rPr>
                        <a:t>Stuxnet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In 2010, this malicious code was found on the industrial control systems (ICSs) in a nuclear production facility in Iran. Believed to have been delivered via USB drive, the worm may have used newly discovered Windows exploits to propagate itself, according to later analysis. Once the malware spread to a system that was running specific control software, the malware took control of the attached uranium refinement equipment, causing centrifuges to spin erratically and then fail. This is analogous to making a washing machine spin so fast that the motor burns out.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Common Computer Worms (2 of 2)</a:t>
            </a:r>
            <a:endParaRPr b="0" lang="en-US" sz="3400" spc="-1" strike="noStrike">
              <a:solidFill>
                <a:schemeClr val="dk1"/>
              </a:solidFill>
              <a:latin typeface="Calibri"/>
            </a:endParaRPr>
          </a:p>
        </p:txBody>
      </p:sp>
      <p:graphicFrame>
        <p:nvGraphicFramePr>
          <p:cNvPr id="118" name="Table 4"/>
          <p:cNvGraphicFramePr/>
          <p:nvPr/>
        </p:nvGraphicFramePr>
        <p:xfrm>
          <a:off x="333720" y="1037160"/>
          <a:ext cx="11524320" cy="6460560"/>
        </p:xfrm>
        <a:graphic>
          <a:graphicData uri="http://schemas.openxmlformats.org/drawingml/2006/table">
            <a:tbl>
              <a:tblPr/>
              <a:tblGrid>
                <a:gridCol w="1463400"/>
                <a:gridCol w="10060920"/>
              </a:tblGrid>
              <a:tr h="368640">
                <a:tc>
                  <a:txBody>
                    <a:bodyPr anchor="t">
                      <a:noAutofit/>
                    </a:bodyPr>
                    <a:p>
                      <a:pPr defTabSz="914400">
                        <a:lnSpc>
                          <a:spcPct val="100000"/>
                        </a:lnSpc>
                      </a:pPr>
                      <a:r>
                        <a:rPr b="0" lang="en-IN" sz="1800" spc="-1" strike="noStrike">
                          <a:solidFill>
                            <a:schemeClr val="lt1"/>
                          </a:solidFill>
                          <a:latin typeface="Calibri"/>
                        </a:rPr>
                        <a:t>Worm</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0" lang="en-IN"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68640">
                <a:tc>
                  <a:txBody>
                    <a:bodyPr anchor="t">
                      <a:noAutofit/>
                    </a:bodyPr>
                    <a:p>
                      <a:pPr defTabSz="914400">
                        <a:lnSpc>
                          <a:spcPct val="100000"/>
                        </a:lnSpc>
                      </a:pPr>
                      <a:r>
                        <a:rPr b="0" lang="en-IN" sz="1800" spc="-1" strike="noStrike">
                          <a:solidFill>
                            <a:schemeClr val="dk1"/>
                          </a:solidFill>
                          <a:latin typeface="Calibri"/>
                        </a:rPr>
                        <a:t>Duqu</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Detected in October of 2011, Duqu had design features similar to Stuxnet but with a different objective. Instead of causing damage to uranium refinement equipment, its goal was to steal data from users. This malware targeted government agencies in Europe and the Middle East, where the majority of infections occurred.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8640">
                <a:tc>
                  <a:txBody>
                    <a:bodyPr anchor="t">
                      <a:noAutofit/>
                    </a:bodyPr>
                    <a:p>
                      <a:pPr defTabSz="914400">
                        <a:lnSpc>
                          <a:spcPct val="100000"/>
                        </a:lnSpc>
                      </a:pPr>
                      <a:r>
                        <a:rPr b="0" lang="en-IN" sz="1800" spc="-1" strike="noStrike">
                          <a:solidFill>
                            <a:schemeClr val="dk1"/>
                          </a:solidFill>
                          <a:latin typeface="Calibri"/>
                        </a:rPr>
                        <a:t>Storm</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Detected in January 2007, this worm spread through automatically generated email messages. It is estimated that this botnet Trojan program and its variants infected millions </a:t>
                      </a:r>
                      <a:r>
                        <a:rPr b="0" lang="en-IN" sz="1800" spc="-1" strike="noStrike">
                          <a:solidFill>
                            <a:schemeClr val="dk1"/>
                          </a:solidFill>
                          <a:latin typeface="Calibri"/>
                        </a:rPr>
                        <a:t>of systems.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8640">
                <a:tc>
                  <a:txBody>
                    <a:bodyPr anchor="t">
                      <a:noAutofit/>
                    </a:bodyPr>
                    <a:p>
                      <a:pPr defTabSz="914400">
                        <a:lnSpc>
                          <a:spcPct val="100000"/>
                        </a:lnSpc>
                      </a:pPr>
                      <a:r>
                        <a:rPr b="0" lang="en-IN" sz="1800" spc="-1" strike="noStrike">
                          <a:solidFill>
                            <a:schemeClr val="dk1"/>
                          </a:solidFill>
                          <a:latin typeface="Calibri"/>
                        </a:rPr>
                        <a:t>Waledac</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This email worm harvests and forwards passwords and spreads itself in an email attachment called eCard.exe. It has many variants that can be controlled remotely. A recent variant used a geographic IP address lookup to customize the email message so that it looked like a Reuters news story about a dirty bomb that exploded in a city near the </a:t>
                      </a:r>
                      <a:r>
                        <a:rPr b="0" lang="en-IN" sz="1800" spc="-1" strike="noStrike">
                          <a:solidFill>
                            <a:schemeClr val="dk1"/>
                          </a:solidFill>
                          <a:latin typeface="Calibri"/>
                        </a:rPr>
                        <a:t>victim.</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8640">
                <a:tc>
                  <a:txBody>
                    <a:bodyPr anchor="t">
                      <a:noAutofit/>
                    </a:bodyPr>
                    <a:p>
                      <a:pPr defTabSz="914400">
                        <a:lnSpc>
                          <a:spcPct val="100000"/>
                        </a:lnSpc>
                      </a:pPr>
                      <a:r>
                        <a:rPr b="0" lang="en-IN" sz="1800" spc="-1" strike="noStrike">
                          <a:solidFill>
                            <a:schemeClr val="dk1"/>
                          </a:solidFill>
                          <a:latin typeface="Calibri"/>
                        </a:rPr>
                        <a:t>Conficker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Detected in late 2008, this botnet worm and its variants propagated through the Internet by using a Microsoft network service vulnerability. It updates itself dynamically but can be detected remotely with a standard port scanner, such as Nmap, and a special Conficker </a:t>
                      </a:r>
                      <a:r>
                        <a:rPr b="0" lang="en-IN" sz="1800" spc="-1" strike="noStrike">
                          <a:solidFill>
                            <a:schemeClr val="dk1"/>
                          </a:solidFill>
                          <a:latin typeface="Calibri"/>
                        </a:rPr>
                        <a:t>signature plug-in.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8640">
                <a:tc>
                  <a:txBody>
                    <a:bodyPr anchor="t">
                      <a:noAutofit/>
                    </a:bodyPr>
                    <a:p>
                      <a:pPr defTabSz="914400">
                        <a:lnSpc>
                          <a:spcPct val="100000"/>
                        </a:lnSpc>
                      </a:pPr>
                      <a:r>
                        <a:rPr b="0" lang="en-IN" sz="1800" spc="-1" strike="noStrike">
                          <a:solidFill>
                            <a:schemeClr val="dk1"/>
                          </a:solidFill>
                          <a:latin typeface="Calibri"/>
                        </a:rPr>
                        <a:t>Slammer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Detected in 2003, this worm was purported to have shut down more than 13,000 ATMs of one of the largest banks in America by infecting database servers located on the same </a:t>
                      </a:r>
                      <a:r>
                        <a:rPr b="0" lang="en-IN" sz="1800" spc="-1" strike="noStrike">
                          <a:solidFill>
                            <a:schemeClr val="dk1"/>
                          </a:solidFill>
                          <a:latin typeface="Calibri"/>
                        </a:rPr>
                        <a:t>network.</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Trojan Programs</a:t>
            </a:r>
            <a:endParaRPr b="0" lang="en-US" sz="3400" spc="-1" strike="noStrike">
              <a:solidFill>
                <a:schemeClr val="dk1"/>
              </a:solidFill>
              <a:latin typeface="Calibri"/>
            </a:endParaRPr>
          </a:p>
        </p:txBody>
      </p:sp>
      <p:sp>
        <p:nvSpPr>
          <p:cNvPr id="12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Responsible for the most insidious attacks against networks and computers worldwide</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Disguise themselves as useful programs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Can install </a:t>
            </a:r>
            <a:r>
              <a:rPr b="1" lang="en-US" sz="2000" spc="-1" strike="noStrike">
                <a:solidFill>
                  <a:srgbClr val="004a78"/>
                </a:solidFill>
                <a:latin typeface="Arial"/>
                <a:ea typeface="Arial"/>
              </a:rPr>
              <a:t>backdoors</a:t>
            </a:r>
            <a:r>
              <a:rPr b="0" lang="en-US" sz="2000" spc="-1" strike="noStrike">
                <a:solidFill>
                  <a:srgbClr val="004a78"/>
                </a:solidFill>
                <a:latin typeface="Arial"/>
                <a:ea typeface="Arial"/>
              </a:rPr>
              <a:t> or </a:t>
            </a:r>
            <a:r>
              <a:rPr b="1" lang="en-US" sz="2000" spc="-1" strike="noStrike">
                <a:solidFill>
                  <a:srgbClr val="004a78"/>
                </a:solidFill>
                <a:latin typeface="Arial"/>
                <a:ea typeface="Arial"/>
              </a:rPr>
              <a:t>rootkits</a:t>
            </a:r>
            <a:r>
              <a:rPr b="0" lang="en-US" sz="2000" spc="-1" strike="noStrike">
                <a:solidFill>
                  <a:srgbClr val="004a78"/>
                </a:solidFill>
                <a:latin typeface="Arial"/>
                <a:ea typeface="Arial"/>
              </a:rPr>
              <a:t> on a computer</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Backdoors or rootkits give attackers a means of regaining access to the attacked computer later</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A rootkit is created after an attack and usually hides itself in the OS tools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A good software or hardware firewall</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Identifies traffic using unfamiliar ports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Common ports used by Trojans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TCP port 80 (HTTP) or UDP port 53 (DNS)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Trojan Programs and Ports</a:t>
            </a:r>
            <a:endParaRPr b="0" lang="en-US" sz="3400" spc="-1" strike="noStrike">
              <a:solidFill>
                <a:schemeClr val="dk1"/>
              </a:solidFill>
              <a:latin typeface="Calibri"/>
            </a:endParaRPr>
          </a:p>
        </p:txBody>
      </p:sp>
      <p:graphicFrame>
        <p:nvGraphicFramePr>
          <p:cNvPr id="122" name="Table 4"/>
          <p:cNvGraphicFramePr/>
          <p:nvPr/>
        </p:nvGraphicFramePr>
        <p:xfrm>
          <a:off x="662040" y="1037160"/>
          <a:ext cx="11082960" cy="5878800"/>
        </p:xfrm>
        <a:graphic>
          <a:graphicData uri="http://schemas.openxmlformats.org/drawingml/2006/table">
            <a:tbl>
              <a:tblPr/>
              <a:tblGrid>
                <a:gridCol w="5937840"/>
                <a:gridCol w="5144760"/>
              </a:tblGrid>
              <a:tr h="496440">
                <a:tc>
                  <a:txBody>
                    <a:bodyPr anchor="t">
                      <a:noAutofit/>
                    </a:bodyPr>
                    <a:p>
                      <a:pPr defTabSz="914400">
                        <a:lnSpc>
                          <a:spcPct val="100000"/>
                        </a:lnSpc>
                      </a:pPr>
                      <a:r>
                        <a:rPr b="0" lang="en-IN" sz="1800" spc="-1" strike="noStrike">
                          <a:solidFill>
                            <a:schemeClr val="lt1"/>
                          </a:solidFill>
                          <a:latin typeface="Calibri"/>
                        </a:rPr>
                        <a:t>Trojan program</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0" lang="en-IN" sz="1800" spc="-1" strike="noStrike">
                          <a:solidFill>
                            <a:schemeClr val="lt1"/>
                          </a:solidFill>
                          <a:latin typeface="Calibri"/>
                        </a:rPr>
                        <a:t>TCP ports used</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004040">
                <a:tc>
                  <a:txBody>
                    <a:bodyPr anchor="t">
                      <a:noAutofit/>
                    </a:bodyPr>
                    <a:p>
                      <a:pPr defTabSz="914400">
                        <a:lnSpc>
                          <a:spcPct val="100000"/>
                        </a:lnSpc>
                      </a:pPr>
                      <a:r>
                        <a:rPr b="0" lang="en-IN" sz="1800" spc="-1" strike="noStrike">
                          <a:solidFill>
                            <a:schemeClr val="dk1"/>
                          </a:solidFill>
                          <a:latin typeface="Calibri"/>
                        </a:rPr>
                        <a:t>Agobot, Backdoor.Hacarmy.C, Linux.Backdoor.Kaitenh, Backdoor.Clt, Backdoor.IRC.Flood.E, Backdoor.Spigot.C, Backdoor.IrcContact, Backdoor.DarkFtp, Backdoor.Slackbot.B</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pc="-1" strike="noStrike">
                          <a:solidFill>
                            <a:schemeClr val="dk1"/>
                          </a:solidFill>
                          <a:latin typeface="Calibri"/>
                        </a:rPr>
                        <a:t>6667</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404280">
                <a:tc>
                  <a:txBody>
                    <a:bodyPr anchor="t">
                      <a:noAutofit/>
                    </a:bodyPr>
                    <a:p>
                      <a:pPr defTabSz="914400">
                        <a:lnSpc>
                          <a:spcPct val="100000"/>
                        </a:lnSpc>
                      </a:pPr>
                      <a:r>
                        <a:rPr b="0" lang="en-IN" sz="1800" spc="-1" strike="noStrike">
                          <a:solidFill>
                            <a:schemeClr val="dk1"/>
                          </a:solidFill>
                          <a:latin typeface="Calibri"/>
                        </a:rPr>
                        <a:t>Backdoor.Danton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IN" sz="1800" spc="-1" strike="noStrike">
                          <a:solidFill>
                            <a:schemeClr val="dk1"/>
                          </a:solidFill>
                          <a:latin typeface="Calibri"/>
                        </a:rPr>
                        <a:t>6969</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85920">
                <a:tc>
                  <a:txBody>
                    <a:bodyPr anchor="t">
                      <a:noAutofit/>
                    </a:bodyPr>
                    <a:p>
                      <a:pPr defTabSz="914400">
                        <a:lnSpc>
                          <a:spcPct val="100000"/>
                        </a:lnSpc>
                      </a:pPr>
                      <a:r>
                        <a:rPr b="0" lang="en-IN" sz="1800" spc="-1" strike="noStrike">
                          <a:solidFill>
                            <a:schemeClr val="dk1"/>
                          </a:solidFill>
                          <a:latin typeface="Calibri"/>
                        </a:rPr>
                        <a:t>Backdoor.Nemog.C</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4661, 4242, 8080, 4646, 6565, and 3306</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496440">
                <a:tc>
                  <a:txBody>
                    <a:bodyPr anchor="t">
                      <a:noAutofit/>
                    </a:bodyPr>
                    <a:p>
                      <a:pPr defTabSz="914400">
                        <a:lnSpc>
                          <a:spcPct val="100000"/>
                        </a:lnSpc>
                      </a:pPr>
                      <a:r>
                        <a:rPr b="0" lang="en-IN" sz="1800" spc="-1" strike="noStrike">
                          <a:solidFill>
                            <a:schemeClr val="dk1"/>
                          </a:solidFill>
                          <a:latin typeface="Calibri"/>
                        </a:rPr>
                        <a:t>Backdoor.Rtkit.B</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IN" sz="1800" spc="-1" strike="noStrike">
                          <a:solidFill>
                            <a:schemeClr val="dk1"/>
                          </a:solidFill>
                          <a:latin typeface="Calibri"/>
                        </a:rPr>
                        <a:t>445</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17600">
                <a:tc>
                  <a:txBody>
                    <a:bodyPr anchor="t">
                      <a:noAutofit/>
                    </a:bodyPr>
                    <a:p>
                      <a:pPr defTabSz="914400">
                        <a:lnSpc>
                          <a:spcPct val="100000"/>
                        </a:lnSpc>
                      </a:pPr>
                      <a:r>
                        <a:rPr b="0" lang="en-IN" sz="1800" spc="-1" strike="noStrike">
                          <a:solidFill>
                            <a:schemeClr val="dk1"/>
                          </a:solidFill>
                          <a:latin typeface="Calibri"/>
                        </a:rPr>
                        <a:t>Backdoor.Systsec, Backdoor.Zincite.A</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pc="-1" strike="noStrike">
                          <a:solidFill>
                            <a:schemeClr val="dk1"/>
                          </a:solidFill>
                          <a:latin typeface="Calibri"/>
                        </a:rPr>
                        <a:t>1034</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93840">
                <a:tc>
                  <a:txBody>
                    <a:bodyPr anchor="t">
                      <a:noAutofit/>
                    </a:bodyPr>
                    <a:p>
                      <a:pPr defTabSz="914400">
                        <a:lnSpc>
                          <a:spcPct val="100000"/>
                        </a:lnSpc>
                      </a:pPr>
                      <a:r>
                        <a:rPr b="0" lang="en-IN" sz="1800" spc="-1" strike="noStrike">
                          <a:solidFill>
                            <a:schemeClr val="dk1"/>
                          </a:solidFill>
                          <a:latin typeface="Calibri"/>
                        </a:rPr>
                        <a:t>Emotet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20, 22, 80, 443, 7080, and 50000</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93840">
                <a:tc>
                  <a:txBody>
                    <a:bodyPr anchor="t">
                      <a:noAutofit/>
                    </a:bodyPr>
                    <a:p>
                      <a:pPr defTabSz="914400">
                        <a:lnSpc>
                          <a:spcPct val="100000"/>
                        </a:lnSpc>
                      </a:pPr>
                      <a:r>
                        <a:rPr b="0" lang="en-US" sz="1800" spc="-1" strike="noStrike">
                          <a:solidFill>
                            <a:schemeClr val="dk1"/>
                          </a:solidFill>
                          <a:latin typeface="Calibri"/>
                        </a:rPr>
                        <a:t>Trickbot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pc="-1" strike="noStrike">
                          <a:solidFill>
                            <a:schemeClr val="dk1"/>
                          </a:solidFill>
                          <a:latin typeface="Calibri"/>
                        </a:rPr>
                        <a:t>447, 8082</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95640">
                <a:tc>
                  <a:txBody>
                    <a:bodyPr anchor="t">
                      <a:noAutofit/>
                    </a:bodyPr>
                    <a:p>
                      <a:pPr defTabSz="914400">
                        <a:lnSpc>
                          <a:spcPct val="100000"/>
                        </a:lnSpc>
                      </a:pPr>
                      <a:r>
                        <a:rPr b="0" lang="en-IN" sz="1800" spc="-1" strike="noStrike">
                          <a:solidFill>
                            <a:schemeClr val="dk1"/>
                          </a:solidFill>
                          <a:latin typeface="Calibri"/>
                        </a:rPr>
                        <a:t>W32.Beagle.Y@mm</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IN" sz="1800" spc="-1" strike="noStrike">
                          <a:solidFill>
                            <a:schemeClr val="dk1"/>
                          </a:solidFill>
                          <a:latin typeface="Calibri"/>
                        </a:rPr>
                        <a:t>1234</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98880">
                <a:tc>
                  <a:txBody>
                    <a:bodyPr anchor="t">
                      <a:noAutofit/>
                    </a:bodyPr>
                    <a:p>
                      <a:pPr defTabSz="914400">
                        <a:lnSpc>
                          <a:spcPct val="100000"/>
                        </a:lnSpc>
                      </a:pPr>
                      <a:r>
                        <a:rPr b="0" lang="en-IN" sz="1800" spc="-1" strike="noStrike">
                          <a:solidFill>
                            <a:schemeClr val="dk1"/>
                          </a:solidFill>
                          <a:latin typeface="Calibri"/>
                        </a:rPr>
                        <a:t>W32.Korgo.A</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pc="-1" strike="noStrike">
                          <a:solidFill>
                            <a:schemeClr val="dk1"/>
                          </a:solidFill>
                          <a:latin typeface="Calibri"/>
                        </a:rPr>
                        <a:t>13, 2041, and 3067</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32280">
                <a:tc>
                  <a:txBody>
                    <a:bodyPr anchor="t">
                      <a:noAutofit/>
                    </a:bodyPr>
                    <a:p>
                      <a:pPr defTabSz="914400">
                        <a:lnSpc>
                          <a:spcPct val="100000"/>
                        </a:lnSpc>
                      </a:pPr>
                      <a:r>
                        <a:rPr b="0" lang="en-IN" sz="1800" spc="-1" strike="noStrike">
                          <a:solidFill>
                            <a:schemeClr val="dk1"/>
                          </a:solidFill>
                          <a:latin typeface="Calibri"/>
                        </a:rPr>
                        <a:t>W32.Mytob.MX@mm</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IN" sz="1800" spc="-1" strike="noStrike">
                          <a:solidFill>
                            <a:schemeClr val="dk1"/>
                          </a:solidFill>
                          <a:latin typeface="Calibri"/>
                        </a:rPr>
                        <a:t>7000</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Spyware (1 of 2)</a:t>
            </a:r>
            <a:endParaRPr b="0" lang="en-US" sz="3400" spc="-1" strike="noStrike">
              <a:solidFill>
                <a:schemeClr val="dk1"/>
              </a:solidFill>
              <a:latin typeface="Calibri"/>
            </a:endParaRPr>
          </a:p>
        </p:txBody>
      </p:sp>
      <p:sp>
        <p:nvSpPr>
          <p:cNvPr id="12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Sends information from the infected computer to the initiator of the spyware program on your computer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Confidential financial data</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Passwords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PINs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Any other stored data</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Can register each keystroke entered</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Prevalent technology</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Records and sends everything a user enters to an unknown person located halfway around the world</a:t>
            </a:r>
            <a:endParaRPr b="0" lang="en-US" sz="2000" spc="-1" strike="noStrike">
              <a:solidFill>
                <a:srgbClr val="000000"/>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Educate users about spyware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Spyware (2 of 2)</a:t>
            </a:r>
            <a:endParaRPr b="0" lang="en-US" sz="3400" spc="-1" strike="noStrike">
              <a:solidFill>
                <a:schemeClr val="dk1"/>
              </a:solidFill>
              <a:latin typeface="Calibri"/>
            </a:endParaRPr>
          </a:p>
        </p:txBody>
      </p:sp>
      <p:pic>
        <p:nvPicPr>
          <p:cNvPr id="126" name="Picture Placeholder 6" descr="A phony Windows message box warning of spyware. It asks you to click the Yes button to scan for spyware. Clicking Yes will in fact install spyware."/>
          <p:cNvPicPr/>
          <p:nvPr/>
        </p:nvPicPr>
        <p:blipFill>
          <a:blip r:embed="rId1"/>
          <a:srcRect l="-440" t="0" r="-268" b="0"/>
          <a:stretch/>
        </p:blipFill>
        <p:spPr>
          <a:xfrm>
            <a:off x="1068840" y="1728360"/>
            <a:ext cx="6105240" cy="3400920"/>
          </a:xfrm>
          <a:prstGeom prst="rect">
            <a:avLst/>
          </a:prstGeom>
          <a:ln w="0">
            <a:noFill/>
          </a:ln>
        </p:spPr>
      </p:pic>
      <p:sp>
        <p:nvSpPr>
          <p:cNvPr id="127" name="PlaceHolder 2"/>
          <p:cNvSpPr>
            <a:spLocks noGrp="1"/>
          </p:cNvSpPr>
          <p:nvPr>
            <p:ph/>
          </p:nvPr>
        </p:nvSpPr>
        <p:spPr>
          <a:xfrm>
            <a:off x="7808760" y="4549680"/>
            <a:ext cx="3947400" cy="26388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4a78"/>
                </a:solidFill>
                <a:latin typeface="Arial"/>
                <a:ea typeface="Arial"/>
              </a:rPr>
              <a:t>Figure 3-2 </a:t>
            </a:r>
            <a:r>
              <a:rPr b="0" lang="en-US" sz="1800" spc="-1" strike="noStrike">
                <a:solidFill>
                  <a:srgbClr val="004a78"/>
                </a:solidFill>
                <a:latin typeface="Arial"/>
                <a:ea typeface="Arial"/>
              </a:rPr>
              <a:t>Spyware initiation program</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Adware</a:t>
            </a:r>
            <a:endParaRPr b="0" lang="en-US" sz="3400" spc="-1" strike="noStrike">
              <a:solidFill>
                <a:schemeClr val="dk1"/>
              </a:solidFill>
              <a:latin typeface="Calibri"/>
            </a:endParaRPr>
          </a:p>
        </p:txBody>
      </p:sp>
      <p:sp>
        <p:nvSpPr>
          <p:cNvPr id="129"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Similar to spyware</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Installed without users being aware of their presence</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Sometimes displays a banner that notifies users of its presence</a:t>
            </a:r>
            <a:endParaRPr b="0" lang="en-US" sz="2000" spc="-1" strike="noStrike">
              <a:solidFill>
                <a:srgbClr val="000000"/>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Main purpose</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Determine a user’s purchasing habits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Web browsers can then display advertisements tailored to the user</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Security and privacy violation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Gathers your purchasing habits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Information is likely being sent back to the hackers that deployed the adware</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Protecting against Malware Attacks (1 of 2)</a:t>
            </a:r>
            <a:endParaRPr b="0" lang="en-US" sz="3400" spc="-1" strike="noStrike">
              <a:solidFill>
                <a:schemeClr val="dk1"/>
              </a:solidFill>
              <a:latin typeface="Calibri"/>
            </a:endParaRPr>
          </a:p>
        </p:txBody>
      </p:sp>
      <p:sp>
        <p:nvSpPr>
          <p:cNvPr id="131"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Difficult task</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New viruses, worms, and Trojan programs appear daily</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Antivirus programs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Can detect many malware programs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Educate users about these attacks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Users who aren’t trained thoroughly can open holes into a network that no technology can protect against</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Protecting against Malware Attacks (2 of 2)</a:t>
            </a:r>
            <a:endParaRPr b="0" lang="en-US" sz="3400" spc="-1" strike="noStrike">
              <a:solidFill>
                <a:schemeClr val="dk1"/>
              </a:solidFill>
              <a:latin typeface="Calibri"/>
            </a:endParaRPr>
          </a:p>
        </p:txBody>
      </p:sp>
      <p:pic>
        <p:nvPicPr>
          <p:cNvPr id="133" name="Picture Placeholder 6" descr="A window showing that the antivirus program Malwarebytes has blocked a Potentially Unwanted Program (PUP) from being installed."/>
          <p:cNvPicPr/>
          <p:nvPr/>
        </p:nvPicPr>
        <p:blipFill>
          <a:blip r:embed="rId1"/>
          <a:stretch/>
        </p:blipFill>
        <p:spPr>
          <a:xfrm>
            <a:off x="1271160" y="1647360"/>
            <a:ext cx="6077160" cy="3996360"/>
          </a:xfrm>
          <a:prstGeom prst="rect">
            <a:avLst/>
          </a:prstGeom>
          <a:ln w="0">
            <a:noFill/>
          </a:ln>
        </p:spPr>
      </p:pic>
      <p:sp>
        <p:nvSpPr>
          <p:cNvPr id="134" name="PlaceHolder 2"/>
          <p:cNvSpPr>
            <a:spLocks noGrp="1"/>
          </p:cNvSpPr>
          <p:nvPr>
            <p:ph/>
          </p:nvPr>
        </p:nvSpPr>
        <p:spPr>
          <a:xfrm>
            <a:off x="8254080" y="5268960"/>
            <a:ext cx="2989080" cy="37476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4a78"/>
                </a:solidFill>
                <a:latin typeface="Arial"/>
                <a:ea typeface="Arial"/>
              </a:rPr>
              <a:t>Figure 3-3 </a:t>
            </a:r>
            <a:r>
              <a:rPr b="0" lang="en-US" sz="1800" spc="-1" strike="noStrike">
                <a:solidFill>
                  <a:srgbClr val="004a78"/>
                </a:solidFill>
                <a:latin typeface="Arial"/>
                <a:ea typeface="Arial"/>
              </a:rPr>
              <a:t>Detecting a virus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Educating Your Users (1 of 2) </a:t>
            </a:r>
            <a:endParaRPr b="0" lang="en-US" sz="3400" spc="-1" strike="noStrike">
              <a:solidFill>
                <a:schemeClr val="dk1"/>
              </a:solidFill>
              <a:latin typeface="Calibri"/>
            </a:endParaRPr>
          </a:p>
        </p:txBody>
      </p:sp>
      <p:sp>
        <p:nvSpPr>
          <p:cNvPr id="13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Conducting structured training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Includes all employees and management</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Email monthly security updates to all employees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Recommend virus signature database updating</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Activate automatic updates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Actively phishing employees and sending them to training content if they click a link they should not click</a:t>
            </a:r>
            <a:endParaRPr b="0" lang="en-US" sz="2000" spc="-1" strike="noStrike">
              <a:solidFill>
                <a:srgbClr val="000000"/>
              </a:solidFill>
              <a:latin typeface="Arial"/>
            </a:endParaRPr>
          </a:p>
          <a:p>
            <a:pPr marL="343080" indent="-343080" defTabSz="914400">
              <a:lnSpc>
                <a:spcPct val="90000"/>
              </a:lnSpc>
              <a:spcBef>
                <a:spcPts val="1001"/>
              </a:spcBef>
              <a:buClr>
                <a:srgbClr val="004a78"/>
              </a:buClr>
              <a:buFont typeface="Arial"/>
              <a:buChar char="•"/>
            </a:pPr>
            <a:r>
              <a:rPr b="1" lang="en-US" sz="2000" spc="-1" strike="noStrike">
                <a:solidFill>
                  <a:srgbClr val="004a78"/>
                </a:solidFill>
                <a:latin typeface="Arial"/>
                <a:ea typeface="Arial"/>
              </a:rPr>
              <a:t>White-listing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Allows only approved programs to run on computers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Another recommendation to make is to update virus signature files as soon as they are available from the vendor</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Educating Your Users (2 of 2)</a:t>
            </a:r>
            <a:endParaRPr b="0" lang="en-US" sz="3400" spc="-1" strike="noStrike">
              <a:solidFill>
                <a:schemeClr val="dk1"/>
              </a:solidFill>
              <a:latin typeface="Calibri"/>
            </a:endParaRPr>
          </a:p>
        </p:txBody>
      </p:sp>
      <p:sp>
        <p:nvSpPr>
          <p:cNvPr id="13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Two popular spyware and adware removal programs: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HitmanPro</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Malwarebytes Anti-Malware (MBAM)</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Training employees on safe email practices and how to recognize and avoid phishing messages</a:t>
            </a:r>
            <a:endParaRPr b="0" lang="en-US" sz="2000" spc="-1" strike="noStrike">
              <a:solidFill>
                <a:srgbClr val="000000"/>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Installing firewalls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Software firewalls (for home and small-business users)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For those who don’t have a hardware firewall or an intrusion detection system (IDS)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Avoiding Fear Tactics</a:t>
            </a:r>
            <a:endParaRPr b="0" lang="en-US" sz="3400" spc="-1" strike="noStrike">
              <a:solidFill>
                <a:schemeClr val="dk1"/>
              </a:solidFill>
              <a:latin typeface="Calibri"/>
            </a:endParaRPr>
          </a:p>
        </p:txBody>
      </p:sp>
      <p:sp>
        <p:nvSpPr>
          <p:cNvPr id="14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Avoid scaring users into complying with security measures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Sometimes used by unethical security testers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Against the Open Source Security Testing Methodology Manual’s (OSSTMM) Rules of Engagement</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Promote awareness rather than instill fear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Users should be aware of potential threats, not terrified by them</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Build on the users’ existing knowledge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Makes training easier</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Intruder Attacks on Networks and Computers</a:t>
            </a:r>
            <a:endParaRPr b="0" lang="en-US" sz="3400" spc="-1" strike="noStrike">
              <a:solidFill>
                <a:schemeClr val="dk1"/>
              </a:solidFill>
              <a:latin typeface="Calibri"/>
            </a:endParaRPr>
          </a:p>
        </p:txBody>
      </p:sp>
      <p:sp>
        <p:nvSpPr>
          <p:cNvPr id="14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Attack</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Any attempt by an unauthorized person to access, damage, or use network resources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Usually happens when a weakness or a </a:t>
            </a:r>
            <a:r>
              <a:rPr b="1" lang="en-US" sz="2000" spc="-1" strike="noStrike">
                <a:solidFill>
                  <a:srgbClr val="004a78"/>
                </a:solidFill>
                <a:latin typeface="Arial"/>
                <a:ea typeface="Arial"/>
              </a:rPr>
              <a:t>vulnerability</a:t>
            </a:r>
            <a:r>
              <a:rPr b="0" lang="en-US" sz="2000" spc="-1" strike="noStrike">
                <a:solidFill>
                  <a:srgbClr val="004a78"/>
                </a:solidFill>
                <a:latin typeface="Arial"/>
                <a:ea typeface="Arial"/>
              </a:rPr>
              <a:t> is exploited</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1" lang="en-US" sz="2000" spc="-1" strike="noStrike">
                <a:solidFill>
                  <a:srgbClr val="004a78"/>
                </a:solidFill>
                <a:latin typeface="Arial"/>
                <a:ea typeface="Arial"/>
              </a:rPr>
              <a:t>Exploit</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 specially crafted string of data intended to take advantage of a vulnerability</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1" lang="en-US" sz="2000" spc="-1" strike="noStrike">
                <a:solidFill>
                  <a:srgbClr val="004a78"/>
                </a:solidFill>
                <a:latin typeface="Arial"/>
                <a:ea typeface="Arial"/>
              </a:rPr>
              <a:t>Network security</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Concerned with the security of computers or devices that are part of a network infrastructure</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1" lang="en-US" sz="2000" spc="-1" strike="noStrike">
                <a:solidFill>
                  <a:srgbClr val="004a78"/>
                </a:solidFill>
                <a:latin typeface="Arial"/>
                <a:ea typeface="Arial"/>
              </a:rPr>
              <a:t>Computer security</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Concerned with the security of a stand-alone computing device that is not part of a network infrastructure</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Computer crime</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Fastest growing type of crime worldwide</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Denial-of-Service (DoS) Attack (1 of 2)</a:t>
            </a:r>
            <a:endParaRPr b="0" lang="en-US" sz="3400" spc="-1" strike="noStrike">
              <a:solidFill>
                <a:schemeClr val="dk1"/>
              </a:solidFill>
              <a:latin typeface="Calibri"/>
            </a:endParaRPr>
          </a:p>
        </p:txBody>
      </p:sp>
      <p:sp>
        <p:nvSpPr>
          <p:cNvPr id="14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Prevents legitimate users from accessing network resources</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Attackers do not attempt to access the information on a remote computer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May just want to cripple the network</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Conducting a DoS attack yourself is not wise</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Only explain how the attack could be carried out</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Denial-of-Service (DoS) Attack (2 of 2)</a:t>
            </a:r>
            <a:endParaRPr b="0" lang="en-US" sz="3400" spc="-1" strike="noStrike">
              <a:solidFill>
                <a:schemeClr val="dk1"/>
              </a:solidFill>
              <a:latin typeface="Calibri"/>
            </a:endParaRPr>
          </a:p>
        </p:txBody>
      </p:sp>
      <p:sp>
        <p:nvSpPr>
          <p:cNvPr id="14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Ping of Death attack</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Causes the victim computer to freeze and malfunction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Not as common as it was during the late 1990s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How it works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Attacker creates a large ICMP packet</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More than the allowed 65,535 bytes</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Large packet is fragmented into smaller packets</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Reassembled at its destination </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User’s system at the destination point cannot handle the reassembled oversize packet </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Causes it to crash or freeze</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Distributed Denial-of-Service Attacks</a:t>
            </a:r>
            <a:endParaRPr b="0" lang="en-US" sz="3400" spc="-1" strike="noStrike">
              <a:solidFill>
                <a:schemeClr val="dk1"/>
              </a:solidFill>
              <a:latin typeface="Calibri"/>
            </a:endParaRPr>
          </a:p>
        </p:txBody>
      </p:sp>
      <p:sp>
        <p:nvSpPr>
          <p:cNvPr id="14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Distributed denial-of-service (DDoS) attack</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Attack on the host is launched from multiple servers or workstations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Network could be flooded with billions of packets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Available network bandwidth could drop</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Legitimate users may notice a performance degradation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Often, participants are not aware their computers are part of the attack</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They, too, have been attacked</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A Dark DDoS attack</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 smoke screen to distract network defenders while another, more damaging attack is occurring</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Buffer Overflow Attacks</a:t>
            </a:r>
            <a:endParaRPr b="0" lang="en-US" sz="3400" spc="-1" strike="noStrike">
              <a:solidFill>
                <a:schemeClr val="dk1"/>
              </a:solidFill>
              <a:latin typeface="Calibri"/>
            </a:endParaRPr>
          </a:p>
        </p:txBody>
      </p:sp>
      <p:sp>
        <p:nvSpPr>
          <p:cNvPr id="15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Attacker finds a vulnerability in poorly written code that doesn’t check for a defined amount of memory space use</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Attacker writes code that overflows buffer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Fills buffer with executable program code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OS runs this code, and the attacker’s program does something harmful</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Code elevates the attacker’s permissions to an administrator’s level</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Or creates a service that allows an attacker to remotely access the target system</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Ensure programmers are aware of how their code might be vulnerable to attack</a:t>
            </a:r>
            <a:endParaRPr b="0" lang="en-US" sz="2000" spc="-1" strike="noStrike">
              <a:solidFill>
                <a:srgbClr val="000000"/>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DevSecOps </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Addresses the need for programmers to develop code with security in mind</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Buffer Overflow Vulnerabilities (1 of 2)</a:t>
            </a:r>
            <a:endParaRPr b="0" lang="en-US" sz="3400" spc="-1" strike="noStrike">
              <a:solidFill>
                <a:schemeClr val="dk1"/>
              </a:solidFill>
              <a:latin typeface="Calibri"/>
            </a:endParaRPr>
          </a:p>
        </p:txBody>
      </p:sp>
      <p:graphicFrame>
        <p:nvGraphicFramePr>
          <p:cNvPr id="152" name="Table 5"/>
          <p:cNvGraphicFramePr/>
          <p:nvPr/>
        </p:nvGraphicFramePr>
        <p:xfrm>
          <a:off x="507240" y="1037160"/>
          <a:ext cx="11177280" cy="6074280"/>
        </p:xfrm>
        <a:graphic>
          <a:graphicData uri="http://schemas.openxmlformats.org/drawingml/2006/table">
            <a:tbl>
              <a:tblPr/>
              <a:tblGrid>
                <a:gridCol w="2645640"/>
                <a:gridCol w="8531640"/>
              </a:tblGrid>
              <a:tr h="391680">
                <a:tc>
                  <a:txBody>
                    <a:bodyPr anchor="t">
                      <a:noAutofit/>
                    </a:bodyPr>
                    <a:p>
                      <a:pPr defTabSz="914400">
                        <a:lnSpc>
                          <a:spcPct val="100000"/>
                        </a:lnSpc>
                      </a:pPr>
                      <a:r>
                        <a:rPr b="1" lang="en-IN" sz="1800" spc="-1" strike="noStrike">
                          <a:solidFill>
                            <a:schemeClr val="lt1"/>
                          </a:solidFill>
                          <a:latin typeface="Calibri"/>
                        </a:rPr>
                        <a:t>Buffer overflow</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755360">
                <a:tc>
                  <a:txBody>
                    <a:bodyPr anchor="t">
                      <a:noAutofit/>
                    </a:bodyPr>
                    <a:p>
                      <a:pPr defTabSz="914400">
                        <a:lnSpc>
                          <a:spcPct val="100000"/>
                        </a:lnSpc>
                      </a:pPr>
                      <a:r>
                        <a:rPr b="0" lang="en-IN" sz="1800" spc="-1" strike="noStrike">
                          <a:solidFill>
                            <a:schemeClr val="dk1"/>
                          </a:solidFill>
                          <a:latin typeface="Calibri"/>
                        </a:rPr>
                        <a:t>Cisco ASA Internet Key</a:t>
                      </a: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Calibri"/>
                        </a:rPr>
                        <a:t>Exchange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hlinkClick r:id="rId1"/>
                        </a:rPr>
                        <a:t>Cisco Security Advisory for CVE-2016-1287 </a:t>
                      </a:r>
                      <a:r>
                        <a:rPr b="0" lang="en-US" sz="1800" spc="-1" strike="noStrike">
                          <a:solidFill>
                            <a:schemeClr val="dk1"/>
                          </a:solidFill>
                          <a:latin typeface="Calibri"/>
                        </a:rPr>
                        <a:t>discusses a serious buffer overflow vulnerability in the Cisco ASA product line. Attackers could send a specially crafted packet to the affected device, allowing them to gain full administrative privileges. This attack could be carried out from anywhere on the Internet if ASAs are used on a company’s perimeter.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91680">
                <a:tc>
                  <a:txBody>
                    <a:bodyPr anchor="t">
                      <a:noAutofit/>
                    </a:bodyPr>
                    <a:p>
                      <a:pPr defTabSz="914400">
                        <a:lnSpc>
                          <a:spcPct val="100000"/>
                        </a:lnSpc>
                      </a:pPr>
                      <a:r>
                        <a:rPr b="0" lang="en-IN" sz="1800" spc="-1" strike="noStrike">
                          <a:solidFill>
                            <a:schemeClr val="dk1"/>
                          </a:solidFill>
                          <a:latin typeface="Calibri"/>
                        </a:rPr>
                        <a:t>GHOST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This vulnerability made headlines across the globe when it was discovered by</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security researchers at </a:t>
                      </a:r>
                      <a:r>
                        <a:rPr b="0" lang="en-US" sz="1800" spc="-1" strike="noStrike">
                          <a:solidFill>
                            <a:schemeClr val="dk1"/>
                          </a:solidFill>
                          <a:latin typeface="Calibri"/>
                          <a:hlinkClick r:id="rId2"/>
                        </a:rPr>
                        <a:t>Qualys. Community</a:t>
                      </a:r>
                      <a:r>
                        <a:rPr b="0" lang="en-US" sz="1800" spc="-1" strike="noStrike">
                          <a:solidFill>
                            <a:schemeClr val="dk1"/>
                          </a:solidFill>
                          <a:latin typeface="Calibri"/>
                        </a:rPr>
                        <a:t>. Under the right conditions,</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GHOST could be exploited to gain administrative access to a remote system with no</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credentials. The vulnerability resulted from a weakness with the “glibc” library, a central component of Linux operating systems.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91680">
                <a:tc>
                  <a:txBody>
                    <a:bodyPr anchor="t">
                      <a:noAutofit/>
                    </a:bodyPr>
                    <a:p>
                      <a:pPr defTabSz="914400">
                        <a:lnSpc>
                          <a:spcPct val="100000"/>
                        </a:lnSpc>
                      </a:pPr>
                      <a:r>
                        <a:rPr b="0" lang="en-IN" sz="1800" spc="-1" strike="noStrike">
                          <a:solidFill>
                            <a:schemeClr val="dk1"/>
                          </a:solidFill>
                          <a:latin typeface="Calibri"/>
                        </a:rPr>
                        <a:t>PAN-OS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In 2020, Palo Alto Networks released a fix for a buffer overflow vulnerability in its</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PAN-OS operating system found in many of its next-generation firewalls. A remote,</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unauthenticated attacker could use this vulnerability to disrupt system processes or to </a:t>
                      </a:r>
                      <a:r>
                        <a:rPr b="0" lang="en-IN" sz="1800" spc="-1" strike="noStrike">
                          <a:solidFill>
                            <a:schemeClr val="dk1"/>
                          </a:solidFill>
                          <a:latin typeface="Calibri"/>
                        </a:rPr>
                        <a:t>execute code.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Buffer Overflow Vulnerabilities (2 of 2)</a:t>
            </a:r>
            <a:endParaRPr b="0" lang="en-US" sz="3400" spc="-1" strike="noStrike">
              <a:solidFill>
                <a:schemeClr val="dk1"/>
              </a:solidFill>
              <a:latin typeface="Calibri"/>
            </a:endParaRPr>
          </a:p>
        </p:txBody>
      </p:sp>
      <p:graphicFrame>
        <p:nvGraphicFramePr>
          <p:cNvPr id="154" name="Table 5"/>
          <p:cNvGraphicFramePr/>
          <p:nvPr/>
        </p:nvGraphicFramePr>
        <p:xfrm>
          <a:off x="507240" y="1308600"/>
          <a:ext cx="11177280" cy="5032800"/>
        </p:xfrm>
        <a:graphic>
          <a:graphicData uri="http://schemas.openxmlformats.org/drawingml/2006/table">
            <a:tbl>
              <a:tblPr/>
              <a:tblGrid>
                <a:gridCol w="2283120"/>
                <a:gridCol w="8894160"/>
              </a:tblGrid>
              <a:tr h="391680">
                <a:tc>
                  <a:txBody>
                    <a:bodyPr anchor="t">
                      <a:noAutofit/>
                    </a:bodyPr>
                    <a:p>
                      <a:pPr defTabSz="914400">
                        <a:lnSpc>
                          <a:spcPct val="100000"/>
                        </a:lnSpc>
                      </a:pPr>
                      <a:r>
                        <a:rPr b="1" lang="en-IN" sz="1800" spc="-1" strike="noStrike">
                          <a:solidFill>
                            <a:schemeClr val="lt1"/>
                          </a:solidFill>
                          <a:latin typeface="Calibri"/>
                        </a:rPr>
                        <a:t>Buffer overflow</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471680">
                <a:tc>
                  <a:txBody>
                    <a:bodyPr anchor="t">
                      <a:noAutofit/>
                    </a:bodyPr>
                    <a:p>
                      <a:pPr defTabSz="914400">
                        <a:lnSpc>
                          <a:spcPct val="100000"/>
                        </a:lnSpc>
                      </a:pPr>
                      <a:r>
                        <a:rPr b="0" lang="en-IN" sz="1800" spc="-1" strike="noStrike">
                          <a:solidFill>
                            <a:schemeClr val="dk1"/>
                          </a:solidFill>
                          <a:latin typeface="Calibri"/>
                        </a:rPr>
                        <a:t>StageFright Android</a:t>
                      </a: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Calibri"/>
                        </a:rPr>
                        <a:t>Overflow Vulnerability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Buffer overflows not only affect traditional operating systems but mobile devices as well. This vulnerability, CVE-2015-1538, was found in Android’s media playback libraries.</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Researchers found that a special MMS (Multimedia Messaging Service) message sent</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to a target Android device could cause an overflow, which allows for remote code</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execution without any user interaction.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91680">
                <a:tc>
                  <a:txBody>
                    <a:bodyPr anchor="t">
                      <a:noAutofit/>
                    </a:bodyPr>
                    <a:p>
                      <a:pPr defTabSz="914400">
                        <a:lnSpc>
                          <a:spcPct val="100000"/>
                        </a:lnSpc>
                      </a:pPr>
                      <a:r>
                        <a:rPr b="0" lang="en-IN" sz="1800" spc="-1" strike="noStrike">
                          <a:solidFill>
                            <a:schemeClr val="dk1"/>
                          </a:solidFill>
                          <a:latin typeface="Calibri"/>
                        </a:rPr>
                        <a:t>VPN Product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In 2020, the NSA alerted administrators about buffer overflow vulnerabilities in three popular VPN products, namely Pulse Secure, Palo Alto GlobalProtect, and Fortinet FortiGate. The vulnerability allowed for arbitrary file downloads and remote code execution on some of these products.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91680">
                <a:tc>
                  <a:txBody>
                    <a:bodyPr anchor="t">
                      <a:noAutofit/>
                    </a:bodyPr>
                    <a:p>
                      <a:pPr defTabSz="914400">
                        <a:lnSpc>
                          <a:spcPct val="100000"/>
                        </a:lnSpc>
                      </a:pPr>
                      <a:r>
                        <a:rPr b="0" lang="en-IN" sz="1800" spc="-1" strike="noStrike">
                          <a:solidFill>
                            <a:schemeClr val="dk1"/>
                          </a:solidFill>
                          <a:latin typeface="Calibri"/>
                        </a:rPr>
                        <a:t>Windows Server Service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Microsoft Security Bulletin MS08-067 discusses this buffer overflow vulnerability, which makes it possible for attackers to run arbitrary code placed in memory. This vulnerability allowed the infamous Conficker worm to spread.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Eavesdropping</a:t>
            </a:r>
            <a:endParaRPr b="0" lang="en-US" sz="3400" spc="-1" strike="noStrike">
              <a:solidFill>
                <a:schemeClr val="dk1"/>
              </a:solidFill>
              <a:latin typeface="Calibri"/>
            </a:endParaRPr>
          </a:p>
        </p:txBody>
      </p:sp>
      <p:sp>
        <p:nvSpPr>
          <p:cNvPr id="15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An attacker can listen to unencrypted network communications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To intercept confidential information or gather credentials that can be used to extend the attack</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Accomplished with sniffing tools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Sniffing tools are designed to capture copies of packets being sent across a network</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To defend against the threat of eavesdropping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Network equipment and applications should be forced to communicate only over encrypted protocols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Use only valid, trusted certificates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Man-in-the-Middle Attacks</a:t>
            </a:r>
            <a:endParaRPr b="0" lang="en-US" sz="3400" spc="-1" strike="noStrike">
              <a:solidFill>
                <a:schemeClr val="dk1"/>
              </a:solidFill>
              <a:latin typeface="Calibri"/>
            </a:endParaRPr>
          </a:p>
        </p:txBody>
      </p:sp>
      <p:sp>
        <p:nvSpPr>
          <p:cNvPr id="15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Attackers can inject themselves between two parties or systems communicating with one another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To manipulate messages being passed back and forth</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Network Session Hijacking</a:t>
            </a:r>
            <a:endParaRPr b="0" lang="en-US" sz="3400" spc="-1" strike="noStrike">
              <a:solidFill>
                <a:schemeClr val="dk1"/>
              </a:solidFill>
              <a:latin typeface="Calibri"/>
            </a:endParaRPr>
          </a:p>
        </p:txBody>
      </p:sp>
      <p:sp>
        <p:nvSpPr>
          <p:cNvPr id="16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Enables an attacker to join a TCP session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Attacker makes both parties think he or she is the other party</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Complex attack beyond the scope of this book</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Polling Activity 3-2</a:t>
            </a:r>
            <a:endParaRPr b="0" lang="en-US" sz="3400" spc="-1" strike="noStrike">
              <a:solidFill>
                <a:schemeClr val="dk1"/>
              </a:solidFill>
              <a:latin typeface="Calibri"/>
            </a:endParaRPr>
          </a:p>
        </p:txBody>
      </p:sp>
      <p:sp>
        <p:nvSpPr>
          <p:cNvPr id="162" name="PlaceHolder 2"/>
          <p:cNvSpPr>
            <a:spLocks noGrp="1"/>
          </p:cNvSpPr>
          <p:nvPr>
            <p:ph/>
          </p:nvPr>
        </p:nvSpPr>
        <p:spPr>
          <a:xfrm>
            <a:off x="743400" y="1289520"/>
            <a:ext cx="10711080" cy="37324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000" spc="-1" strike="noStrike">
                <a:solidFill>
                  <a:srgbClr val="000000"/>
                </a:solidFill>
                <a:latin typeface="Arial"/>
                <a:ea typeface="Arial"/>
              </a:rPr>
              <a:t>An exploit that attacks computer systems by inserting executable code in areas of memory because of poorly written code is called which of the following?</a:t>
            </a:r>
            <a:endParaRPr b="0" lang="en-US" sz="2000" spc="-1" strike="noStrike">
              <a:solidFill>
                <a:srgbClr val="000000"/>
              </a:solidFill>
              <a:latin typeface="Arial"/>
            </a:endParaRPr>
          </a:p>
          <a:p>
            <a:pPr indent="0">
              <a:lnSpc>
                <a:spcPct val="90000"/>
              </a:lnSpc>
              <a:spcBef>
                <a:spcPts val="1001"/>
              </a:spcBef>
              <a:buNone/>
              <a:tabLst>
                <a:tab algn="l" pos="0"/>
              </a:tabLst>
            </a:pPr>
            <a:endParaRPr b="0" lang="en-US" sz="2000" spc="-1" strike="noStrike">
              <a:solidFill>
                <a:srgbClr val="000000"/>
              </a:solidFill>
              <a:latin typeface="Arial"/>
            </a:endParaRPr>
          </a:p>
          <a:p>
            <a:pPr indent="0">
              <a:lnSpc>
                <a:spcPct val="90000"/>
              </a:lnSpc>
              <a:spcBef>
                <a:spcPts val="1001"/>
              </a:spcBef>
              <a:buNone/>
              <a:tabLst>
                <a:tab algn="l" pos="0"/>
              </a:tabLst>
            </a:pPr>
            <a:r>
              <a:rPr b="0" lang="en-US" sz="2000" spc="-1" strike="noStrike">
                <a:solidFill>
                  <a:srgbClr val="000000"/>
                </a:solidFill>
                <a:latin typeface="Arial"/>
                <a:ea typeface="Arial"/>
              </a:rPr>
              <a:t>a. Buffer overflow</a:t>
            </a:r>
            <a:endParaRPr b="0" lang="en-US" sz="2000" spc="-1" strike="noStrike">
              <a:solidFill>
                <a:srgbClr val="000000"/>
              </a:solidFill>
              <a:latin typeface="Arial"/>
            </a:endParaRPr>
          </a:p>
          <a:p>
            <a:pPr indent="0">
              <a:lnSpc>
                <a:spcPct val="90000"/>
              </a:lnSpc>
              <a:spcBef>
                <a:spcPts val="1001"/>
              </a:spcBef>
              <a:buNone/>
              <a:tabLst>
                <a:tab algn="l" pos="0"/>
              </a:tabLst>
            </a:pPr>
            <a:r>
              <a:rPr b="0" lang="en-US" sz="2000" spc="-1" strike="noStrike">
                <a:solidFill>
                  <a:srgbClr val="000000"/>
                </a:solidFill>
                <a:latin typeface="Arial"/>
                <a:ea typeface="Arial"/>
              </a:rPr>
              <a:t>b. Trojan program</a:t>
            </a:r>
            <a:endParaRPr b="0" lang="en-US" sz="2000" spc="-1" strike="noStrike">
              <a:solidFill>
                <a:srgbClr val="000000"/>
              </a:solidFill>
              <a:latin typeface="Arial"/>
            </a:endParaRPr>
          </a:p>
          <a:p>
            <a:pPr indent="0">
              <a:lnSpc>
                <a:spcPct val="90000"/>
              </a:lnSpc>
              <a:spcBef>
                <a:spcPts val="1001"/>
              </a:spcBef>
              <a:buNone/>
              <a:tabLst>
                <a:tab algn="l" pos="0"/>
              </a:tabLst>
            </a:pPr>
            <a:r>
              <a:rPr b="0" lang="en-US" sz="2000" spc="-1" strike="noStrike">
                <a:solidFill>
                  <a:srgbClr val="000000"/>
                </a:solidFill>
                <a:latin typeface="Arial"/>
                <a:ea typeface="Arial"/>
              </a:rPr>
              <a:t>c. Virus</a:t>
            </a:r>
            <a:endParaRPr b="0" lang="en-US" sz="2000" spc="-1" strike="noStrike">
              <a:solidFill>
                <a:srgbClr val="000000"/>
              </a:solidFill>
              <a:latin typeface="Arial"/>
            </a:endParaRPr>
          </a:p>
          <a:p>
            <a:pPr indent="0">
              <a:lnSpc>
                <a:spcPct val="90000"/>
              </a:lnSpc>
              <a:spcBef>
                <a:spcPts val="1001"/>
              </a:spcBef>
              <a:buNone/>
              <a:tabLst>
                <a:tab algn="l" pos="0"/>
              </a:tabLst>
            </a:pPr>
            <a:r>
              <a:rPr b="0" lang="en-US" sz="2000" spc="-1" strike="noStrike">
                <a:solidFill>
                  <a:srgbClr val="000000"/>
                </a:solidFill>
                <a:latin typeface="Arial"/>
                <a:ea typeface="Arial"/>
              </a:rPr>
              <a:t>d. Worm</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Polling Activity 3-2: Answer</a:t>
            </a:r>
            <a:endParaRPr b="0" lang="en-US" sz="3400" spc="-1" strike="noStrike">
              <a:solidFill>
                <a:schemeClr val="dk1"/>
              </a:solidFill>
              <a:latin typeface="Calibri"/>
            </a:endParaRPr>
          </a:p>
        </p:txBody>
      </p:sp>
      <p:sp>
        <p:nvSpPr>
          <p:cNvPr id="164" name="PlaceHolder 2"/>
          <p:cNvSpPr>
            <a:spLocks noGrp="1"/>
          </p:cNvSpPr>
          <p:nvPr>
            <p:ph/>
          </p:nvPr>
        </p:nvSpPr>
        <p:spPr>
          <a:xfrm>
            <a:off x="743400" y="1289520"/>
            <a:ext cx="10711080" cy="37324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000" spc="-1" strike="noStrike">
                <a:solidFill>
                  <a:srgbClr val="000000"/>
                </a:solidFill>
                <a:latin typeface="Arial"/>
                <a:ea typeface="Arial"/>
              </a:rPr>
              <a:t>An exploit that attacks computer systems by inserting executable code in areas of memory because of poorly written code is called which of the following?</a:t>
            </a:r>
            <a:endParaRPr b="0" lang="en-US" sz="2000" spc="-1" strike="noStrike">
              <a:solidFill>
                <a:srgbClr val="000000"/>
              </a:solidFill>
              <a:latin typeface="Arial"/>
            </a:endParaRPr>
          </a:p>
          <a:p>
            <a:pPr indent="0">
              <a:lnSpc>
                <a:spcPct val="90000"/>
              </a:lnSpc>
              <a:spcBef>
                <a:spcPts val="601"/>
              </a:spcBef>
              <a:spcAft>
                <a:spcPts val="601"/>
              </a:spcAft>
              <a:buNone/>
              <a:tabLst>
                <a:tab algn="l" pos="0"/>
              </a:tabLst>
            </a:pPr>
            <a:endParaRPr b="0" lang="en-US" sz="2000" spc="-1" strike="noStrike">
              <a:solidFill>
                <a:srgbClr val="000000"/>
              </a:solidFill>
              <a:latin typeface="Arial"/>
            </a:endParaRPr>
          </a:p>
          <a:p>
            <a:pPr indent="0">
              <a:lnSpc>
                <a:spcPct val="90000"/>
              </a:lnSpc>
              <a:spcBef>
                <a:spcPts val="601"/>
              </a:spcBef>
              <a:spcAft>
                <a:spcPts val="601"/>
              </a:spcAft>
              <a:buNone/>
              <a:tabLst>
                <a:tab algn="l" pos="0"/>
              </a:tabLst>
            </a:pPr>
            <a:r>
              <a:rPr b="1" lang="en-US" sz="2000" spc="-1" strike="noStrike">
                <a:solidFill>
                  <a:srgbClr val="000000"/>
                </a:solidFill>
                <a:latin typeface="Arial"/>
                <a:ea typeface="Arial"/>
              </a:rPr>
              <a:t>Answer: a. Buffer overflow</a:t>
            </a:r>
            <a:endParaRPr b="0" lang="en-US" sz="2000" spc="-1" strike="noStrike">
              <a:solidFill>
                <a:srgbClr val="000000"/>
              </a:solidFill>
              <a:latin typeface="Arial"/>
            </a:endParaRPr>
          </a:p>
          <a:p>
            <a:pPr indent="0">
              <a:lnSpc>
                <a:spcPct val="90000"/>
              </a:lnSpc>
              <a:spcBef>
                <a:spcPts val="601"/>
              </a:spcBef>
              <a:spcAft>
                <a:spcPts val="601"/>
              </a:spcAft>
              <a:buNone/>
              <a:tabLst>
                <a:tab algn="l" pos="0"/>
              </a:tabLst>
            </a:pPr>
            <a:r>
              <a:rPr b="1" lang="en-US" sz="2000" spc="-1" strike="noStrike">
                <a:solidFill>
                  <a:srgbClr val="000000"/>
                </a:solidFill>
                <a:latin typeface="Arial"/>
                <a:ea typeface="Arial"/>
              </a:rPr>
              <a:t>In a buffer overflow attack, an attacker finds a vulnerability in poorly written code that doesn’t check for a defined amount of memory space use.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Addressing Physical Security</a:t>
            </a:r>
            <a:endParaRPr b="0" lang="en-US" sz="3400" spc="-1" strike="noStrike">
              <a:solidFill>
                <a:schemeClr val="dk1"/>
              </a:solidFill>
              <a:latin typeface="Calibri"/>
            </a:endParaRPr>
          </a:p>
        </p:txBody>
      </p:sp>
      <p:sp>
        <p:nvSpPr>
          <p:cNvPr id="16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Protecting a network requires some basic skills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Must secure servers and computers from an attack from within the organization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Higher chance that an attacker who breaks into the network is from inside the company rather than outside</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Keyloggers (1 of 2) </a:t>
            </a:r>
            <a:endParaRPr b="0" lang="en-US" sz="3400" spc="-1" strike="noStrike">
              <a:solidFill>
                <a:schemeClr val="dk1"/>
              </a:solidFill>
              <a:latin typeface="Calibri"/>
            </a:endParaRPr>
          </a:p>
        </p:txBody>
      </p:sp>
      <p:sp>
        <p:nvSpPr>
          <p:cNvPr id="16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Hardware devices or software used to capture keystrokes on a computer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Software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Behaves like viruses or Trojans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Hardware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Small device that is easy to install</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Examples: KeyGrabber and KeyGhost</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Can be used by organizations to monitor the activity of users on their computer systems</a:t>
            </a:r>
            <a:endParaRPr b="0" lang="en-US" sz="2000" spc="-1" strike="noStrike">
              <a:solidFill>
                <a:srgbClr val="000000"/>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Available as software (spyware) loaded on a computer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Retrieved information can be emailed or transferred to a remote location</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Keyloggers (2 of 2)</a:t>
            </a:r>
            <a:endParaRPr b="0" lang="en-US" sz="3400" spc="-1" strike="noStrike">
              <a:solidFill>
                <a:schemeClr val="dk1"/>
              </a:solidFill>
              <a:latin typeface="Calibri"/>
            </a:endParaRPr>
          </a:p>
        </p:txBody>
      </p:sp>
      <p:pic>
        <p:nvPicPr>
          <p:cNvPr id="170" name="Picture Placeholder 6" descr="Images of keylogger hardware (a Wi-FI USB device and a keyboard) and the application that can read their stored keystrokes running on a smartphone."/>
          <p:cNvPicPr/>
          <p:nvPr/>
        </p:nvPicPr>
        <p:blipFill>
          <a:blip r:embed="rId1"/>
          <a:srcRect l="-876" t="0" r="-428" b="0"/>
          <a:stretch/>
        </p:blipFill>
        <p:spPr>
          <a:xfrm>
            <a:off x="725040" y="2121120"/>
            <a:ext cx="7330680" cy="3551760"/>
          </a:xfrm>
          <a:prstGeom prst="rect">
            <a:avLst/>
          </a:prstGeom>
          <a:ln w="0">
            <a:noFill/>
          </a:ln>
        </p:spPr>
      </p:pic>
      <p:sp>
        <p:nvSpPr>
          <p:cNvPr id="171" name="PlaceHolder 2"/>
          <p:cNvSpPr>
            <a:spLocks noGrp="1"/>
          </p:cNvSpPr>
          <p:nvPr>
            <p:ph/>
          </p:nvPr>
        </p:nvSpPr>
        <p:spPr>
          <a:xfrm>
            <a:off x="8466120" y="4089240"/>
            <a:ext cx="3357720" cy="105588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6298"/>
                </a:solidFill>
                <a:latin typeface="Arial"/>
                <a:ea typeface="Arial"/>
              </a:rPr>
              <a:t>Figure 3-4 </a:t>
            </a:r>
            <a:r>
              <a:rPr b="0" lang="en-US" sz="1800" spc="-1" strike="noStrike">
                <a:solidFill>
                  <a:srgbClr val="006298"/>
                </a:solidFill>
                <a:latin typeface="Arial"/>
                <a:ea typeface="Arial"/>
              </a:rPr>
              <a:t>Wi-Fi USB keylogger, keylogger keyboard, and keylogger phone app</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Behind Locked Doors</a:t>
            </a:r>
            <a:endParaRPr b="0" lang="en-US" sz="3400" spc="-1" strike="noStrike">
              <a:solidFill>
                <a:schemeClr val="dk1"/>
              </a:solidFill>
              <a:latin typeface="Calibri"/>
            </a:endParaRPr>
          </a:p>
        </p:txBody>
      </p:sp>
      <p:sp>
        <p:nvSpPr>
          <p:cNvPr id="173"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Lock up your servers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Average person </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Can pick an American home lock in less than five minutes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Those who have more time on their hands</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Can pick a deadbolt lock in under 30 seconds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Rotary locks are more difficult to crack than deadbolt locks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Require pushing in a sequence of numbered bars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Neither lock type keeps a record of who entered the locked room</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Security cards can be used for better security</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Biometric security devices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Read fingerprints or retinal scans and are used to restrict access to secure areas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Provide a second authentication factor</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Custom 30">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17161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CBD9E0DAEFC3E40A59C31973342194A" ma:contentTypeVersion="" ma:contentTypeDescription="Create a new document." ma:contentTypeScope="" ma:versionID="f864db225ba7641a71a5bcc0ce4d9915">
  <xsd:schema xmlns:xsd="http://www.w3.org/2001/XMLSchema" xmlns:xs="http://www.w3.org/2001/XMLSchema" xmlns:p="http://schemas.microsoft.com/office/2006/metadata/properties" xmlns:ns2="5b47f0fb-e24d-44b9-89a4-ff46b5ce035f" xmlns:ns3="dbac95d4-689a-4a2b-9845-ea50641fb23b" targetNamespace="http://schemas.microsoft.com/office/2006/metadata/properties" ma:root="true" ma:fieldsID="ca0abe68bfd46ce60dddf86ace54f11b" ns2:_="" ns3:_="">
    <xsd:import namespace="5b47f0fb-e24d-44b9-89a4-ff46b5ce035f"/>
    <xsd:import namespace="dbac95d4-689a-4a2b-9845-ea50641fb23b"/>
    <xsd:element name="properties">
      <xsd:complexType>
        <xsd:sequence>
          <xsd:element name="documentManagement">
            <xsd:complexType>
              <xsd:all>
                <xsd:element ref="ns2:SharedWithUsers" minOccurs="0"/>
                <xsd:element ref="ns2:SharedWithDetails" minOccurs="0"/>
                <xsd:element ref="ns3:Team_x0020_Members" minOccurs="0"/>
                <xsd:element ref="ns3:test1"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bac95d4-689a-4a2b-9845-ea50641fb23b" elementFormDefault="qualified">
    <xsd:import namespace="http://schemas.microsoft.com/office/2006/documentManagement/types"/>
    <xsd:import namespace="http://schemas.microsoft.com/office/infopath/2007/PartnerControls"/>
    <xsd:element name="Team_x0020_Members" ma:index="10" nillable="true" ma:displayName="Team Members" ma:SearchPeopleOnly="false" ma:SharePointGroup="0" ma:internalName="Team_x0020_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st1" ma:index="11" nillable="true" ma:displayName="test1" ma:internalName="test1">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5b47f0fb-e24d-44b9-89a4-ff46b5ce035f">
      <UserInfo>
        <DisplayName/>
        <AccountId xsi:nil="true"/>
        <AccountType/>
      </UserInfo>
    </SharedWithUsers>
    <test1 xmlns="dbac95d4-689a-4a2b-9845-ea50641fb23b" xsi:nil="true"/>
    <Team_x0020_Members xmlns="dbac95d4-689a-4a2b-9845-ea50641fb23b">
      <UserInfo>
        <DisplayName/>
        <AccountId xsi:nil="true"/>
        <AccountType/>
      </UserInfo>
    </Team_x0020_Memb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E3CE7F-DB89-4155-88C3-5669EA883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dbac95d4-689a-4a2b-9845-ea50641fb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schemas.microsoft.com/office/infopath/2007/PartnerControls"/>
    <ds:schemaRef ds:uri="http://purl.org/dc/elements/1.1/"/>
    <ds:schemaRef ds:uri="http://schemas.microsoft.com/office/2006/metadata/properties"/>
    <ds:schemaRef ds:uri="http://purl.org/dc/terms/"/>
    <ds:schemaRef ds:uri="0f302c04-584d-4df5-8948-8b6dd1f3c1a5"/>
    <ds:schemaRef ds:uri="http://schemas.openxmlformats.org/package/2006/metadata/core-properties"/>
    <ds:schemaRef ds:uri="http://schemas.microsoft.com/office/2006/documentManagement/types"/>
    <ds:schemaRef ds:uri="48fa25a7-52b6-4e1f-81c8-80356bf0725f"/>
    <ds:schemaRef ds:uri="http://www.w3.org/XML/1998/namespace"/>
    <ds:schemaRef ds:uri="http://purl.org/dc/dcmitype/"/>
    <ds:schemaRef ds:uri="5b47f0fb-e24d-44b9-89a4-ff46b5ce035f"/>
    <ds:schemaRef ds:uri="dbac95d4-689a-4a2b-9845-ea50641fb23b"/>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9615</TotalTime>
  <Application>LibreOffice/24.2.7.2$Linux_X86_64 LibreOffice_project/420$Build-2</Application>
  <AppVersion>15.0000</AppVersion>
  <Words>4387</Words>
  <Paragraphs>433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2020-07-27T16:46:05Z</dcterms:created>
  <dc:creator>Onderdonk, Natalie</dc:creator>
  <dc:description/>
  <dc:language>en-US</dc:language>
  <cp:lastModifiedBy/>
  <dcterms:modified xsi:type="dcterms:W3CDTF">2026-01-25T21:44:07Z</dcterms:modified>
  <cp:revision>271</cp:revision>
  <dc:subject/>
  <dc:title>Chapter 4: Constitutional Law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0x010100DCBD9E0DAEFC3E40A59C31973342194A</vt:lpwstr>
  </property>
  <property fmtid="{D5CDD505-2E9C-101B-9397-08002B2CF9AE}" pid="3" name="Notes">
    <vt:i4>19</vt:i4>
  </property>
  <property fmtid="{D5CDD505-2E9C-101B-9397-08002B2CF9AE}" pid="4" name="PresentationFormat">
    <vt:lpwstr>Widescreen</vt:lpwstr>
  </property>
  <property fmtid="{D5CDD505-2E9C-101B-9397-08002B2CF9AE}" pid="5" name="Slides">
    <vt:i4>50</vt:i4>
  </property>
</Properties>
</file>