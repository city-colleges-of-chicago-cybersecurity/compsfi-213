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5.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media/image3.wmf" ContentType="image/x-wmf"/>
  <Override PartName="/ppt/notesMasters/notesMaster1.xml" ContentType="application/vnd.openxmlformats-officedocument.presentationml.notesMaster+xml"/>
  <Override PartName="/ppt/theme/theme10.xml" ContentType="application/vnd.openxmlformats-officedocument.theme+xml"/>
  <Override PartName="/ppt/theme/theme15.xml" ContentType="application/vnd.openxmlformats-officedocument.theme+xml"/>
  <Override PartName="/ppt/theme/theme1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9.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14.xml" ContentType="application/vnd.openxmlformats-officedocument.theme+xml"/>
  <Override PartName="/ppt/theme/theme8.xml" ContentType="application/vnd.openxmlformats-officedocument.theme+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1.xml" ContentType="application/vnd.openxmlformats-officedocument.presentationml.notesSlide+xml"/>
  <Override PartName="/ppt/notesSlides/notesSlide2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notesMaster" Target="notesMasters/notes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4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4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0"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1"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2"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45830CC-CA2A-4D83-A0C9-FFF25C69D0F6}"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5680" cy="3085560"/>
          </a:xfrm>
          <a:prstGeom prst="rect">
            <a:avLst/>
          </a:prstGeom>
          <a:ln w="0">
            <a:noFill/>
          </a:ln>
        </p:spPr>
      </p:sp>
      <p:sp>
        <p:nvSpPr>
          <p:cNvPr id="12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25"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mn-lt"/>
              </a:defRPr>
            </a:lvl1pPr>
          </a:lstStyle>
          <a:p>
            <a:pPr indent="0" algn="r">
              <a:lnSpc>
                <a:spcPct val="100000"/>
              </a:lnSpc>
              <a:buNone/>
              <a:tabLst>
                <a:tab algn="l" pos="0"/>
              </a:tabLst>
            </a:pPr>
            <a:fld id="{217FA7B8-82D9-4046-8268-BBE120782500}"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685800" y="1143000"/>
            <a:ext cx="5485680" cy="3085560"/>
          </a:xfrm>
          <a:prstGeom prst="rect">
            <a:avLst/>
          </a:prstGeom>
          <a:ln w="0">
            <a:noFill/>
          </a:ln>
        </p:spPr>
      </p:sp>
      <p:sp>
        <p:nvSpPr>
          <p:cNvPr id="12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28"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lang="en-US" sz="1200" b="0" u="none" strike="noStrike">
                <a:solidFill>
                  <a:srgbClr val="000000"/>
                </a:solidFill>
                <a:effectLst/>
                <a:uFillTx/>
                <a:latin typeface="+mn-lt"/>
              </a:defRPr>
            </a:lvl1pPr>
          </a:lstStyle>
          <a:p>
            <a:pPr indent="0" algn="r">
              <a:lnSpc>
                <a:spcPct val="100000"/>
              </a:lnSpc>
              <a:buNone/>
              <a:tabLst>
                <a:tab algn="l" pos="0"/>
              </a:tabLst>
            </a:pPr>
            <a:fld id="{84FC25EB-4E37-4EEE-96AE-DD65A797A45B}" type="slidenum">
              <a:rPr lang="en-US" sz="1200" b="0" u="none" strike="noStrike">
                <a:solidFill>
                  <a:srgbClr val="000000"/>
                </a:solidFill>
                <a:effectLst/>
                <a:uFillTx/>
                <a:latin typeface="+mn-lt"/>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lleted Lis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umbered List">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ullets">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abl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hapter Slid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Unit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ections and Conten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Comparison">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Comparison">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with Caption">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nd Caption">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Picture 6"/>
          <p:cNvPicPr/>
          <p:nvPr/>
        </p:nvPicPr>
        <p:blipFill>
          <a:blip r:embed="rId2"/>
          <a:stretch/>
        </p:blipFill>
        <p:spPr>
          <a:xfrm>
            <a:off x="477000" y="6356520"/>
            <a:ext cx="1578960" cy="353160"/>
          </a:xfrm>
          <a:prstGeom prst="rect">
            <a:avLst/>
          </a:prstGeom>
          <a:noFill/>
          <a:ln w="0">
            <a:noFill/>
          </a:ln>
        </p:spPr>
      </p:pic>
      <p:pic>
        <p:nvPicPr>
          <p:cNvPr id="3" name="Picture 7"/>
          <p:cNvPicPr/>
          <p:nvPr/>
        </p:nvPicPr>
        <p:blipFill>
          <a:blip r:embed="rId3"/>
          <a:stretch/>
        </p:blipFill>
        <p:spPr>
          <a:xfrm>
            <a:off x="360" y="0"/>
            <a:ext cx="12191040" cy="6865200"/>
          </a:xfrm>
          <a:prstGeom prst="rect">
            <a:avLst/>
          </a:prstGeom>
          <a:noFill/>
          <a:ln w="0">
            <a:noFill/>
          </a:ln>
        </p:spPr>
      </p:pic>
      <p:pic>
        <p:nvPicPr>
          <p:cNvPr id="4" name="Picture 7"/>
          <p:cNvPicPr/>
          <p:nvPr/>
        </p:nvPicPr>
        <p:blipFill>
          <a:blip r:embed="rId4"/>
          <a:stretch/>
        </p:blipFill>
        <p:spPr>
          <a:xfrm>
            <a:off x="424800" y="6356520"/>
            <a:ext cx="1698840" cy="383040"/>
          </a:xfrm>
          <a:prstGeom prst="rect">
            <a:avLst/>
          </a:prstGeom>
          <a:noFill/>
          <a:ln w="0">
            <a:noFill/>
          </a:ln>
        </p:spPr>
      </p:pic>
      <p:sp>
        <p:nvSpPr>
          <p:cNvPr id="5" name="PlaceHolder 1"/>
          <p:cNvSpPr>
            <a:spLocks noGrp="1"/>
          </p:cNvSpPr>
          <p:nvPr>
            <p:ph type="ftr" idx="1"/>
          </p:nvPr>
        </p:nvSpPr>
        <p:spPr>
          <a:xfrm>
            <a:off x="2923920" y="6356520"/>
            <a:ext cx="880092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US" sz="1400" b="0" u="none" strike="noStrike">
                <a:solidFill>
                  <a:schemeClr val="lt1"/>
                </a:solidFill>
                <a:effectLst/>
                <a:uFillTx/>
                <a:latin typeface="arial"/>
              </a:defRPr>
            </a:lvl1pPr>
          </a:lstStyle>
          <a:p>
            <a:pPr indent="0">
              <a:lnSpc>
                <a:spcPct val="100000"/>
              </a:lnSpc>
              <a:buNone/>
              <a:tabLst>
                <a:tab algn="l" pos="0"/>
              </a:tabLst>
            </a:pPr>
            <a:r>
              <a:rPr lang="en-US" sz="1400" b="0" u="none" strike="noStrike">
                <a:solidFill>
                  <a:schemeClr val="lt1"/>
                </a:solidFill>
                <a:effectLst/>
                <a:uFillTx/>
                <a:latin typeface="arial"/>
              </a:rPr>
              <a:t>&lt;footer&gt;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Picture 6"/>
          <p:cNvPicPr/>
          <p:nvPr/>
        </p:nvPicPr>
        <p:blipFill>
          <a:blip r:embed="rId2"/>
          <a:stretch/>
        </p:blipFill>
        <p:spPr>
          <a:xfrm>
            <a:off x="477000" y="6356520"/>
            <a:ext cx="1578960" cy="353160"/>
          </a:xfrm>
          <a:prstGeom prst="rect">
            <a:avLst/>
          </a:prstGeom>
          <a:noFill/>
          <a:ln w="0">
            <a:noFill/>
          </a:ln>
        </p:spPr>
      </p:pic>
      <p:sp>
        <p:nvSpPr>
          <p:cNvPr id="7" name="Footer"/>
          <p:cNvSpPr/>
          <p:nvPr/>
        </p:nvSpPr>
        <p:spPr>
          <a:xfrm>
            <a:off x="2743200" y="6323040"/>
            <a:ext cx="910764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4th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 name="Picture 6"/>
          <p:cNvPicPr/>
          <p:nvPr/>
        </p:nvPicPr>
        <p:blipFill>
          <a:blip r:embed="rId2"/>
          <a:stretch/>
        </p:blipFill>
        <p:spPr>
          <a:xfrm>
            <a:off x="477000" y="6356520"/>
            <a:ext cx="1578960" cy="353160"/>
          </a:xfrm>
          <a:prstGeom prst="rect">
            <a:avLst/>
          </a:prstGeom>
          <a:noFill/>
          <a:ln w="0">
            <a:noFill/>
          </a:ln>
        </p:spPr>
      </p:pic>
      <p:sp>
        <p:nvSpPr>
          <p:cNvPr id="9" name="Footer"/>
          <p:cNvSpPr/>
          <p:nvPr/>
        </p:nvSpPr>
        <p:spPr>
          <a:xfrm>
            <a:off x="3007800" y="6328080"/>
            <a:ext cx="895536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 name="Picture 6"/>
          <p:cNvPicPr/>
          <p:nvPr/>
        </p:nvPicPr>
        <p:blipFill>
          <a:blip r:embed="rId2"/>
          <a:stretch/>
        </p:blipFill>
        <p:spPr>
          <a:xfrm>
            <a:off x="477000" y="6356520"/>
            <a:ext cx="1578960" cy="353160"/>
          </a:xfrm>
          <a:prstGeom prst="rect">
            <a:avLst/>
          </a:prstGeom>
          <a:noFill/>
          <a:ln w="0">
            <a:noFill/>
          </a:ln>
        </p:spPr>
      </p:pic>
      <p:sp>
        <p:nvSpPr>
          <p:cNvPr id="11" name="Footer"/>
          <p:cNvSpPr/>
          <p:nvPr/>
        </p:nvSpPr>
        <p:spPr>
          <a:xfrm>
            <a:off x="2743200" y="6323040"/>
            <a:ext cx="910764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Picture 6"/>
          <p:cNvPicPr/>
          <p:nvPr/>
        </p:nvPicPr>
        <p:blipFill>
          <a:blip r:embed="rId2"/>
          <a:stretch/>
        </p:blipFill>
        <p:spPr>
          <a:xfrm>
            <a:off x="477000" y="6356520"/>
            <a:ext cx="1578960" cy="353160"/>
          </a:xfrm>
          <a:prstGeom prst="rect">
            <a:avLst/>
          </a:prstGeom>
          <a:noFill/>
          <a:ln w="0">
            <a:noFill/>
          </a:ln>
        </p:spPr>
      </p:pic>
      <p:sp>
        <p:nvSpPr>
          <p:cNvPr id="15" name="Footer"/>
          <p:cNvSpPr/>
          <p:nvPr/>
        </p:nvSpPr>
        <p:spPr>
          <a:xfrm>
            <a:off x="2743200" y="6323040"/>
            <a:ext cx="910764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1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a:t>
            </a:r>
            <a:r>
              <a:rPr lang="en-US" sz="3200" b="0" u="none" strike="noStrike">
                <a:solidFill>
                  <a:srgbClr val="000000"/>
                </a:solidFill>
                <a:effectLst/>
                <a:uFillTx/>
                <a:latin typeface="Arial"/>
              </a:rPr>
              <a:t>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 name="Picture 6"/>
          <p:cNvPicPr/>
          <p:nvPr/>
        </p:nvPicPr>
        <p:blipFill>
          <a:blip r:embed="rId2"/>
          <a:stretch/>
        </p:blipFill>
        <p:spPr>
          <a:xfrm>
            <a:off x="477000" y="6356520"/>
            <a:ext cx="1578960" cy="353160"/>
          </a:xfrm>
          <a:prstGeom prst="rect">
            <a:avLst/>
          </a:prstGeom>
          <a:noFill/>
          <a:ln w="0">
            <a:noFill/>
          </a:ln>
        </p:spPr>
      </p:pic>
      <p:pic>
        <p:nvPicPr>
          <p:cNvPr id="19" name="Picture 1"/>
          <p:cNvPicPr/>
          <p:nvPr/>
        </p:nvPicPr>
        <p:blipFill>
          <a:blip r:embed="rId3"/>
          <a:stretch/>
        </p:blipFill>
        <p:spPr>
          <a:xfrm>
            <a:off x="360" y="0"/>
            <a:ext cx="12191040" cy="6865200"/>
          </a:xfrm>
          <a:prstGeom prst="rect">
            <a:avLst/>
          </a:prstGeom>
          <a:noFill/>
          <a:ln w="0">
            <a:noFill/>
          </a:ln>
        </p:spPr>
      </p:pic>
      <p:pic>
        <p:nvPicPr>
          <p:cNvPr id="20" name="Picture 7"/>
          <p:cNvPicPr/>
          <p:nvPr/>
        </p:nvPicPr>
        <p:blipFill>
          <a:blip r:embed="rId4"/>
          <a:stretch/>
        </p:blipFill>
        <p:spPr>
          <a:xfrm>
            <a:off x="424800" y="6356520"/>
            <a:ext cx="1698840" cy="383040"/>
          </a:xfrm>
          <a:prstGeom prst="rect">
            <a:avLst/>
          </a:prstGeom>
          <a:noFill/>
          <a:ln w="0">
            <a:noFill/>
          </a:ln>
        </p:spPr>
      </p:pic>
      <p:sp>
        <p:nvSpPr>
          <p:cNvPr id="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2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5"/>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3" name="Picture 6"/>
          <p:cNvPicPr/>
          <p:nvPr/>
        </p:nvPicPr>
        <p:blipFill>
          <a:blip r:embed="rId2"/>
          <a:stretch/>
        </p:blipFill>
        <p:spPr>
          <a:xfrm>
            <a:off x="477000" y="6356520"/>
            <a:ext cx="1578960" cy="353160"/>
          </a:xfrm>
          <a:prstGeom prst="rect">
            <a:avLst/>
          </a:prstGeom>
          <a:noFill/>
          <a:ln w="0">
            <a:noFill/>
          </a:ln>
        </p:spPr>
      </p:pic>
      <p:pic>
        <p:nvPicPr>
          <p:cNvPr id="24" name="Picture 9"/>
          <p:cNvPicPr/>
          <p:nvPr/>
        </p:nvPicPr>
        <p:blipFill>
          <a:blip r:embed="rId3"/>
          <a:stretch/>
        </p:blipFill>
        <p:spPr>
          <a:xfrm>
            <a:off x="360" y="0"/>
            <a:ext cx="12191040" cy="6865200"/>
          </a:xfrm>
          <a:prstGeom prst="rect">
            <a:avLst/>
          </a:prstGeom>
          <a:noFill/>
          <a:ln w="0">
            <a:noFill/>
          </a:ln>
        </p:spPr>
      </p:pic>
      <p:pic>
        <p:nvPicPr>
          <p:cNvPr id="25" name="Picture 7"/>
          <p:cNvPicPr/>
          <p:nvPr/>
        </p:nvPicPr>
        <p:blipFill>
          <a:blip r:embed="rId4"/>
          <a:stretch/>
        </p:blipFill>
        <p:spPr>
          <a:xfrm>
            <a:off x="424800" y="6356520"/>
            <a:ext cx="1698840" cy="383040"/>
          </a:xfrm>
          <a:prstGeom prst="rect">
            <a:avLst/>
          </a:prstGeom>
          <a:noFill/>
          <a:ln w="0">
            <a:noFill/>
          </a:ln>
        </p:spPr>
      </p:pic>
      <p:sp>
        <p:nvSpPr>
          <p:cNvPr id="26" name="PlaceHolder 1"/>
          <p:cNvSpPr>
            <a:spLocks noGrp="1"/>
          </p:cNvSpPr>
          <p:nvPr>
            <p:ph type="ftr" idx="2"/>
          </p:nvPr>
        </p:nvSpPr>
        <p:spPr>
          <a:xfrm>
            <a:off x="2923920" y="6356520"/>
            <a:ext cx="880092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US" sz="1400" b="0" u="none" strike="noStrike">
                <a:solidFill>
                  <a:schemeClr val="lt1"/>
                </a:solidFill>
                <a:effectLst/>
                <a:uFillTx/>
                <a:latin typeface="arial"/>
              </a:defRPr>
            </a:lvl1pPr>
          </a:lstStyle>
          <a:p>
            <a:pPr indent="0">
              <a:lnSpc>
                <a:spcPct val="100000"/>
              </a:lnSpc>
              <a:buNone/>
              <a:tabLst>
                <a:tab algn="l" pos="0"/>
              </a:tabLst>
            </a:pPr>
            <a:r>
              <a:rPr lang="en-US" sz="1400" b="0" u="none" strike="noStrike">
                <a:solidFill>
                  <a:schemeClr val="lt1"/>
                </a:solidFill>
                <a:effectLst/>
                <a:uFillTx/>
                <a:latin typeface="arial"/>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 name="Picture 6"/>
          <p:cNvPicPr/>
          <p:nvPr/>
        </p:nvPicPr>
        <p:blipFill>
          <a:blip r:embed="rId2"/>
          <a:stretch/>
        </p:blipFill>
        <p:spPr>
          <a:xfrm>
            <a:off x="477000" y="6356520"/>
            <a:ext cx="1578960" cy="353160"/>
          </a:xfrm>
          <a:prstGeom prst="rect">
            <a:avLst/>
          </a:prstGeom>
          <a:noFill/>
          <a:ln w="0">
            <a:noFill/>
          </a:ln>
        </p:spPr>
      </p:pic>
      <p:pic>
        <p:nvPicPr>
          <p:cNvPr id="28" name="Picture 1"/>
          <p:cNvPicPr/>
          <p:nvPr/>
        </p:nvPicPr>
        <p:blipFill>
          <a:blip r:embed="rId3"/>
          <a:stretch/>
        </p:blipFill>
        <p:spPr>
          <a:xfrm>
            <a:off x="360" y="0"/>
            <a:ext cx="12191040" cy="6865200"/>
          </a:xfrm>
          <a:prstGeom prst="rect">
            <a:avLst/>
          </a:prstGeom>
          <a:noFill/>
          <a:ln w="0">
            <a:noFill/>
          </a:ln>
        </p:spPr>
      </p:pic>
      <p:pic>
        <p:nvPicPr>
          <p:cNvPr id="29" name="Picture 7"/>
          <p:cNvPicPr/>
          <p:nvPr/>
        </p:nvPicPr>
        <p:blipFill>
          <a:blip r:embed="rId4"/>
          <a:stretch/>
        </p:blipFill>
        <p:spPr>
          <a:xfrm>
            <a:off x="424800" y="6356520"/>
            <a:ext cx="1698840" cy="383040"/>
          </a:xfrm>
          <a:prstGeom prst="rect">
            <a:avLst/>
          </a:prstGeom>
          <a:noFill/>
          <a:ln w="0">
            <a:noFill/>
          </a:ln>
        </p:spPr>
      </p:pic>
      <p:sp>
        <p:nvSpPr>
          <p:cNvPr id="30" name="PlaceHolder 1"/>
          <p:cNvSpPr>
            <a:spLocks noGrp="1"/>
          </p:cNvSpPr>
          <p:nvPr>
            <p:ph type="ftr" idx="3"/>
          </p:nvPr>
        </p:nvSpPr>
        <p:spPr>
          <a:xfrm>
            <a:off x="2923920" y="6356520"/>
            <a:ext cx="880092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US" sz="1400" b="0" u="none" strike="noStrike">
                <a:solidFill>
                  <a:schemeClr val="lt1"/>
                </a:solidFill>
                <a:effectLst/>
                <a:uFillTx/>
                <a:latin typeface="arial"/>
              </a:defRPr>
            </a:lvl1pPr>
          </a:lstStyle>
          <a:p>
            <a:pPr indent="0">
              <a:lnSpc>
                <a:spcPct val="100000"/>
              </a:lnSpc>
              <a:buNone/>
              <a:tabLst>
                <a:tab algn="l" pos="0"/>
              </a:tabLst>
            </a:pPr>
            <a:r>
              <a:rPr lang="en-US" sz="1400" b="0" u="none" strike="noStrike">
                <a:solidFill>
                  <a:schemeClr val="lt1"/>
                </a:solidFill>
                <a:effectLst/>
                <a:uFillTx/>
                <a:latin typeface="arial"/>
              </a:rPr>
              <a:t> </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 name="Picture 6"/>
          <p:cNvPicPr/>
          <p:nvPr/>
        </p:nvPicPr>
        <p:blipFill>
          <a:blip r:embed="rId2"/>
          <a:stretch/>
        </p:blipFill>
        <p:spPr>
          <a:xfrm>
            <a:off x="477000" y="6356520"/>
            <a:ext cx="1578960" cy="353160"/>
          </a:xfrm>
          <a:prstGeom prst="rect">
            <a:avLst/>
          </a:prstGeom>
          <a:noFill/>
          <a:ln w="0">
            <a:noFill/>
          </a:ln>
        </p:spPr>
      </p:pic>
      <p:sp>
        <p:nvSpPr>
          <p:cNvPr id="32" name="Footer"/>
          <p:cNvSpPr/>
          <p:nvPr/>
        </p:nvSpPr>
        <p:spPr>
          <a:xfrm>
            <a:off x="2743200" y="6323040"/>
            <a:ext cx="910764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
        <p:nvSpPr>
          <p:cNvPr id="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5" name="Picture 6"/>
          <p:cNvPicPr/>
          <p:nvPr/>
        </p:nvPicPr>
        <p:blipFill>
          <a:blip r:embed="rId2"/>
          <a:stretch/>
        </p:blipFill>
        <p:spPr>
          <a:xfrm>
            <a:off x="477000" y="6356520"/>
            <a:ext cx="1578960" cy="353160"/>
          </a:xfrm>
          <a:prstGeom prst="rect">
            <a:avLst/>
          </a:prstGeom>
          <a:noFill/>
          <a:ln w="0">
            <a:noFill/>
          </a:ln>
        </p:spPr>
      </p:pic>
      <p:sp>
        <p:nvSpPr>
          <p:cNvPr id="36" name="Footer"/>
          <p:cNvSpPr/>
          <p:nvPr/>
        </p:nvSpPr>
        <p:spPr>
          <a:xfrm>
            <a:off x="3007800" y="6328080"/>
            <a:ext cx="895536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7" name="Picture 6"/>
          <p:cNvPicPr/>
          <p:nvPr/>
        </p:nvPicPr>
        <p:blipFill>
          <a:blip r:embed="rId2"/>
          <a:stretch/>
        </p:blipFill>
        <p:spPr>
          <a:xfrm>
            <a:off x="477000" y="6356520"/>
            <a:ext cx="1578960" cy="353160"/>
          </a:xfrm>
          <a:prstGeom prst="rect">
            <a:avLst/>
          </a:prstGeom>
          <a:noFill/>
          <a:ln w="0">
            <a:noFill/>
          </a:ln>
        </p:spPr>
      </p:pic>
      <p:sp>
        <p:nvSpPr>
          <p:cNvPr id="38" name="Footer"/>
          <p:cNvSpPr/>
          <p:nvPr/>
        </p:nvSpPr>
        <p:spPr>
          <a:xfrm>
            <a:off x="3007800" y="6328080"/>
            <a:ext cx="895536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9" name="Picture 6"/>
          <p:cNvPicPr/>
          <p:nvPr/>
        </p:nvPicPr>
        <p:blipFill>
          <a:blip r:embed="rId2"/>
          <a:stretch/>
        </p:blipFill>
        <p:spPr>
          <a:xfrm>
            <a:off x="477000" y="6356520"/>
            <a:ext cx="1578960" cy="353160"/>
          </a:xfrm>
          <a:prstGeom prst="rect">
            <a:avLst/>
          </a:prstGeom>
          <a:noFill/>
          <a:ln w="0">
            <a:noFill/>
          </a:ln>
        </p:spPr>
      </p:pic>
      <p:sp>
        <p:nvSpPr>
          <p:cNvPr id="40" name="Footer"/>
          <p:cNvSpPr/>
          <p:nvPr/>
        </p:nvSpPr>
        <p:spPr>
          <a:xfrm>
            <a:off x="3007800" y="6328080"/>
            <a:ext cx="895536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 name="Picture 6"/>
          <p:cNvPicPr/>
          <p:nvPr/>
        </p:nvPicPr>
        <p:blipFill>
          <a:blip r:embed="rId2"/>
          <a:stretch/>
        </p:blipFill>
        <p:spPr>
          <a:xfrm>
            <a:off x="477000" y="6356520"/>
            <a:ext cx="1578960" cy="353160"/>
          </a:xfrm>
          <a:prstGeom prst="rect">
            <a:avLst/>
          </a:prstGeom>
          <a:noFill/>
          <a:ln w="0">
            <a:noFill/>
          </a:ln>
        </p:spPr>
      </p:pic>
      <p:sp>
        <p:nvSpPr>
          <p:cNvPr id="42" name="Footer"/>
          <p:cNvSpPr/>
          <p:nvPr/>
        </p:nvSpPr>
        <p:spPr>
          <a:xfrm>
            <a:off x="3007800" y="6328080"/>
            <a:ext cx="895536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[Author Name], [Book Title], [#] Edition. © [Insert Year]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3" name="Picture 6"/>
          <p:cNvPicPr/>
          <p:nvPr/>
        </p:nvPicPr>
        <p:blipFill>
          <a:blip r:embed="rId2"/>
          <a:stretch/>
        </p:blipFill>
        <p:spPr>
          <a:xfrm>
            <a:off x="477000" y="6356520"/>
            <a:ext cx="1578960" cy="353160"/>
          </a:xfrm>
          <a:prstGeom prst="rect">
            <a:avLst/>
          </a:prstGeom>
          <a:noFill/>
          <a:ln w="0">
            <a:noFill/>
          </a:ln>
        </p:spPr>
      </p:pic>
      <p:sp>
        <p:nvSpPr>
          <p:cNvPr id="44" name="Footer"/>
          <p:cNvSpPr/>
          <p:nvPr/>
        </p:nvSpPr>
        <p:spPr>
          <a:xfrm>
            <a:off x="2743200" y="6323040"/>
            <a:ext cx="910764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lang="en-US" sz="1400" b="0" u="none" strike="noStrike">
                <a:solidFill>
                  <a:srgbClr val="004a78"/>
                </a:solidFill>
                <a:effectLst/>
                <a:uFillTx/>
                <a:latin typeface="arial"/>
              </a:rPr>
              <a:t>Simpson, Antill, Wilson, Hands-On Ethical Hacking and Network Defense, 4</a:t>
            </a:r>
            <a:r>
              <a:rPr lang="en-US" sz="1400" b="0" u="none" strike="noStrike" baseline="30000">
                <a:solidFill>
                  <a:srgbClr val="004a78"/>
                </a:solidFill>
                <a:effectLst/>
                <a:uFillTx/>
                <a:latin typeface="arial"/>
              </a:rPr>
              <a:t>th</a:t>
            </a:r>
            <a:r>
              <a:rPr lang="en-US" sz="1400" b="0" u="none" strike="noStrike">
                <a:solidFill>
                  <a:srgbClr val="004a78"/>
                </a:solidFill>
                <a:effectLst/>
                <a:uFillTx/>
                <a:latin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
        <p:nvSpPr>
          <p:cNvPr id="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4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5"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hyperlink" Target="https://www.eccouncil.org/" TargetMode="External"/><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hyperlink" Target="https://www.isecom.org/" TargetMode="External"/><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hyperlink" Target="https://www.isecom.org/" TargetMode="External"/><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hyperlink" Target="https://www.sans.org/apac/" TargetMode="External"/><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3729960" y="1901880"/>
            <a:ext cx="8036280" cy="1526400"/>
          </a:xfrm>
          <a:prstGeom prst="rect">
            <a:avLst/>
          </a:prstGeom>
          <a:noFill/>
          <a:ln w="0">
            <a:noFill/>
          </a:ln>
        </p:spPr>
        <p:txBody>
          <a:bodyPr numCol="1" spcCol="0" lIns="0" rIns="0" tIns="0" bIns="0" anchor="ctr">
            <a:noAutofit/>
          </a:bodyPr>
          <a:p>
            <a:pPr indent="0" algn="ctr">
              <a:lnSpc>
                <a:spcPct val="90000"/>
              </a:lnSpc>
              <a:buNone/>
              <a:tabLst>
                <a:tab algn="l" pos="0"/>
              </a:tabLst>
            </a:pPr>
            <a:r>
              <a:rPr lang="en-US" sz="4000" b="0" u="none" strike="noStrike">
                <a:solidFill>
                  <a:schemeClr val="lt1"/>
                </a:solidFill>
                <a:effectLst/>
                <a:uFillTx/>
                <a:latin typeface="Arial"/>
                <a:ea typeface="Arial"/>
              </a:rPr>
              <a:t>Hands-On Ethical Hacking and Network Defense,</a:t>
            </a:r>
            <a:br>
              <a:rPr sz="4000"/>
            </a:br>
            <a:r>
              <a:rPr lang="en-US" sz="4000" b="0" u="none" strike="noStrike">
                <a:solidFill>
                  <a:schemeClr val="lt1"/>
                </a:solidFill>
                <a:effectLst/>
                <a:uFillTx/>
                <a:latin typeface="Arial"/>
                <a:ea typeface="Arial"/>
              </a:rPr>
              <a:t>Edition 4</a:t>
            </a:r>
            <a:endParaRPr lang="en-US" sz="4000" b="0" u="none" strike="noStrike">
              <a:solidFill>
                <a:srgbClr val="000000"/>
              </a:solidFill>
              <a:effectLst/>
              <a:uFillTx/>
              <a:latin typeface="Arial"/>
            </a:endParaRPr>
          </a:p>
        </p:txBody>
      </p:sp>
      <p:sp>
        <p:nvSpPr>
          <p:cNvPr id="54" name="PlaceHolder 2"/>
          <p:cNvSpPr>
            <a:spLocks noGrp="1"/>
          </p:cNvSpPr>
          <p:nvPr>
            <p:ph/>
          </p:nvPr>
        </p:nvSpPr>
        <p:spPr>
          <a:xfrm>
            <a:off x="4817160" y="3828600"/>
            <a:ext cx="6371640" cy="1116000"/>
          </a:xfrm>
          <a:prstGeom prst="rect">
            <a:avLst/>
          </a:prstGeom>
          <a:noFill/>
          <a:ln w="0">
            <a:noFill/>
          </a:ln>
        </p:spPr>
        <p:txBody>
          <a:bodyPr numCol="1" spcCol="0" lIns="0" rIns="0" tIns="0" bIns="0" anchor="ctr">
            <a:noAutofit/>
          </a:bodyPr>
          <a:p>
            <a:pPr indent="0" algn="ctr">
              <a:lnSpc>
                <a:spcPct val="90000"/>
              </a:lnSpc>
              <a:spcBef>
                <a:spcPts val="1001"/>
              </a:spcBef>
              <a:buNone/>
              <a:tabLst>
                <a:tab algn="l" pos="0"/>
              </a:tabLst>
            </a:pPr>
            <a:r>
              <a:rPr lang="en-US" sz="3600" b="1" u="none" strike="noStrike">
                <a:solidFill>
                  <a:schemeClr val="lt1"/>
                </a:solidFill>
                <a:effectLst/>
                <a:uFillTx/>
                <a:latin typeface="Arial"/>
                <a:ea typeface="Arial"/>
              </a:rPr>
              <a:t>Module 1: </a:t>
            </a:r>
            <a:r>
              <a:rPr lang="en-US" sz="3600" b="0" u="none" strike="noStrike">
                <a:solidFill>
                  <a:schemeClr val="lt1"/>
                </a:solidFill>
                <a:effectLst/>
                <a:uFillTx/>
                <a:latin typeface="Arial"/>
                <a:ea typeface="Arial"/>
              </a:rPr>
              <a:t>Ethical Hacking Overview </a:t>
            </a:r>
            <a:endParaRPr lang="en-US" sz="3600" b="0" u="none" strike="noStrike">
              <a:solidFill>
                <a:srgbClr val="000000"/>
              </a:solidFill>
              <a:effectLst/>
              <a:uFillTx/>
              <a:latin typeface="Arial"/>
            </a:endParaRPr>
          </a:p>
        </p:txBody>
      </p:sp>
      <p:pic>
        <p:nvPicPr>
          <p:cNvPr id="55" name="Picture Placeholder 7">
            <a:extLst>
              <a:ext uri="{C183D7F6-B498-43B3-948B-1728B52AA6E4}">
                <adec:decorative xmlns:adec="http://schemas.microsoft.com/office/drawing/2017/decorative" val="1"/>
              </a:ext>
            </a:extLst>
          </p:cNvPr>
          <p:cNvPicPr/>
          <p:nvPr/>
        </p:nvPicPr>
        <p:blipFill>
          <a:blip r:embed="rId1"/>
          <a:srcRect l="923" t="0" r="923" b="0"/>
          <a:stretch/>
        </p:blipFill>
        <p:spPr>
          <a:xfrm>
            <a:off x="246240" y="314640"/>
            <a:ext cx="3342600" cy="4317120"/>
          </a:xfrm>
          <a:prstGeom prst="rect">
            <a:avLst/>
          </a:prstGeom>
          <a:noFill/>
          <a:ln w="0">
            <a:noFill/>
          </a:ln>
        </p:spPr>
      </p:pic>
      <p:sp>
        <p:nvSpPr>
          <p:cNvPr id="56" name="PlaceHolder 3"/>
          <p:cNvSpPr>
            <a:spLocks noGrp="1"/>
          </p:cNvSpPr>
          <p:nvPr>
            <p:ph/>
          </p:nvPr>
        </p:nvSpPr>
        <p:spPr>
          <a:xfrm>
            <a:off x="2708640" y="6347160"/>
            <a:ext cx="9057600" cy="4413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lang="en-US" sz="1400" b="0" u="none" strike="noStrike">
                <a:solidFill>
                  <a:schemeClr val="lt1"/>
                </a:solidFill>
                <a:effectLst/>
                <a:uFillTx/>
                <a:latin typeface="arial"/>
              </a:rPr>
              <a:t>Simpson, Antill</a:t>
            </a:r>
            <a:r>
              <a:rPr lang="en-US" sz="1400" b="0" u="none" strike="noStrike">
                <a:solidFill>
                  <a:schemeClr val="lt1"/>
                </a:solidFill>
                <a:effectLst/>
                <a:uFillTx/>
                <a:latin typeface="arial"/>
                <a:ea typeface="Arial"/>
              </a:rPr>
              <a:t>, Wilson, Hands-On Ethical Hacking and Network Defense, 4</a:t>
            </a:r>
            <a:r>
              <a:rPr lang="en-US" sz="1400" b="0" u="none" strike="noStrike" baseline="30000">
                <a:solidFill>
                  <a:schemeClr val="lt1"/>
                </a:solidFill>
                <a:effectLst/>
                <a:uFillTx/>
                <a:latin typeface="arial"/>
                <a:ea typeface="Arial"/>
              </a:rPr>
              <a:t>th</a:t>
            </a:r>
            <a:r>
              <a:rPr lang="en-US" sz="1400" b="0" u="none" strike="noStrike">
                <a:solidFill>
                  <a:schemeClr val="lt1"/>
                </a:solidFill>
                <a:effectLst/>
                <a:uFillTx/>
                <a:latin typeface="arial"/>
                <a:ea typeface="Arial"/>
              </a:rPr>
              <a:t> Edition. © 2023 Cengage. All Rights Reserved. May not be scanned, copied or duplicated, or posted to a publicly accessible website, in whole or in part.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Introduction to Ethical Hacking</a:t>
            </a:r>
            <a:endParaRPr lang="en-US" sz="3400" b="0" u="none" strike="noStrike">
              <a:solidFill>
                <a:srgbClr val="000000"/>
              </a:solidFill>
              <a:effectLst/>
              <a:uFillTx/>
              <a:latin typeface="Arial"/>
            </a:endParaRPr>
          </a:p>
        </p:txBody>
      </p:sp>
      <p:sp>
        <p:nvSpPr>
          <p:cNvPr id="58"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Ethical hackers</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Hired by companies to perform penetration tests</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Penetration test</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Attempt to break into a company’s network to find the weak links</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Vulnerability assessment</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Tester attempts to enumerate all vulnerabilities found in an application or on a system</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Security test</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Tester analyzes a company’s security policy and procedures</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Reports any vulnerabilities to management</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200" b="1" u="none" strike="noStrike">
                <a:solidFill>
                  <a:srgbClr val="004a78"/>
                </a:solidFill>
                <a:effectLst/>
                <a:uFillTx/>
                <a:latin typeface="Arial"/>
                <a:ea typeface="Arial"/>
              </a:rPr>
              <a:t>The Role of Security and Penetration Testers (1 of 5) </a:t>
            </a:r>
            <a:endParaRPr lang="en-US" sz="3200" b="0" u="none" strike="noStrike">
              <a:solidFill>
                <a:srgbClr val="000000"/>
              </a:solidFill>
              <a:effectLst/>
              <a:uFillTx/>
              <a:latin typeface="Arial"/>
            </a:endParaRPr>
          </a:p>
        </p:txBody>
      </p:sp>
      <p:sp>
        <p:nvSpPr>
          <p:cNvPr id="60"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Hackers </a:t>
            </a:r>
            <a:r>
              <a:rPr lang="en-US" sz="2000" b="0" u="none" strike="noStrike">
                <a:solidFill>
                  <a:srgbClr val="004a78"/>
                </a:solidFill>
                <a:effectLst/>
                <a:uFillTx/>
                <a:latin typeface="Arial"/>
                <a:ea typeface="Arial"/>
              </a:rPr>
              <a:t>access computer system or network </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Without the authorization of the systems owner</a:t>
            </a:r>
            <a:endParaRPr lang="en-US" sz="2000" b="0" u="none" strike="noStrike">
              <a:solidFill>
                <a:srgbClr val="000000"/>
              </a:solidFill>
              <a:effectLst/>
              <a:uFillTx/>
              <a:latin typeface="Arial"/>
            </a:endParaRPr>
          </a:p>
          <a:p>
            <a:pPr marL="1143000" lvl="2" indent="-34308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Considered as breaking the law; can go to prison</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Crackers</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Break into systems to steal or destroy data</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U.S. Department of Justice </a:t>
            </a:r>
            <a:endParaRPr lang="en-US" sz="2000" b="0" u="none" strike="noStrike">
              <a:solidFill>
                <a:srgbClr val="000000"/>
              </a:solidFill>
              <a:effectLst/>
              <a:uFillTx/>
              <a:latin typeface="Arial"/>
            </a:endParaRPr>
          </a:p>
          <a:p>
            <a:pPr marL="1143000" lvl="2" indent="-34308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Labels all illegal access to a computer or network systems as hacking</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Ethical hacker</a:t>
            </a:r>
            <a:endParaRPr lang="en-US" sz="2000" b="0" u="none" strike="noStrike">
              <a:solidFill>
                <a:srgbClr val="000000"/>
              </a:solidFill>
              <a:effectLst/>
              <a:uFillTx/>
              <a:latin typeface="Arial"/>
            </a:endParaRPr>
          </a:p>
          <a:p>
            <a:pPr marL="685800" lvl="1" indent="-34308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Performs most of the same activities a hacker does </a:t>
            </a:r>
            <a:endParaRPr lang="en-US" sz="2000" b="0" u="none" strike="noStrike">
              <a:solidFill>
                <a:srgbClr val="000000"/>
              </a:solidFill>
              <a:effectLst/>
              <a:uFillTx/>
              <a:latin typeface="Arial"/>
            </a:endParaRPr>
          </a:p>
          <a:p>
            <a:pPr marL="1143000" lvl="2" indent="-34308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With the permission of the owner or company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200" b="1" u="none" strike="noStrike">
                <a:solidFill>
                  <a:srgbClr val="004a78"/>
                </a:solidFill>
                <a:effectLst/>
                <a:uFillTx/>
                <a:latin typeface="Arial"/>
                <a:ea typeface="Arial"/>
              </a:rPr>
              <a:t>The Role of Security and Penetration Testers (2 of 5) </a:t>
            </a:r>
            <a:endParaRPr lang="en-US" sz="3200" b="0" u="none" strike="noStrike">
              <a:solidFill>
                <a:srgbClr val="000000"/>
              </a:solidFill>
              <a:effectLst/>
              <a:uFillTx/>
              <a:latin typeface="Arial"/>
            </a:endParaRPr>
          </a:p>
        </p:txBody>
      </p:sp>
      <p:sp>
        <p:nvSpPr>
          <p:cNvPr id="62" name="PlaceHolder 2"/>
          <p:cNvSpPr>
            <a:spLocks noGrp="1"/>
          </p:cNvSpPr>
          <p:nvPr>
            <p:ph/>
          </p:nvPr>
        </p:nvSpPr>
        <p:spPr>
          <a:xfrm>
            <a:off x="743400" y="1638360"/>
            <a:ext cx="10710720" cy="439344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Script kiddies </a:t>
            </a:r>
            <a:r>
              <a:rPr lang="en-US" sz="2000" b="0" u="none" strike="noStrike">
                <a:solidFill>
                  <a:srgbClr val="004a78"/>
                </a:solidFill>
                <a:effectLst/>
                <a:uFillTx/>
                <a:latin typeface="Arial"/>
                <a:ea typeface="Arial"/>
              </a:rPr>
              <a:t>or </a:t>
            </a:r>
            <a:r>
              <a:rPr lang="en-US" sz="2000" b="1" u="none" strike="noStrike">
                <a:solidFill>
                  <a:srgbClr val="004a78"/>
                </a:solidFill>
                <a:effectLst/>
                <a:uFillTx/>
                <a:latin typeface="Arial"/>
                <a:ea typeface="Arial"/>
              </a:rPr>
              <a:t>packet monkeys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Derogatory terms to refer to younger, inexperienced people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They copy code or use tools created by knowledgeable programmers without understanding how they work</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Programs or scripts used by experienced penetration testers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To carry out attacks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Python, Ruby, Perl, or C</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Script</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A set of instructions</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Runs in sequence to perform tasks on a computer system</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200" b="1" u="none" strike="noStrike">
                <a:solidFill>
                  <a:srgbClr val="004a78"/>
                </a:solidFill>
                <a:effectLst/>
                <a:uFillTx/>
                <a:latin typeface="Arial"/>
                <a:ea typeface="Arial"/>
              </a:rPr>
              <a:t>The Role of Security and Penetration Testers (3 of 5) </a:t>
            </a:r>
            <a:endParaRPr lang="en-US" sz="3200" b="0" u="none" strike="noStrike">
              <a:solidFill>
                <a:srgbClr val="000000"/>
              </a:solidFill>
              <a:effectLst/>
              <a:uFillTx/>
              <a:latin typeface="Arial"/>
            </a:endParaRPr>
          </a:p>
        </p:txBody>
      </p:sp>
      <p:sp>
        <p:nvSpPr>
          <p:cNvPr id="64"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Hacktivist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 person who hacks computer systems for political or social reasons</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Penetration testers</a:t>
            </a:r>
            <a:r>
              <a:rPr lang="en-US" sz="2000" b="0" u="none" strike="noStrike">
                <a:solidFill>
                  <a:srgbClr val="004a78"/>
                </a:solidFill>
                <a:effectLst/>
                <a:uFillTx/>
                <a:latin typeface="Arial"/>
                <a:ea typeface="Arial"/>
              </a:rPr>
              <a:t>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Usually have a laptop computer with multiple OSs and hacking tools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200" b="1" u="none" strike="noStrike">
                <a:solidFill>
                  <a:srgbClr val="004a78"/>
                </a:solidFill>
                <a:effectLst/>
                <a:uFillTx/>
                <a:latin typeface="Arial"/>
                <a:ea typeface="Arial"/>
              </a:rPr>
              <a:t>The Role of Security and Penetration Testers (4 of 5) </a:t>
            </a:r>
            <a:endParaRPr lang="en-US" sz="3200" b="0" u="none" strike="noStrike">
              <a:solidFill>
                <a:srgbClr val="000000"/>
              </a:solidFill>
              <a:effectLst/>
              <a:uFillTx/>
              <a:latin typeface="Arial"/>
            </a:endParaRPr>
          </a:p>
        </p:txBody>
      </p:sp>
      <p:sp>
        <p:nvSpPr>
          <p:cNvPr id="66"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Job requirements for a penetration tester might include: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Perform vulnerability, attack, and penetration assessments </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In Internet, Intranet, and wireless environments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Perform discovery and scanning </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For open ports and services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Apply appropriate exploits </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To gain access and expand access as necessary</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200" b="1" u="none" strike="noStrike">
                <a:solidFill>
                  <a:srgbClr val="004a78"/>
                </a:solidFill>
                <a:effectLst/>
                <a:uFillTx/>
                <a:latin typeface="Arial"/>
                <a:ea typeface="Arial"/>
              </a:rPr>
              <a:t>The Role of Security and Penetration Testers (5 of 5) </a:t>
            </a:r>
            <a:endParaRPr lang="en-US" sz="3200" b="0" u="none" strike="noStrike">
              <a:solidFill>
                <a:srgbClr val="000000"/>
              </a:solidFill>
              <a:effectLst/>
              <a:uFillTx/>
              <a:latin typeface="Arial"/>
            </a:endParaRPr>
          </a:p>
        </p:txBody>
      </p:sp>
      <p:sp>
        <p:nvSpPr>
          <p:cNvPr id="68"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Participate in activities </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Involving application penetration testing and application source code review</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Interact with the client as required throughout the engagement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Produce reports documenting discoveries during the engagement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Debrief with the client at the conclusion of each engagement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Participate in research and provide recommendations </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For continuous improvement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Participate in knowledge sharing</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Demonstrate a good understanding of current country, state, and city cyber laws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Penetration-Testing Methodologies (1 of 3)</a:t>
            </a:r>
            <a:endParaRPr lang="en-US" sz="3400" b="0" u="none" strike="noStrike">
              <a:solidFill>
                <a:srgbClr val="000000"/>
              </a:solidFill>
              <a:effectLst/>
              <a:uFillTx/>
              <a:latin typeface="Arial"/>
            </a:endParaRPr>
          </a:p>
        </p:txBody>
      </p:sp>
      <p:sp>
        <p:nvSpPr>
          <p:cNvPr id="70"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White box model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tester is told what network topology and technology the company is using</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May be given a floor plan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Tester is permitted to interview IT personnel and company employees</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Makes the penetration tester’s job easier</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Black box model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Staff is not aware of the test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Tester is not given any diagrams or details about the technologies used</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Burden is on the tester to find details using different techniques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Tests security personnel’s ability to detect an attack</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Penetration-Testing Methodologies (2 of 3)</a:t>
            </a:r>
            <a:endParaRPr lang="en-US" sz="3400" b="0" u="none" strike="noStrike">
              <a:solidFill>
                <a:srgbClr val="000000"/>
              </a:solidFill>
              <a:effectLst/>
              <a:uFillTx/>
              <a:latin typeface="Arial"/>
            </a:endParaRPr>
          </a:p>
        </p:txBody>
      </p:sp>
      <p:sp>
        <p:nvSpPr>
          <p:cNvPr id="72"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Gray box model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Hybrid of the white and black box models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Company gives tester only partial information</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Example: OSs are used, but no network diagrams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Penetration-Testing Methodologies (3 of 3)</a:t>
            </a:r>
            <a:endParaRPr lang="en-US" sz="3400" b="0" u="none" strike="noStrike">
              <a:solidFill>
                <a:srgbClr val="000000"/>
              </a:solidFill>
              <a:effectLst/>
              <a:uFillTx/>
              <a:latin typeface="Arial"/>
            </a:endParaRPr>
          </a:p>
        </p:txBody>
      </p:sp>
      <p:pic>
        <p:nvPicPr>
          <p:cNvPr id="74" name="Picture Placeholder 7" descr="A floor plan graphic showing offices and other rooms and the computers in those rooms."/>
          <p:cNvPicPr/>
          <p:nvPr/>
        </p:nvPicPr>
        <p:blipFill>
          <a:blip r:embed="rId1"/>
          <a:srcRect l="403" t="0" r="-3" b="0"/>
          <a:stretch/>
        </p:blipFill>
        <p:spPr>
          <a:xfrm>
            <a:off x="609480" y="1179000"/>
            <a:ext cx="11164680" cy="4258440"/>
          </a:xfrm>
          <a:prstGeom prst="rect">
            <a:avLst/>
          </a:prstGeom>
          <a:noFill/>
          <a:ln w="0">
            <a:noFill/>
          </a:ln>
        </p:spPr>
      </p:pic>
      <p:sp>
        <p:nvSpPr>
          <p:cNvPr id="75" name="PlaceHolder 2"/>
          <p:cNvSpPr>
            <a:spLocks noGrp="1"/>
          </p:cNvSpPr>
          <p:nvPr>
            <p:ph/>
          </p:nvPr>
        </p:nvSpPr>
        <p:spPr>
          <a:xfrm>
            <a:off x="7250400" y="5566680"/>
            <a:ext cx="4102560" cy="439920"/>
          </a:xfrm>
          <a:prstGeom prst="rect">
            <a:avLst/>
          </a:prstGeom>
          <a:noFill/>
          <a:ln w="0">
            <a:noFill/>
          </a:ln>
        </p:spPr>
        <p:txBody>
          <a:bodyPr numCol="1" spcCol="0" lIns="0" rIns="0" tIns="0" bIns="0" anchor="t">
            <a:noAutofit/>
          </a:bodyPr>
          <a:p>
            <a:pPr indent="0" defTabSz="914400">
              <a:lnSpc>
                <a:spcPct val="100000"/>
              </a:lnSpc>
              <a:buNone/>
              <a:tabLst>
                <a:tab algn="l" pos="0"/>
              </a:tabLst>
            </a:pPr>
            <a:r>
              <a:rPr lang="en-US" sz="1800" b="1" u="none" strike="noStrike">
                <a:solidFill>
                  <a:srgbClr val="004a78"/>
                </a:solidFill>
                <a:effectLst/>
                <a:uFillTx/>
                <a:latin typeface="Arial"/>
                <a:ea typeface="Arial"/>
              </a:rPr>
              <a:t>Figure 1-1 </a:t>
            </a:r>
            <a:r>
              <a:rPr lang="en-US" sz="1800" b="0" u="none" strike="noStrike">
                <a:solidFill>
                  <a:srgbClr val="004a78"/>
                </a:solidFill>
                <a:effectLst/>
                <a:uFillTx/>
                <a:latin typeface="Arial"/>
                <a:ea typeface="Arial"/>
              </a:rPr>
              <a:t>A sample floor plan</a:t>
            </a:r>
            <a:endParaRPr lang="en-US" sz="1800" b="0" u="none" strike="noStrike">
              <a:solidFill>
                <a:srgbClr val="000000"/>
              </a:solidFill>
              <a:effectLst/>
              <a:uFillTx/>
              <a:latin typeface="Arial"/>
            </a:endParaRPr>
          </a:p>
          <a:p>
            <a:pPr indent="0" defTabSz="914400">
              <a:lnSpc>
                <a:spcPct val="100000"/>
              </a:lnSpc>
              <a:buNone/>
              <a:tabLst>
                <a:tab algn="l" pos="0"/>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200" b="1" u="none" strike="noStrike">
                <a:solidFill>
                  <a:srgbClr val="004a78"/>
                </a:solidFill>
                <a:effectLst/>
                <a:uFillTx/>
                <a:latin typeface="Arial"/>
                <a:ea typeface="Arial"/>
              </a:rPr>
              <a:t>Certification Programs for Network Security Personnel</a:t>
            </a:r>
            <a:endParaRPr lang="en-US" sz="3200" b="0" u="none" strike="noStrike">
              <a:solidFill>
                <a:srgbClr val="000000"/>
              </a:solidFill>
              <a:effectLst/>
              <a:uFillTx/>
              <a:latin typeface="Arial"/>
            </a:endParaRPr>
          </a:p>
        </p:txBody>
      </p:sp>
      <p:sp>
        <p:nvSpPr>
          <p:cNvPr id="77"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Certification programs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Available in almost every area of network security</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Minimum certification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CompTIA Security+ certification or have equivalent knowledge</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Prerequisite for Security+ certification is CompTIA Network+ level of knowledge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IN" sz="3400" b="1" u="none" strike="noStrike">
                <a:solidFill>
                  <a:srgbClr val="004a78"/>
                </a:solidFill>
                <a:effectLst/>
                <a:uFillTx/>
                <a:latin typeface="Arial"/>
                <a:ea typeface="Arial"/>
              </a:rPr>
              <a:t>CompTIA PenTest+</a:t>
            </a:r>
            <a:endParaRPr lang="en-US" sz="3400" b="0" u="none" strike="noStrike">
              <a:solidFill>
                <a:srgbClr val="000000"/>
              </a:solidFill>
              <a:effectLst/>
              <a:uFillTx/>
              <a:latin typeface="Arial"/>
            </a:endParaRPr>
          </a:p>
        </p:txBody>
      </p:sp>
      <p:sp>
        <p:nvSpPr>
          <p:cNvPr id="79"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Advanced certification that verifies successful candidates have the knowledge and skills required to:</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Plan and scope an assessment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Understand legal and compliance requirements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Perform vulnerability scanning and penetration testing</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Analyze data</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Effectively report and communicate results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Offensive Security Certified Professional (OSCP)</a:t>
            </a:r>
            <a:endParaRPr lang="en-US" sz="3400" b="0" u="none" strike="noStrike">
              <a:solidFill>
                <a:srgbClr val="000000"/>
              </a:solidFill>
              <a:effectLst/>
              <a:uFillTx/>
              <a:latin typeface="Arial"/>
            </a:endParaRPr>
          </a:p>
        </p:txBody>
      </p:sp>
      <p:sp>
        <p:nvSpPr>
          <p:cNvPr id="81"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OSCP</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An advanced certification that requires students to demonstrate hands-on abilities to earn their certificates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Covers network and application exploits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Gives students experience in: </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Developing rudimentary buffer overflows</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Writing scripts to collect and manipulate data</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Trying exploits on vulnerable systems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Certified Ethical Hacker</a:t>
            </a:r>
            <a:endParaRPr lang="en-US" sz="3400" b="0" u="none" strike="noStrike">
              <a:solidFill>
                <a:srgbClr val="000000"/>
              </a:solidFill>
              <a:effectLst/>
              <a:uFillTx/>
              <a:latin typeface="Arial"/>
            </a:endParaRPr>
          </a:p>
        </p:txBody>
      </p:sp>
      <p:sp>
        <p:nvSpPr>
          <p:cNvPr id="83"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Developed by the International Council of Electronic Commerce Consultants (EC-Council)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multiple-choice </a:t>
            </a:r>
            <a:r>
              <a:rPr lang="en-US" sz="2000" b="1" u="none" strike="noStrike">
                <a:solidFill>
                  <a:srgbClr val="004a78"/>
                </a:solidFill>
                <a:effectLst/>
                <a:uFillTx/>
                <a:latin typeface="Arial"/>
                <a:ea typeface="Arial"/>
              </a:rPr>
              <a:t>Certified Ethical Hacker</a:t>
            </a:r>
            <a:r>
              <a:rPr lang="en-US" sz="2000" b="0" u="none" strike="noStrike">
                <a:solidFill>
                  <a:srgbClr val="004a78"/>
                </a:solidFill>
                <a:effectLst/>
                <a:uFillTx/>
                <a:latin typeface="Arial"/>
                <a:ea typeface="Arial"/>
              </a:rPr>
              <a:t> (CEH) exam is based on 22 domains the tester must be familiar with</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sng" strike="noStrike">
                <a:solidFill>
                  <a:srgbClr val="00b7e6"/>
                </a:solidFill>
                <a:effectLst/>
                <a:uFillTx/>
                <a:latin typeface="Arial"/>
                <a:ea typeface="Arial"/>
                <a:hlinkClick r:id="rId1"/>
              </a:rPr>
              <a:t>EC-Council website</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Most likely to be placed on a team that conducts penetration tests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Called a </a:t>
            </a:r>
            <a:r>
              <a:rPr lang="en-US" sz="2000" b="1" u="none" strike="noStrike">
                <a:solidFill>
                  <a:srgbClr val="004a78"/>
                </a:solidFill>
                <a:effectLst/>
                <a:uFillTx/>
                <a:latin typeface="Arial"/>
                <a:ea typeface="Arial"/>
              </a:rPr>
              <a:t>Red team</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Composed of people with varied skills who perform the tests</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Unlikely that one person will perform all tests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O S S T M M Professional Security Tester (OPST)</a:t>
            </a:r>
            <a:endParaRPr lang="en-US" sz="3400" b="0" u="none" strike="noStrike">
              <a:solidFill>
                <a:srgbClr val="000000"/>
              </a:solidFill>
              <a:effectLst/>
              <a:uFillTx/>
              <a:latin typeface="Arial"/>
            </a:endParaRPr>
          </a:p>
        </p:txBody>
      </p:sp>
      <p:sp>
        <p:nvSpPr>
          <p:cNvPr id="85"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Open Source Security Testing Methodology Manual (O S S T M M) Professional Security Tester</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Designated by the </a:t>
            </a:r>
            <a:r>
              <a:rPr lang="en-US" sz="2000" b="1" u="none" strike="noStrike">
                <a:solidFill>
                  <a:srgbClr val="004a78"/>
                </a:solidFill>
                <a:effectLst/>
                <a:uFillTx/>
                <a:latin typeface="Arial"/>
                <a:ea typeface="Arial"/>
              </a:rPr>
              <a:t>Institute for Security and Open Methodologies (ISECOM)</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The OPST certification uses the </a:t>
            </a:r>
            <a:r>
              <a:rPr lang="en-US" sz="2000" b="1" u="none" strike="noStrike">
                <a:solidFill>
                  <a:srgbClr val="004a78"/>
                </a:solidFill>
                <a:effectLst/>
                <a:uFillTx/>
                <a:latin typeface="Arial"/>
                <a:ea typeface="Arial"/>
              </a:rPr>
              <a:t>O S S T M M </a:t>
            </a:r>
            <a:r>
              <a:rPr lang="en-US" sz="2000" b="0" u="none" strike="noStrike">
                <a:solidFill>
                  <a:srgbClr val="004a78"/>
                </a:solidFill>
                <a:effectLst/>
                <a:uFillTx/>
                <a:latin typeface="Arial"/>
                <a:ea typeface="Arial"/>
              </a:rPr>
              <a:t>as its standardized methodology</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Written by Peter Herzog</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Five main topics (i.e., professional, enumeration, assessments, application, and verification)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sng" strike="noStrike">
                <a:solidFill>
                  <a:srgbClr val="00b7e6"/>
                </a:solidFill>
                <a:effectLst/>
                <a:uFillTx/>
                <a:latin typeface="Arial"/>
                <a:ea typeface="Arial"/>
                <a:hlinkClick r:id="rId1"/>
              </a:rPr>
              <a:t>ISECOM website</a:t>
            </a:r>
            <a:endParaRPr lang="en-US" sz="20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200" b="1" u="none" strike="noStrike">
                <a:solidFill>
                  <a:srgbClr val="004a78"/>
                </a:solidFill>
                <a:effectLst/>
                <a:uFillTx/>
                <a:latin typeface="Arial"/>
                <a:ea typeface="Arial"/>
              </a:rPr>
              <a:t>Certified Information Systems Security Professional (C I S S P)</a:t>
            </a:r>
            <a:endParaRPr lang="en-US" sz="3200" b="0" u="none" strike="noStrike">
              <a:solidFill>
                <a:srgbClr val="000000"/>
              </a:solidFill>
              <a:effectLst/>
              <a:uFillTx/>
              <a:latin typeface="Arial"/>
            </a:endParaRPr>
          </a:p>
        </p:txBody>
      </p:sp>
      <p:sp>
        <p:nvSpPr>
          <p:cNvPr id="87"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C I S S P</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Issued by the International Information Systems Security Certification Consortium (ISC</a:t>
            </a:r>
            <a:r>
              <a:rPr lang="en-US" sz="2000" b="0" u="none" strike="noStrike" baseline="30000">
                <a:solidFill>
                  <a:srgbClr val="004a78"/>
                </a:solidFill>
                <a:effectLst/>
                <a:uFillTx/>
                <a:latin typeface="Arial"/>
                <a:ea typeface="Arial"/>
              </a:rPr>
              <a:t>2</a:t>
            </a:r>
            <a:r>
              <a:rPr lang="en-US" sz="2000" b="0" u="none" strike="noStrike">
                <a:solidFill>
                  <a:srgbClr val="004a78"/>
                </a:solidFill>
                <a:effectLst/>
                <a:uFillTx/>
                <a:latin typeface="Arial"/>
                <a:ea typeface="Arial"/>
              </a:rPr>
              <a: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Not geared toward technical IT professionals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Tests security-related managerial skills</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Usually more concerned with policies and procedures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Consists of questions from ten domains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sng" strike="noStrike">
                <a:solidFill>
                  <a:srgbClr val="00b7e6"/>
                </a:solidFill>
                <a:effectLst/>
                <a:uFillTx/>
                <a:latin typeface="Arial"/>
                <a:ea typeface="Arial"/>
                <a:hlinkClick r:id="rId1"/>
              </a:rPr>
              <a:t>ISECOM website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SANS Institute</a:t>
            </a:r>
            <a:endParaRPr lang="en-US" sz="3400" b="0" u="none" strike="noStrike">
              <a:solidFill>
                <a:srgbClr val="000000"/>
              </a:solidFill>
              <a:effectLst/>
              <a:uFillTx/>
              <a:latin typeface="Arial"/>
            </a:endParaRPr>
          </a:p>
        </p:txBody>
      </p:sp>
      <p:sp>
        <p:nvSpPr>
          <p:cNvPr id="89"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1" u="none" strike="noStrike">
                <a:solidFill>
                  <a:srgbClr val="004a78"/>
                </a:solidFill>
                <a:effectLst/>
                <a:uFillTx/>
                <a:latin typeface="Arial"/>
                <a:ea typeface="Arial"/>
              </a:rPr>
              <a:t>SysAdmin, Audit, Network, Security (SANS) Institute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Offers training and IT security certifications through </a:t>
            </a:r>
            <a:r>
              <a:rPr lang="en-US" sz="2000" b="1" u="none" strike="noStrike">
                <a:solidFill>
                  <a:srgbClr val="004a78"/>
                </a:solidFill>
                <a:effectLst/>
                <a:uFillTx/>
                <a:latin typeface="Arial"/>
                <a:ea typeface="Arial"/>
              </a:rPr>
              <a:t>Global Information Assurance Certification (GIAC)</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Top 25 Software Errors list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One of the most popular SANS Institute documents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Details most common network exploits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Suggests ways of correcting vulnerabilities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sng" strike="noStrike">
                <a:solidFill>
                  <a:srgbClr val="00b7e6"/>
                </a:solidFill>
                <a:effectLst/>
                <a:uFillTx/>
                <a:latin typeface="Arial"/>
                <a:ea typeface="Arial"/>
                <a:hlinkClick r:id="rId1"/>
              </a:rPr>
              <a:t>SANS website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Which Certification Is Best?</a:t>
            </a:r>
            <a:endParaRPr lang="en-US" sz="3400" b="0" u="none" strike="noStrike">
              <a:solidFill>
                <a:srgbClr val="000000"/>
              </a:solidFill>
              <a:effectLst/>
              <a:uFillTx/>
              <a:latin typeface="Arial"/>
            </a:endParaRPr>
          </a:p>
        </p:txBody>
      </p:sp>
      <p:sp>
        <p:nvSpPr>
          <p:cNvPr id="91"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Penetration testers and security testers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Need technical skills to perform duties effectively</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Must also have:</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A good understanding of networks and the role of management in an organization</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Skills in writing and verbal communication</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Desire to continue learning</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Danger of certification exams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Some participants simply memorize terminology</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Don’t have a good grasp of subject matter or complex concepts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What You Can Do Legally</a:t>
            </a:r>
            <a:endParaRPr lang="en-US" sz="3400" b="0" u="none" strike="noStrike">
              <a:solidFill>
                <a:srgbClr val="000000"/>
              </a:solidFill>
              <a:effectLst/>
              <a:uFillTx/>
              <a:latin typeface="Arial"/>
            </a:endParaRPr>
          </a:p>
        </p:txBody>
      </p:sp>
      <p:sp>
        <p:nvSpPr>
          <p:cNvPr id="93"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Laws involving technology change as rapidly as technology itself: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As a security tester, you should:</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Keep abreast of what’s happening in your area</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SzPct val="50000"/>
              <a:buFont typeface="Courier New"/>
              <a:buChar char="o"/>
            </a:pPr>
            <a:r>
              <a:rPr lang="en-US" sz="2000" b="0" u="none" strike="noStrike">
                <a:solidFill>
                  <a:srgbClr val="004a78"/>
                </a:solidFill>
                <a:effectLst/>
                <a:uFillTx/>
                <a:latin typeface="Arial"/>
                <a:ea typeface="Arial"/>
              </a:rPr>
              <a:t>Find out what is legal for you locally</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Be aware of what is allowed and what you should not or cannot do</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SzPct val="50000"/>
              <a:buFont typeface="Courier New"/>
              <a:buChar char="o"/>
            </a:pPr>
            <a:r>
              <a:rPr lang="en-US" sz="2000" b="0" u="none" strike="noStrike">
                <a:solidFill>
                  <a:srgbClr val="004a78"/>
                </a:solidFill>
                <a:effectLst/>
                <a:uFillTx/>
                <a:latin typeface="Arial"/>
                <a:ea typeface="Arial"/>
              </a:rPr>
              <a:t>Laws vary from state to state and country to country</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Example: In some states, the possession of lockpicking tools constitutes a crime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Laws of the Land</a:t>
            </a:r>
            <a:endParaRPr lang="en-US" sz="3400" b="0" u="none" strike="noStrike">
              <a:solidFill>
                <a:srgbClr val="000000"/>
              </a:solidFill>
              <a:effectLst/>
              <a:uFillTx/>
              <a:latin typeface="Arial"/>
            </a:endParaRPr>
          </a:p>
        </p:txBody>
      </p:sp>
      <p:sp>
        <p:nvSpPr>
          <p:cNvPr id="95"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Having hacking tools on your computer might be illegal </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Contact local law enforcement agencies before installing hacking tools</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Laws are written to protect society</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Written words are open to interpretation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Example: In Hawaii, the state must prove that the person charged with committing a crime on a computer had the “intent to commit a crime”</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Make sure you’re aware of the dangers of being a security tester</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Overview of Recent Hacking Cases (1 of 3)</a:t>
            </a:r>
            <a:endParaRPr lang="en-US" sz="3400" b="0" u="none" strike="noStrike">
              <a:solidFill>
                <a:srgbClr val="000000"/>
              </a:solidFill>
              <a:effectLst/>
              <a:uFillTx/>
              <a:latin typeface="Arial"/>
            </a:endParaRPr>
          </a:p>
        </p:txBody>
      </p:sp>
      <p:graphicFrame>
        <p:nvGraphicFramePr>
          <p:cNvPr id="97" name="Table 2"/>
          <p:cNvGraphicFramePr/>
          <p:nvPr/>
        </p:nvGraphicFramePr>
        <p:xfrm>
          <a:off x="545760" y="1037160"/>
          <a:ext cx="11210040" cy="4966560"/>
        </p:xfrm>
        <a:graphic>
          <a:graphicData uri="http://schemas.openxmlformats.org/drawingml/2006/table">
            <a:tbl>
              <a:tblPr/>
              <a:tblGrid>
                <a:gridCol w="2670480"/>
                <a:gridCol w="8539920"/>
              </a:tblGrid>
              <a:tr h="314640">
                <a:tc>
                  <a:txBody>
                    <a:bodyPr anchor="t">
                      <a:noAutofit/>
                    </a:bodyPr>
                    <a:p>
                      <a:pPr defTabSz="914400">
                        <a:lnSpc>
                          <a:spcPct val="100000"/>
                        </a:lnSpc>
                      </a:pPr>
                      <a:r>
                        <a:rPr lang="en-IN" sz="1800" b="1" u="none" strike="noStrike">
                          <a:solidFill>
                            <a:schemeClr val="lt1"/>
                          </a:solidFill>
                          <a:effectLst/>
                          <a:uFillTx/>
                          <a:latin typeface="Calibri"/>
                        </a:rPr>
                        <a:t>State and Year</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2588400">
                <a:tc>
                  <a:txBody>
                    <a:bodyPr anchor="t">
                      <a:noAutofit/>
                    </a:bodyPr>
                    <a:p>
                      <a:pPr defTabSz="914400">
                        <a:lnSpc>
                          <a:spcPct val="100000"/>
                        </a:lnSpc>
                      </a:pPr>
                      <a:r>
                        <a:rPr lang="en-IN" sz="1800" b="0" u="none" strike="noStrike">
                          <a:solidFill>
                            <a:schemeClr val="dk1"/>
                          </a:solidFill>
                          <a:effectLst/>
                          <a:uFillTx/>
                          <a:latin typeface="Calibri"/>
                        </a:rPr>
                        <a:t>Kansas, 2021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A resident of Ellsworth County, Kansas, was charged with one count of tampering with a</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public water system and one count of reckless damage to a protected computer during</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unauthorized access. The indictment alleged that a former employee knowingly accessed the Ellsworth County Rural Water District’s protected computer system without authorization. During this unauthorized access, the accused allegedly performed activities that shut down the processes at the facility, which affected cleaning and disinfecting procedures, with the intention of harming the public drinking water system. If found guilty, the accused faces up to 25 years in prison and a fine of up to $500,000 for illegally accessing the protected computer and tampering with the water system.</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4640">
                <a:tc>
                  <a:txBody>
                    <a:bodyPr anchor="t">
                      <a:noAutofit/>
                    </a:bodyPr>
                    <a:p>
                      <a:pPr defTabSz="914400">
                        <a:lnSpc>
                          <a:spcPct val="100000"/>
                        </a:lnSpc>
                      </a:pPr>
                      <a:r>
                        <a:rPr lang="en-IN" sz="1800" b="0" u="none" strike="noStrike">
                          <a:solidFill>
                            <a:schemeClr val="dk1"/>
                          </a:solidFill>
                          <a:effectLst/>
                          <a:uFillTx/>
                          <a:latin typeface="Calibri"/>
                        </a:rPr>
                        <a:t>California, 2021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A former employee of an IT consulting firm accessed the server of a company in Carlsbad,</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California, and deleted more than 1,200 of the company’s 1,500 Microsoft user accounts. The employee was apparently retaliating for being fired. The attack affected most of the Carlsbad company’s employees so that they could not access email or other network services, effectively shutting down the company for days and causing continuous IT problems for three months. The former contractor was sentenced in federal court to two years in prison and ordered to pay the company more than $560,000.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Overview of Recent Hacking Cases (2 of 3)</a:t>
            </a:r>
            <a:endParaRPr lang="en-US" sz="3400" b="0" u="none" strike="noStrike">
              <a:solidFill>
                <a:srgbClr val="000000"/>
              </a:solidFill>
              <a:effectLst/>
              <a:uFillTx/>
              <a:latin typeface="Arial"/>
            </a:endParaRPr>
          </a:p>
        </p:txBody>
      </p:sp>
      <p:graphicFrame>
        <p:nvGraphicFramePr>
          <p:cNvPr id="99" name="Table 2"/>
          <p:cNvGraphicFramePr/>
          <p:nvPr/>
        </p:nvGraphicFramePr>
        <p:xfrm>
          <a:off x="490680" y="1207440"/>
          <a:ext cx="11210040" cy="4443840"/>
        </p:xfrm>
        <a:graphic>
          <a:graphicData uri="http://schemas.openxmlformats.org/drawingml/2006/table">
            <a:tbl>
              <a:tblPr/>
              <a:tblGrid>
                <a:gridCol w="2670480"/>
                <a:gridCol w="8539920"/>
              </a:tblGrid>
              <a:tr h="314640">
                <a:tc>
                  <a:txBody>
                    <a:bodyPr anchor="t">
                      <a:noAutofit/>
                    </a:bodyPr>
                    <a:p>
                      <a:pPr defTabSz="914400">
                        <a:lnSpc>
                          <a:spcPct val="100000"/>
                        </a:lnSpc>
                      </a:pPr>
                      <a:r>
                        <a:rPr lang="en-IN" sz="1800" b="1" u="none" strike="noStrike">
                          <a:solidFill>
                            <a:schemeClr val="lt1"/>
                          </a:solidFill>
                          <a:effectLst/>
                          <a:uFillTx/>
                          <a:latin typeface="Calibri"/>
                        </a:rPr>
                        <a:t>State and Year</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2065680">
                <a:tc>
                  <a:txBody>
                    <a:bodyPr anchor="t">
                      <a:noAutofit/>
                    </a:bodyPr>
                    <a:p>
                      <a:pPr defTabSz="914400">
                        <a:lnSpc>
                          <a:spcPct val="100000"/>
                        </a:lnSpc>
                      </a:pPr>
                      <a:r>
                        <a:rPr lang="en-IN" sz="1800" b="0" u="none" strike="noStrike">
                          <a:solidFill>
                            <a:schemeClr val="dk1"/>
                          </a:solidFill>
                          <a:effectLst/>
                          <a:uFillTx/>
                          <a:latin typeface="Calibri"/>
                        </a:rPr>
                        <a:t>Nevada, 2021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A Russian national offered $1 million to an employee of Tesla’s electric battery plant in Nevada in a scheme to have the insider introduce malicious software into the company’s computer network. The malware attack was designed to extract data from the company’s network and then demand a ransom for its return. The ransomware case is considered unusual because it involves face-to-face bribery rather than anonymous hacking via the Internet. Such an attack typically carries a penalty of up to five years in prison and a $250,000 fine.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4640">
                <a:tc>
                  <a:txBody>
                    <a:bodyPr anchor="t">
                      <a:noAutofit/>
                    </a:bodyPr>
                    <a:p>
                      <a:pPr defTabSz="914400">
                        <a:lnSpc>
                          <a:spcPct val="100000"/>
                        </a:lnSpc>
                      </a:pPr>
                      <a:r>
                        <a:rPr lang="en-IN" sz="1800" b="0" u="none" strike="noStrike">
                          <a:solidFill>
                            <a:schemeClr val="dk1"/>
                          </a:solidFill>
                          <a:effectLst/>
                          <a:uFillTx/>
                          <a:latin typeface="Calibri"/>
                        </a:rPr>
                        <a:t>Atlanta, 2021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A Cypriot national hacked into major websites as a teenager and threatened that he would release stolen user information unless the websites paid a ransom. The hacker identified vulnerable websites, including those for sports news and online games, and then stole personally identifiable information from user and customer databases. He became the first Cypriot national extradited from Cyprus to the United States, and paid nearly $600,000 in restitution to his victims. In addition, he has been sentenced to federal prison for at least three years.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Overview of Recent Hacking Cases (3 of 3)</a:t>
            </a:r>
            <a:endParaRPr lang="en-US" sz="3400" b="0" u="none" strike="noStrike">
              <a:solidFill>
                <a:srgbClr val="000000"/>
              </a:solidFill>
              <a:effectLst/>
              <a:uFillTx/>
              <a:latin typeface="Arial"/>
            </a:endParaRPr>
          </a:p>
        </p:txBody>
      </p:sp>
      <p:graphicFrame>
        <p:nvGraphicFramePr>
          <p:cNvPr id="101" name="Table 2"/>
          <p:cNvGraphicFramePr/>
          <p:nvPr/>
        </p:nvGraphicFramePr>
        <p:xfrm>
          <a:off x="490680" y="1345320"/>
          <a:ext cx="11210040" cy="4168080"/>
        </p:xfrm>
        <a:graphic>
          <a:graphicData uri="http://schemas.openxmlformats.org/drawingml/2006/table">
            <a:tbl>
              <a:tblPr/>
              <a:tblGrid>
                <a:gridCol w="2670480"/>
                <a:gridCol w="8539920"/>
              </a:tblGrid>
              <a:tr h="314640">
                <a:tc>
                  <a:txBody>
                    <a:bodyPr anchor="t">
                      <a:noAutofit/>
                    </a:bodyPr>
                    <a:p>
                      <a:pPr defTabSz="914400">
                        <a:lnSpc>
                          <a:spcPct val="100000"/>
                        </a:lnSpc>
                      </a:pPr>
                      <a:r>
                        <a:rPr lang="en-IN" sz="1800" b="1" u="none" strike="noStrike">
                          <a:solidFill>
                            <a:schemeClr val="lt1"/>
                          </a:solidFill>
                          <a:effectLst/>
                          <a:uFillTx/>
                          <a:latin typeface="Calibri"/>
                        </a:rPr>
                        <a:t>State and Year</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789920">
                <a:tc>
                  <a:txBody>
                    <a:bodyPr anchor="t">
                      <a:noAutofit/>
                    </a:bodyPr>
                    <a:p>
                      <a:pPr defTabSz="914400">
                        <a:lnSpc>
                          <a:spcPct val="100000"/>
                        </a:lnSpc>
                      </a:pPr>
                      <a:r>
                        <a:rPr lang="en-IN" sz="1800" b="0" u="none" strike="noStrike">
                          <a:solidFill>
                            <a:schemeClr val="dk1"/>
                          </a:solidFill>
                          <a:effectLst/>
                          <a:uFillTx/>
                          <a:latin typeface="Calibri"/>
                        </a:rPr>
                        <a:t>New Jersey, 2021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While employed at a data analytics and risk assessment firm based in New Jersey, a resident of Moorefield, Nebraska, obtained confidential information that belonged to the firm—including names, passwords, email addresses, and telephone numbers of clients—and then attempted to sell the information. Nearly two years after his arrest, the hacker was sentenced to three years of supervised release and ordered to pay restitution of more than $290,000.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14640">
                <a:tc>
                  <a:txBody>
                    <a:bodyPr anchor="t">
                      <a:noAutofit/>
                    </a:bodyPr>
                    <a:p>
                      <a:pPr defTabSz="914400">
                        <a:lnSpc>
                          <a:spcPct val="100000"/>
                        </a:lnSpc>
                      </a:pPr>
                      <a:r>
                        <a:rPr lang="en-IN" sz="1800" b="0" u="none" strike="noStrike">
                          <a:solidFill>
                            <a:schemeClr val="dk1"/>
                          </a:solidFill>
                          <a:effectLst/>
                          <a:uFillTx/>
                          <a:latin typeface="Calibri"/>
                        </a:rPr>
                        <a:t>Florida, 2021</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A Florida high school conducted online voting to select a homecoming queen but found</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out that an assistant principal in the school district manipulated the vote electronically. She accessed a network database storing confidential student information—including grades, medical history, and credentials—and then used the credentials to cast ballots in favor of her daughter. The pair were arrested and charged with fraudulently accessing confidential student information. The daughter was expelled from the high school, and her mother was suspended from her job as they awaited sentencing.</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Is Port Scanning Legal? (1 of 3) </a:t>
            </a:r>
            <a:endParaRPr lang="en-US" sz="3400" b="0" u="none" strike="noStrike">
              <a:solidFill>
                <a:srgbClr val="000000"/>
              </a:solidFill>
              <a:effectLst/>
              <a:uFillTx/>
              <a:latin typeface="Arial"/>
            </a:endParaRPr>
          </a:p>
        </p:txBody>
      </p:sp>
      <p:sp>
        <p:nvSpPr>
          <p:cNvPr id="103"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Some states consider it noninvasive or nondestructive in nature and deem it legal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Not always the case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Be prudent before using penetration-testing tools</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Federal government does not see infringements, such as port scanning, as a violation of the U.S. Constitution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Allows each state to address them separately</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Research your state laws before using what you learn</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Read your ISP’s “Acceptable Use Policy”</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Is Port Scanning Legal? (2 of 3) </a:t>
            </a:r>
            <a:endParaRPr lang="en-US" sz="3400" b="0" u="none" strike="noStrike">
              <a:solidFill>
                <a:srgbClr val="000000"/>
              </a:solidFill>
              <a:effectLst/>
              <a:uFillTx/>
              <a:latin typeface="Arial"/>
            </a:endParaRPr>
          </a:p>
        </p:txBody>
      </p:sp>
      <p:pic>
        <p:nvPicPr>
          <p:cNvPr id="105" name="Picture Placeholder 2" descr="Describes acceptable use policy for PacInfo Net, including disconnecting accounts without notice that are involved in spamming, abusive, or malicious activities.&#10;"/>
          <p:cNvPicPr/>
          <p:nvPr/>
        </p:nvPicPr>
        <p:blipFill>
          <a:blip r:embed="rId1"/>
          <a:srcRect l="-567" t="0" r="-688" b="0"/>
          <a:stretch/>
        </p:blipFill>
        <p:spPr>
          <a:xfrm>
            <a:off x="1538640" y="1213920"/>
            <a:ext cx="9114120" cy="4258440"/>
          </a:xfrm>
          <a:prstGeom prst="rect">
            <a:avLst/>
          </a:prstGeom>
          <a:noFill/>
          <a:ln w="0">
            <a:noFill/>
          </a:ln>
        </p:spPr>
      </p:pic>
      <p:sp>
        <p:nvSpPr>
          <p:cNvPr id="106" name="PlaceHolder 2"/>
          <p:cNvSpPr>
            <a:spLocks noGrp="1"/>
          </p:cNvSpPr>
          <p:nvPr>
            <p:ph/>
          </p:nvPr>
        </p:nvSpPr>
        <p:spPr>
          <a:xfrm>
            <a:off x="3661560" y="5543640"/>
            <a:ext cx="4581720" cy="352800"/>
          </a:xfrm>
          <a:prstGeom prst="rect">
            <a:avLst/>
          </a:prstGeom>
          <a:noFill/>
          <a:ln w="0">
            <a:noFill/>
          </a:ln>
        </p:spPr>
        <p:txBody>
          <a:bodyPr numCol="1" spcCol="0" lIns="0" rIns="0" tIns="0" bIns="0" anchor="t">
            <a:noAutofit/>
          </a:bodyPr>
          <a:p>
            <a:pPr indent="0" defTabSz="914400">
              <a:lnSpc>
                <a:spcPct val="100000"/>
              </a:lnSpc>
              <a:buNone/>
              <a:tabLst>
                <a:tab algn="l" pos="0"/>
              </a:tabLst>
            </a:pPr>
            <a:r>
              <a:rPr lang="en-US" sz="1800" b="1" u="none" strike="noStrike">
                <a:solidFill>
                  <a:srgbClr val="004a78"/>
                </a:solidFill>
                <a:effectLst/>
                <a:uFillTx/>
                <a:latin typeface="Arial"/>
                <a:ea typeface="Arial"/>
              </a:rPr>
              <a:t>Figure 1-3 </a:t>
            </a:r>
            <a:r>
              <a:rPr lang="en-US" sz="1800" b="0" u="none" strike="noStrike">
                <a:solidFill>
                  <a:srgbClr val="004a78"/>
                </a:solidFill>
                <a:effectLst/>
                <a:uFillTx/>
                <a:latin typeface="Arial"/>
                <a:ea typeface="Arial"/>
              </a:rPr>
              <a:t>Sample acceptable use policy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Is Port Scanning Legal? (3 of 3) </a:t>
            </a:r>
            <a:endParaRPr lang="en-US" sz="3400" b="0" u="none" strike="noStrike">
              <a:solidFill>
                <a:srgbClr val="000000"/>
              </a:solidFill>
              <a:effectLst/>
              <a:uFillTx/>
              <a:latin typeface="Arial"/>
            </a:endParaRPr>
          </a:p>
        </p:txBody>
      </p:sp>
      <p:sp>
        <p:nvSpPr>
          <p:cNvPr id="108"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Internet Relay Chat (IRC) bot</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Program that sends automatic responses to users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Gives the appearance of a person on the other side of a connection</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Virtual private network (VPN)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Consider whether your computer is connected to your business network by a VPN</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Many people work from home using a VPN to connect to their work network</a:t>
            </a:r>
            <a:endParaRPr lang="en-US" sz="20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rgbClr val="004a78"/>
                </a:solidFill>
                <a:effectLst/>
                <a:uFillTx/>
                <a:latin typeface="Arial"/>
                <a:ea typeface="Arial"/>
              </a:rPr>
              <a:t>May end up scanning work computers, which could be problematic</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Federal Computer Crime Laws (1 of 4)</a:t>
            </a:r>
            <a:endParaRPr lang="en-US" sz="3400" b="0" u="none" strike="noStrike">
              <a:solidFill>
                <a:srgbClr val="000000"/>
              </a:solidFill>
              <a:effectLst/>
              <a:uFillTx/>
              <a:latin typeface="Arial"/>
            </a:endParaRPr>
          </a:p>
        </p:txBody>
      </p:sp>
      <p:graphicFrame>
        <p:nvGraphicFramePr>
          <p:cNvPr id="110" name="Table 2"/>
          <p:cNvGraphicFramePr/>
          <p:nvPr/>
        </p:nvGraphicFramePr>
        <p:xfrm>
          <a:off x="587880" y="1037160"/>
          <a:ext cx="11298600" cy="5234040"/>
        </p:xfrm>
        <a:graphic>
          <a:graphicData uri="http://schemas.openxmlformats.org/drawingml/2006/table">
            <a:tbl>
              <a:tblPr/>
              <a:tblGrid>
                <a:gridCol w="5337000"/>
                <a:gridCol w="5961960"/>
              </a:tblGrid>
              <a:tr h="401760">
                <a:tc>
                  <a:txBody>
                    <a:bodyPr anchor="t">
                      <a:noAutofit/>
                    </a:bodyPr>
                    <a:p>
                      <a:pPr defTabSz="914400">
                        <a:lnSpc>
                          <a:spcPct val="100000"/>
                        </a:lnSpc>
                      </a:pPr>
                      <a:r>
                        <a:rPr lang="en-IN" sz="1800" b="1" u="none" strike="noStrike">
                          <a:solidFill>
                            <a:schemeClr val="lt1"/>
                          </a:solidFill>
                          <a:effectLst/>
                          <a:uFillTx/>
                          <a:latin typeface="Calibri"/>
                        </a:rPr>
                        <a:t>Federal law</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884960">
                <a:tc>
                  <a:txBody>
                    <a:bodyPr anchor="t">
                      <a:noAutofit/>
                    </a:bodyPr>
                    <a:p>
                      <a:pPr defTabSz="914400">
                        <a:lnSpc>
                          <a:spcPct val="100000"/>
                        </a:lnSpc>
                      </a:pPr>
                      <a:r>
                        <a:rPr lang="en-US" sz="1800" b="0" u="none" strike="noStrike">
                          <a:solidFill>
                            <a:schemeClr val="dk1"/>
                          </a:solidFill>
                          <a:effectLst/>
                          <a:uFillTx/>
                          <a:latin typeface="Calibri"/>
                        </a:rPr>
                        <a:t>The No Electronic Theft Act (P.L. 105 to 147)</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Extends the reach of criminal copyright law to specifically include electronic means as one method for committing the crime (17 U.S.C. § 501(a)(1)).</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The act also expands the scope of the criminal conduct covered under this crime, allowing for prosecutions without showing that the distributor of the copyrighted material profited from the activity.</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356840">
                <a:tc>
                  <a:txBody>
                    <a:bodyPr anchor="t">
                      <a:noAutofit/>
                    </a:bodyPr>
                    <a:p>
                      <a:pPr defTabSz="914400">
                        <a:lnSpc>
                          <a:spcPct val="100000"/>
                        </a:lnSpc>
                      </a:pPr>
                      <a:r>
                        <a:rPr lang="en-US" sz="1800" b="0" u="none" strike="noStrike">
                          <a:solidFill>
                            <a:schemeClr val="dk1"/>
                          </a:solidFill>
                          <a:effectLst/>
                          <a:uFillTx/>
                          <a:latin typeface="Calibri"/>
                        </a:rPr>
                        <a:t>The Economic Espionage Act (EEA)</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The EEA offers trade secret protection to both businesses and the government. The significance of information to society and the problems that are attached to protecting this information make the EEA an important step in how the law can provide protection from computer crime.</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356840">
                <a:tc>
                  <a:txBody>
                    <a:bodyPr anchor="t">
                      <a:noAutofit/>
                    </a:bodyPr>
                    <a:p>
                      <a:pPr defTabSz="914400">
                        <a:lnSpc>
                          <a:spcPct val="100000"/>
                        </a:lnSpc>
                      </a:pPr>
                      <a:r>
                        <a:rPr lang="en-US" sz="1800" b="0" u="none" strike="noStrike">
                          <a:solidFill>
                            <a:schemeClr val="dk1"/>
                          </a:solidFill>
                          <a:effectLst/>
                          <a:uFillTx/>
                          <a:latin typeface="Calibri"/>
                        </a:rPr>
                        <a:t>The Computer Fraud and Abuse Act (CFAA). Title 18, Crimes and Criminal Procedure. Part I: </a:t>
                      </a:r>
                      <a:r>
                        <a:rPr lang="en-IN" sz="1800" b="0" u="none" strike="noStrike">
                          <a:solidFill>
                            <a:schemeClr val="dk1"/>
                          </a:solidFill>
                          <a:effectLst/>
                          <a:uFillTx/>
                          <a:latin typeface="Calibri"/>
                        </a:rPr>
                        <a:t>Crimes, Chapter 47, Fraud and False Statements, Sec. 1030: </a:t>
                      </a:r>
                      <a:r>
                        <a:rPr lang="en-US" sz="1800" b="0" u="none" strike="noStrike">
                          <a:solidFill>
                            <a:schemeClr val="dk1"/>
                          </a:solidFill>
                          <a:effectLst/>
                          <a:uFillTx/>
                          <a:latin typeface="Calibri"/>
                        </a:rPr>
                        <a:t>Fraud and related activity in </a:t>
                      </a:r>
                      <a:r>
                        <a:rPr lang="en-IN" sz="1800" b="0" u="none" strike="noStrike">
                          <a:solidFill>
                            <a:schemeClr val="dk1"/>
                          </a:solidFill>
                          <a:effectLst/>
                          <a:uFillTx/>
                          <a:latin typeface="Calibri"/>
                        </a:rPr>
                        <a:t>connection with computers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This law makes it a federal crime to access classified information or financial </a:t>
                      </a:r>
                      <a:r>
                        <a:rPr lang="en-IN" sz="1800" b="0" u="none" strike="noStrike">
                          <a:solidFill>
                            <a:schemeClr val="dk1"/>
                          </a:solidFill>
                          <a:effectLst/>
                          <a:uFillTx/>
                          <a:latin typeface="Calibri"/>
                        </a:rPr>
                        <a:t>information without authorization.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Federal Computer Crime Laws (2 of 4)</a:t>
            </a:r>
            <a:endParaRPr lang="en-US" sz="3400" b="0" u="none" strike="noStrike">
              <a:solidFill>
                <a:srgbClr val="000000"/>
              </a:solidFill>
              <a:effectLst/>
              <a:uFillTx/>
              <a:latin typeface="Arial"/>
            </a:endParaRPr>
          </a:p>
        </p:txBody>
      </p:sp>
      <p:graphicFrame>
        <p:nvGraphicFramePr>
          <p:cNvPr id="112" name="Table 2"/>
          <p:cNvGraphicFramePr/>
          <p:nvPr/>
        </p:nvGraphicFramePr>
        <p:xfrm>
          <a:off x="168840" y="1037160"/>
          <a:ext cx="11853720" cy="4956120"/>
        </p:xfrm>
        <a:graphic>
          <a:graphicData uri="http://schemas.openxmlformats.org/drawingml/2006/table">
            <a:tbl>
              <a:tblPr/>
              <a:tblGrid>
                <a:gridCol w="5927040"/>
                <a:gridCol w="5927040"/>
              </a:tblGrid>
              <a:tr h="436320">
                <a:tc>
                  <a:txBody>
                    <a:bodyPr anchor="t">
                      <a:noAutofit/>
                    </a:bodyPr>
                    <a:p>
                      <a:pPr defTabSz="914400">
                        <a:lnSpc>
                          <a:spcPct val="100000"/>
                        </a:lnSpc>
                      </a:pPr>
                      <a:r>
                        <a:rPr lang="en-IN" sz="1800" b="1" u="none" strike="noStrike">
                          <a:solidFill>
                            <a:schemeClr val="lt1"/>
                          </a:solidFill>
                          <a:effectLst/>
                          <a:uFillTx/>
                          <a:latin typeface="Calibri"/>
                        </a:rPr>
                        <a:t>Federal law</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296360">
                <a:tc>
                  <a:txBody>
                    <a:bodyPr anchor="t">
                      <a:noAutofit/>
                    </a:bodyPr>
                    <a:p>
                      <a:pPr defTabSz="914400">
                        <a:lnSpc>
                          <a:spcPct val="100000"/>
                        </a:lnSpc>
                      </a:pPr>
                      <a:r>
                        <a:rPr lang="en-US" sz="1800" b="0" u="none" strike="noStrike">
                          <a:solidFill>
                            <a:schemeClr val="dk1"/>
                          </a:solidFill>
                          <a:effectLst/>
                          <a:uFillTx/>
                          <a:latin typeface="Calibri"/>
                        </a:rPr>
                        <a:t>The Identity Theft and Assumption Deterrence Act (ITADA) [18 U.S.C. </a:t>
                      </a:r>
                      <a:r>
                        <a:rPr lang="en-IN" sz="1800" b="0" u="none" strike="noStrike">
                          <a:solidFill>
                            <a:schemeClr val="dk1"/>
                          </a:solidFill>
                          <a:effectLst/>
                          <a:uFillTx/>
                          <a:latin typeface="Calibri"/>
                        </a:rPr>
                        <a:t>Section 1028(a)(7)]</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This act criminalizes identity theft and allows courts to assess the losses suffered by individual consumers. While the CFAA covers certain aspects of identity theft, the ITADA addresses restitution and relief for the victims.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749960">
                <a:tc>
                  <a:txBody>
                    <a:bodyPr anchor="t">
                      <a:noAutofit/>
                    </a:bodyPr>
                    <a:p>
                      <a:pPr defTabSz="914400">
                        <a:lnSpc>
                          <a:spcPct val="100000"/>
                        </a:lnSpc>
                      </a:pPr>
                      <a:r>
                        <a:rPr lang="en-IN" sz="1800" b="0" u="none" strike="noStrike">
                          <a:solidFill>
                            <a:schemeClr val="dk1"/>
                          </a:solidFill>
                          <a:effectLst/>
                          <a:uFillTx/>
                          <a:latin typeface="Calibri"/>
                        </a:rPr>
                        <a:t>Electronic Communication </a:t>
                      </a:r>
                      <a:r>
                        <a:rPr lang="en-US" sz="1800" b="0" u="none" strike="noStrike">
                          <a:solidFill>
                            <a:schemeClr val="dk1"/>
                          </a:solidFill>
                          <a:effectLst/>
                          <a:uFillTx/>
                          <a:latin typeface="Calibri"/>
                        </a:rPr>
                        <a:t>Privacy Act. Title 18, Crimes</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and Criminal Procedure. Part I: </a:t>
                      </a:r>
                      <a:r>
                        <a:rPr lang="en-IN" sz="1800" b="0" u="none" strike="noStrike">
                          <a:solidFill>
                            <a:schemeClr val="dk1"/>
                          </a:solidFill>
                          <a:effectLst/>
                          <a:uFillTx/>
                          <a:latin typeface="Calibri"/>
                        </a:rPr>
                        <a:t>Crimes, Chapter 119, Wire and Electronic Communications Interception and Interception of Oral Communications, Sec. </a:t>
                      </a:r>
                      <a:r>
                        <a:rPr lang="en-US" sz="1800" b="0" u="none" strike="noStrike">
                          <a:solidFill>
                            <a:schemeClr val="dk1"/>
                          </a:solidFill>
                          <a:effectLst/>
                          <a:uFillTx/>
                          <a:latin typeface="Calibri"/>
                        </a:rPr>
                        <a:t>2510: Definitions and Sec. 2511: </a:t>
                      </a:r>
                      <a:r>
                        <a:rPr lang="en-IN" sz="1800" b="0" u="none" strike="noStrike">
                          <a:solidFill>
                            <a:schemeClr val="dk1"/>
                          </a:solidFill>
                          <a:effectLst/>
                          <a:uFillTx/>
                          <a:latin typeface="Calibri"/>
                        </a:rPr>
                        <a:t>Interception and disclosure</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of wire, oral, or electronic </a:t>
                      </a:r>
                      <a:r>
                        <a:rPr lang="en-IN" sz="1800" b="0" u="none" strike="noStrike">
                          <a:solidFill>
                            <a:schemeClr val="dk1"/>
                          </a:solidFill>
                          <a:effectLst/>
                          <a:uFillTx/>
                          <a:latin typeface="Calibri"/>
                        </a:rPr>
                        <a:t>communications prohibited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These laws make it illegal to intercept any communication, regardless of how it </a:t>
                      </a:r>
                      <a:r>
                        <a:rPr lang="en-IN" sz="1800" b="0" u="none" strike="noStrike">
                          <a:solidFill>
                            <a:schemeClr val="dk1"/>
                          </a:solidFill>
                          <a:effectLst/>
                          <a:uFillTx/>
                          <a:latin typeface="Calibri"/>
                        </a:rPr>
                        <a:t>was transmitted.</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1473480">
                <a:tc>
                  <a:txBody>
                    <a:bodyPr anchor="t">
                      <a:noAutofit/>
                    </a:bodyPr>
                    <a:p>
                      <a:pPr defTabSz="914400">
                        <a:lnSpc>
                          <a:spcPct val="100000"/>
                        </a:lnSpc>
                      </a:pPr>
                      <a:r>
                        <a:rPr lang="en-US" sz="1800" b="0" u="none" strike="noStrike">
                          <a:solidFill>
                            <a:schemeClr val="dk1"/>
                          </a:solidFill>
                          <a:effectLst/>
                          <a:uFillTx/>
                          <a:latin typeface="Calibri"/>
                        </a:rPr>
                        <a:t>U.S. PATRIOT Act, Sec. 217. </a:t>
                      </a:r>
                      <a:r>
                        <a:rPr lang="en-IN" sz="1800" b="0" u="none" strike="noStrike">
                          <a:solidFill>
                            <a:schemeClr val="dk1"/>
                          </a:solidFill>
                          <a:effectLst/>
                          <a:uFillTx/>
                          <a:latin typeface="Calibri"/>
                        </a:rPr>
                        <a:t>Interception of Computer</a:t>
                      </a:r>
                      <a:endParaRPr lang="en-US" sz="1800" b="0" u="none" strike="noStrike">
                        <a:solidFill>
                          <a:srgbClr val="000000"/>
                        </a:solidFill>
                        <a:effectLst/>
                        <a:uFillTx/>
                        <a:latin typeface="Arial"/>
                      </a:endParaRPr>
                    </a:p>
                    <a:p>
                      <a:pPr defTabSz="914400">
                        <a:lnSpc>
                          <a:spcPct val="100000"/>
                        </a:lnSpc>
                      </a:pPr>
                      <a:r>
                        <a:rPr lang="en-IN" sz="1800" b="0" u="none" strike="noStrike">
                          <a:solidFill>
                            <a:schemeClr val="dk1"/>
                          </a:solidFill>
                          <a:effectLst/>
                          <a:uFillTx/>
                          <a:latin typeface="Calibri"/>
                        </a:rPr>
                        <a:t>Trespasser Communications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This act largely seeks to amend previous privacy and surveillance laws and fund government surveillance programs. It also specifies ways for the government to</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monitor individuals and allows victims of cybercrimes to monitor the activity of trespassers on their systems.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Federal Computer Crime Laws (3 of 4)</a:t>
            </a:r>
            <a:endParaRPr lang="en-US" sz="3400" b="0" u="none" strike="noStrike">
              <a:solidFill>
                <a:srgbClr val="000000"/>
              </a:solidFill>
              <a:effectLst/>
              <a:uFillTx/>
              <a:latin typeface="Arial"/>
            </a:endParaRPr>
          </a:p>
        </p:txBody>
      </p:sp>
      <p:graphicFrame>
        <p:nvGraphicFramePr>
          <p:cNvPr id="114" name="Table 2"/>
          <p:cNvGraphicFramePr/>
          <p:nvPr/>
        </p:nvGraphicFramePr>
        <p:xfrm>
          <a:off x="174240" y="1921320"/>
          <a:ext cx="11842920" cy="2522160"/>
        </p:xfrm>
        <a:graphic>
          <a:graphicData uri="http://schemas.openxmlformats.org/drawingml/2006/table">
            <a:tbl>
              <a:tblPr/>
              <a:tblGrid>
                <a:gridCol w="5921640"/>
                <a:gridCol w="5921640"/>
              </a:tblGrid>
              <a:tr h="429120">
                <a:tc>
                  <a:txBody>
                    <a:bodyPr anchor="t">
                      <a:noAutofit/>
                    </a:bodyPr>
                    <a:p>
                      <a:pPr defTabSz="914400">
                        <a:lnSpc>
                          <a:spcPct val="100000"/>
                        </a:lnSpc>
                      </a:pPr>
                      <a:r>
                        <a:rPr lang="en-IN" sz="1800" b="1" u="none" strike="noStrike">
                          <a:solidFill>
                            <a:schemeClr val="lt1"/>
                          </a:solidFill>
                          <a:effectLst/>
                          <a:uFillTx/>
                          <a:latin typeface="Calibri"/>
                        </a:rPr>
                        <a:t>Federal law</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06120">
                <a:tc>
                  <a:txBody>
                    <a:bodyPr anchor="t">
                      <a:noAutofit/>
                    </a:bodyPr>
                    <a:p>
                      <a:pPr defTabSz="914400">
                        <a:lnSpc>
                          <a:spcPct val="100000"/>
                        </a:lnSpc>
                      </a:pPr>
                      <a:r>
                        <a:rPr lang="en-US" sz="1800" b="0" u="none" strike="noStrike">
                          <a:solidFill>
                            <a:schemeClr val="dk1"/>
                          </a:solidFill>
                          <a:effectLst/>
                          <a:uFillTx/>
                          <a:latin typeface="Calibri"/>
                        </a:rPr>
                        <a:t>Homeland Security Act of 2002, </a:t>
                      </a:r>
                      <a:r>
                        <a:rPr lang="fr-FR" sz="1800" b="0" u="none" strike="noStrike">
                          <a:solidFill>
                            <a:schemeClr val="dk1"/>
                          </a:solidFill>
                          <a:effectLst/>
                          <a:uFillTx/>
                          <a:latin typeface="Calibri"/>
                        </a:rPr>
                        <a:t>H.R. 5710, Sec. 225: Cyber </a:t>
                      </a:r>
                      <a:r>
                        <a:rPr lang="en-IN" sz="1800" b="0" u="none" strike="noStrike">
                          <a:solidFill>
                            <a:schemeClr val="dk1"/>
                          </a:solidFill>
                          <a:effectLst/>
                          <a:uFillTx/>
                          <a:latin typeface="Calibri"/>
                        </a:rPr>
                        <a:t>Security Enhancement Act of 2002</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This amendment to the Homeland Security Act of 2002 specifies sentencing guidelines for certain types of computer crimes.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178280">
                <a:tc>
                  <a:txBody>
                    <a:bodyPr anchor="t">
                      <a:noAutofit/>
                    </a:bodyPr>
                    <a:p>
                      <a:pPr defTabSz="914400">
                        <a:lnSpc>
                          <a:spcPct val="100000"/>
                        </a:lnSpc>
                      </a:pPr>
                      <a:r>
                        <a:rPr lang="en-US" sz="1800" b="0" u="none" strike="noStrike">
                          <a:solidFill>
                            <a:schemeClr val="dk1"/>
                          </a:solidFill>
                          <a:effectLst/>
                          <a:uFillTx/>
                          <a:latin typeface="Calibri"/>
                        </a:rPr>
                        <a:t>The Computer Fraud and Abuse Act. Title 18, Crimes and Criminal Procedure, Sec. 1029: Fraud and related activity in connection with access devices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This law makes it a federal offense to manufacture, program, use, or possess any device or software that can be used for unauthorized use of telecommunications services.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Federal Computer Crime Laws (4 of 4)</a:t>
            </a:r>
            <a:endParaRPr lang="en-US" sz="3400" b="0" u="none" strike="noStrike">
              <a:solidFill>
                <a:srgbClr val="000000"/>
              </a:solidFill>
              <a:effectLst/>
              <a:uFillTx/>
              <a:latin typeface="Arial"/>
            </a:endParaRPr>
          </a:p>
        </p:txBody>
      </p:sp>
      <p:graphicFrame>
        <p:nvGraphicFramePr>
          <p:cNvPr id="116" name="Table 2"/>
          <p:cNvGraphicFramePr/>
          <p:nvPr/>
        </p:nvGraphicFramePr>
        <p:xfrm>
          <a:off x="174240" y="1659960"/>
          <a:ext cx="11842920" cy="3538440"/>
        </p:xfrm>
        <a:graphic>
          <a:graphicData uri="http://schemas.openxmlformats.org/drawingml/2006/table">
            <a:tbl>
              <a:tblPr/>
              <a:tblGrid>
                <a:gridCol w="5921640"/>
                <a:gridCol w="5921640"/>
              </a:tblGrid>
              <a:tr h="429120">
                <a:tc>
                  <a:txBody>
                    <a:bodyPr anchor="t">
                      <a:noAutofit/>
                    </a:bodyPr>
                    <a:p>
                      <a:pPr defTabSz="914400">
                        <a:lnSpc>
                          <a:spcPct val="100000"/>
                        </a:lnSpc>
                      </a:pPr>
                      <a:r>
                        <a:rPr lang="en-IN" sz="1800" b="1" u="none" strike="noStrike">
                          <a:solidFill>
                            <a:schemeClr val="lt1"/>
                          </a:solidFill>
                          <a:effectLst/>
                          <a:uFillTx/>
                          <a:latin typeface="Calibri"/>
                        </a:rPr>
                        <a:t>Federal law</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IN" sz="1800" b="1" u="none" strike="noStrike">
                          <a:solidFill>
                            <a:schemeClr val="lt1"/>
                          </a:solidFill>
                          <a:effectLst/>
                          <a:uFillTx/>
                          <a:latin typeface="Calibri"/>
                        </a:rPr>
                        <a:t>Description</a:t>
                      </a:r>
                      <a:endParaRPr lang="en-US"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081600">
                <a:tc>
                  <a:txBody>
                    <a:bodyPr anchor="t">
                      <a:noAutofit/>
                    </a:bodyPr>
                    <a:p>
                      <a:pPr defTabSz="914400">
                        <a:lnSpc>
                          <a:spcPct val="100000"/>
                        </a:lnSpc>
                      </a:pPr>
                      <a:r>
                        <a:rPr lang="en-IN" sz="1800" b="0" u="none" strike="noStrike">
                          <a:solidFill>
                            <a:schemeClr val="dk1"/>
                          </a:solidFill>
                          <a:effectLst/>
                          <a:uFillTx/>
                          <a:latin typeface="Calibri"/>
                        </a:rPr>
                        <a:t>Stored Wire and Electronic Communications and</a:t>
                      </a:r>
                      <a:endParaRPr lang="en-US" sz="1800" b="0" u="none" strike="noStrike">
                        <a:solidFill>
                          <a:srgbClr val="000000"/>
                        </a:solidFill>
                        <a:effectLst/>
                        <a:uFillTx/>
                        <a:latin typeface="Arial"/>
                      </a:endParaRPr>
                    </a:p>
                    <a:p>
                      <a:pPr defTabSz="914400">
                        <a:lnSpc>
                          <a:spcPct val="100000"/>
                        </a:lnSpc>
                      </a:pPr>
                      <a:r>
                        <a:rPr lang="en-IN" sz="1800" b="0" u="none" strike="noStrike">
                          <a:solidFill>
                            <a:schemeClr val="dk1"/>
                          </a:solidFill>
                          <a:effectLst/>
                          <a:uFillTx/>
                          <a:latin typeface="Calibri"/>
                        </a:rPr>
                        <a:t>Transactional Records Act. </a:t>
                      </a:r>
                      <a:r>
                        <a:rPr lang="en-US" sz="1800" b="0" u="none" strike="noStrike">
                          <a:solidFill>
                            <a:schemeClr val="dk1"/>
                          </a:solidFill>
                          <a:effectLst/>
                          <a:uFillTx/>
                          <a:latin typeface="Calibri"/>
                        </a:rPr>
                        <a:t>Title 18, Crimes and Criminal</a:t>
                      </a:r>
                      <a:endParaRPr lang="en-US" sz="1800" b="0" u="none" strike="noStrike">
                        <a:solidFill>
                          <a:srgbClr val="000000"/>
                        </a:solidFill>
                        <a:effectLst/>
                        <a:uFillTx/>
                        <a:latin typeface="Arial"/>
                      </a:endParaRPr>
                    </a:p>
                    <a:p>
                      <a:pPr defTabSz="914400">
                        <a:lnSpc>
                          <a:spcPct val="100000"/>
                        </a:lnSpc>
                      </a:pPr>
                      <a:r>
                        <a:rPr lang="en-IN" sz="1800" b="0" u="none" strike="noStrike">
                          <a:solidFill>
                            <a:schemeClr val="dk1"/>
                          </a:solidFill>
                          <a:effectLst/>
                          <a:uFillTx/>
                          <a:latin typeface="Calibri"/>
                        </a:rPr>
                        <a:t>Procedure. Part I: Crimes, </a:t>
                      </a:r>
                      <a:r>
                        <a:rPr lang="en-US" sz="1800" b="0" u="none" strike="noStrike">
                          <a:solidFill>
                            <a:schemeClr val="dk1"/>
                          </a:solidFill>
                          <a:effectLst/>
                          <a:uFillTx/>
                          <a:latin typeface="Calibri"/>
                        </a:rPr>
                        <a:t>Chapter 121, Stored Wire and</a:t>
                      </a:r>
                      <a:endParaRPr lang="en-US" sz="1800" b="0" u="none" strike="noStrike">
                        <a:solidFill>
                          <a:srgbClr val="000000"/>
                        </a:solidFill>
                        <a:effectLst/>
                        <a:uFillTx/>
                        <a:latin typeface="Arial"/>
                      </a:endParaRPr>
                    </a:p>
                    <a:p>
                      <a:pPr defTabSz="914400">
                        <a:lnSpc>
                          <a:spcPct val="100000"/>
                        </a:lnSpc>
                      </a:pPr>
                      <a:r>
                        <a:rPr lang="en-IN" sz="1800" b="0" u="none" strike="noStrike">
                          <a:solidFill>
                            <a:schemeClr val="dk1"/>
                          </a:solidFill>
                          <a:effectLst/>
                          <a:uFillTx/>
                          <a:latin typeface="Calibri"/>
                        </a:rPr>
                        <a:t>Electronic Communications and Transactional Records Act, </a:t>
                      </a:r>
                      <a:r>
                        <a:rPr lang="en-US" sz="1800" b="0" u="none" strike="noStrike">
                          <a:solidFill>
                            <a:schemeClr val="dk1"/>
                          </a:solidFill>
                          <a:effectLst/>
                          <a:uFillTx/>
                          <a:latin typeface="Calibri"/>
                        </a:rPr>
                        <a:t>Sec. 2701: Unlawful access to </a:t>
                      </a:r>
                      <a:r>
                        <a:rPr lang="en-IN" sz="1800" b="0" u="none" strike="noStrike">
                          <a:solidFill>
                            <a:schemeClr val="dk1"/>
                          </a:solidFill>
                          <a:effectLst/>
                          <a:uFillTx/>
                          <a:latin typeface="Calibri"/>
                        </a:rPr>
                        <a:t>stored communications (a) Offense. Except as provided</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alibri"/>
                        </a:rPr>
                        <a:t>in subsection of this section </a:t>
                      </a:r>
                      <a:r>
                        <a:rPr lang="en-IN" sz="1800" b="0" u="none" strike="noStrike">
                          <a:solidFill>
                            <a:schemeClr val="dk1"/>
                          </a:solidFill>
                          <a:effectLst/>
                          <a:uFillTx/>
                          <a:latin typeface="Calibri"/>
                        </a:rPr>
                        <a:t>whoever (1) intentionally</a:t>
                      </a:r>
                      <a:endParaRPr lang="en-US" sz="1800" b="0" u="none" strike="noStrike">
                        <a:solidFill>
                          <a:srgbClr val="000000"/>
                        </a:solidFill>
                        <a:effectLst/>
                        <a:uFillTx/>
                        <a:latin typeface="Arial"/>
                      </a:endParaRPr>
                    </a:p>
                    <a:p>
                      <a:pPr defTabSz="914400">
                        <a:lnSpc>
                          <a:spcPct val="100000"/>
                        </a:lnSpc>
                      </a:pPr>
                      <a:r>
                        <a:rPr lang="en-IN" sz="1800" b="0" u="none" strike="noStrike">
                          <a:solidFill>
                            <a:schemeClr val="dk1"/>
                          </a:solidFill>
                          <a:effectLst/>
                          <a:uFillTx/>
                          <a:latin typeface="Calibri"/>
                        </a:rPr>
                        <a:t>accesses without authorization </a:t>
                      </a:r>
                      <a:r>
                        <a:rPr lang="en-US" sz="1800" b="0" u="none" strike="noStrike">
                          <a:solidFill>
                            <a:schemeClr val="dk1"/>
                          </a:solidFill>
                          <a:effectLst/>
                          <a:uFillTx/>
                          <a:latin typeface="Calibri"/>
                        </a:rPr>
                        <a:t>a facility through which an </a:t>
                      </a:r>
                      <a:r>
                        <a:rPr lang="en-IN" sz="1800" b="0" u="none" strike="noStrike">
                          <a:solidFill>
                            <a:schemeClr val="dk1"/>
                          </a:solidFill>
                          <a:effectLst/>
                          <a:uFillTx/>
                          <a:latin typeface="Calibri"/>
                        </a:rPr>
                        <a:t>electronic communication service </a:t>
                      </a:r>
                      <a:r>
                        <a:rPr lang="en-US" sz="1800" b="0" u="none" strike="noStrike">
                          <a:solidFill>
                            <a:schemeClr val="dk1"/>
                          </a:solidFill>
                          <a:effectLst/>
                          <a:uFillTx/>
                          <a:latin typeface="Calibri"/>
                        </a:rPr>
                        <a:t>is provided; or (2) intentionally </a:t>
                      </a:r>
                      <a:r>
                        <a:rPr lang="en-IN" sz="1800" b="0" u="none" strike="noStrike">
                          <a:solidFill>
                            <a:schemeClr val="dk1"/>
                          </a:solidFill>
                          <a:effectLst/>
                          <a:uFillTx/>
                          <a:latin typeface="Calibri"/>
                        </a:rPr>
                        <a:t>exceeds an authorization to </a:t>
                      </a:r>
                      <a:r>
                        <a:rPr lang="en-US" sz="1800" b="0" u="none" strike="noStrike">
                          <a:solidFill>
                            <a:schemeClr val="dk1"/>
                          </a:solidFill>
                          <a:effectLst/>
                          <a:uFillTx/>
                          <a:latin typeface="Calibri"/>
                        </a:rPr>
                        <a:t>access that facility; Sec. 2702: </a:t>
                      </a:r>
                      <a:r>
                        <a:rPr lang="en-IN" sz="1800" b="0" u="none" strike="noStrike">
                          <a:solidFill>
                            <a:schemeClr val="dk1"/>
                          </a:solidFill>
                          <a:effectLst/>
                          <a:uFillTx/>
                          <a:latin typeface="Calibri"/>
                        </a:rPr>
                        <a:t>Disclosure of contents</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Calibri"/>
                        </a:rPr>
                        <a:t>This law defines unauthorized access to computers that store classified information.</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What You Cannot Do Legally</a:t>
            </a:r>
            <a:endParaRPr lang="en-US" sz="3400" b="0" u="none" strike="noStrike">
              <a:solidFill>
                <a:srgbClr val="000000"/>
              </a:solidFill>
              <a:effectLst/>
              <a:uFillTx/>
              <a:latin typeface="Arial"/>
            </a:endParaRPr>
          </a:p>
        </p:txBody>
      </p:sp>
      <p:sp>
        <p:nvSpPr>
          <p:cNvPr id="118"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Illegal actions: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Accessing a computer without permission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Destroying data without permission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Copying information without the owner’s permission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Installing viruses on a network</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Denying users access to network resources</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Be careful that your actions do not prevent client’s employees from doing their jobs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Get It in Writing</a:t>
            </a:r>
            <a:endParaRPr lang="en-US" sz="3400" b="0" u="none" strike="noStrike">
              <a:solidFill>
                <a:srgbClr val="000000"/>
              </a:solidFill>
              <a:effectLst/>
              <a:uFillTx/>
              <a:latin typeface="Arial"/>
            </a:endParaRPr>
          </a:p>
        </p:txBody>
      </p:sp>
      <p:sp>
        <p:nvSpPr>
          <p:cNvPr id="120"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Using a contract is good business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May be useful in court</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Books on working as an independent contractor</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Getting Started in Consulting </a:t>
            </a:r>
            <a:r>
              <a:rPr lang="en-US" sz="2000" b="0" u="none" strike="noStrike">
                <a:solidFill>
                  <a:srgbClr val="004a78"/>
                </a:solidFill>
                <a:effectLst/>
                <a:uFillTx/>
                <a:latin typeface="Arial"/>
                <a:ea typeface="Arial"/>
              </a:rPr>
              <a:t>by Alan Weiss</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i="1" u="none" strike="noStrike">
                <a:solidFill>
                  <a:srgbClr val="004a78"/>
                </a:solidFill>
                <a:effectLst/>
                <a:uFillTx/>
                <a:latin typeface="Arial"/>
                <a:ea typeface="Arial"/>
              </a:rPr>
              <a:t>The Consulting Bible: Everything You Need to Know to Create and Expand a Seven-Figure Consulting Practice </a:t>
            </a:r>
            <a:r>
              <a:rPr lang="en-US" sz="2000" b="0" u="none" strike="noStrike">
                <a:solidFill>
                  <a:srgbClr val="004a78"/>
                </a:solidFill>
                <a:effectLst/>
                <a:uFillTx/>
                <a:latin typeface="Arial"/>
                <a:ea typeface="Arial"/>
              </a:rPr>
              <a:t>by Alan Weiss</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Internet can also be a helpful resource</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Will find free modifiable contract templates </a:t>
            </a:r>
            <a:endParaRPr lang="en-US" sz="2000" b="0" u="none" strike="noStrike">
              <a:solidFill>
                <a:srgbClr val="000000"/>
              </a:solidFill>
              <a:effectLst/>
              <a:uFillTx/>
              <a:latin typeface="Arial"/>
            </a:endParaRPr>
          </a:p>
          <a:p>
            <a:pPr marL="343080" indent="-343080" defTabSz="91440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Have an attorney read your contract before signing </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4880" cy="671400"/>
          </a:xfrm>
          <a:prstGeom prst="rect">
            <a:avLst/>
          </a:prstGeom>
          <a:noFill/>
          <a:ln w="0">
            <a:noFill/>
          </a:ln>
        </p:spPr>
        <p:txBody>
          <a:bodyPr numCol="1" spcCol="0" lIns="0" rIns="0" tIns="0" bIns="0" anchor="t">
            <a:noAutofit/>
          </a:bodyPr>
          <a:p>
            <a:pPr indent="0" algn="ctr">
              <a:lnSpc>
                <a:spcPct val="90000"/>
              </a:lnSpc>
              <a:buNone/>
              <a:tabLst>
                <a:tab algn="l" pos="0"/>
              </a:tabLst>
            </a:pPr>
            <a:r>
              <a:rPr lang="en-US" sz="3400" b="1" u="none" strike="noStrike">
                <a:solidFill>
                  <a:srgbClr val="004a78"/>
                </a:solidFill>
                <a:effectLst/>
                <a:uFillTx/>
                <a:latin typeface="Arial"/>
                <a:ea typeface="Arial"/>
              </a:rPr>
              <a:t>Ethical Hacking in a Nutshell</a:t>
            </a:r>
            <a:endParaRPr lang="en-US" sz="3400" b="0" u="none" strike="noStrike">
              <a:solidFill>
                <a:srgbClr val="000000"/>
              </a:solidFill>
              <a:effectLst/>
              <a:uFillTx/>
              <a:latin typeface="Arial"/>
            </a:endParaRPr>
          </a:p>
        </p:txBody>
      </p:sp>
      <p:sp>
        <p:nvSpPr>
          <p:cNvPr id="122" name="PlaceHolder 2"/>
          <p:cNvSpPr>
            <a:spLocks noGrp="1"/>
          </p:cNvSpPr>
          <p:nvPr>
            <p:ph/>
          </p:nvPr>
        </p:nvSpPr>
        <p:spPr>
          <a:xfrm>
            <a:off x="743400" y="1638360"/>
            <a:ext cx="10710720" cy="439344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lang="en-US" sz="2000" b="0" u="none" strike="noStrike">
                <a:solidFill>
                  <a:srgbClr val="004a78"/>
                </a:solidFill>
                <a:effectLst/>
                <a:uFillTx/>
                <a:latin typeface="Arial"/>
                <a:ea typeface="Arial"/>
              </a:rPr>
              <a:t>Skills needed to be a security tester</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Knowledge of network and computer technology</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Ability to communicate with management and IT personnel</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An understanding of the laws applicable in your location</a:t>
            </a:r>
            <a:endParaRPr lang="en-US" sz="2000" b="0" u="none" strike="noStrike">
              <a:solidFill>
                <a:srgbClr val="000000"/>
              </a:solidFill>
              <a:effectLst/>
              <a:uFillTx/>
              <a:latin typeface="Arial"/>
            </a:endParaRPr>
          </a:p>
          <a:p>
            <a:pPr marL="685800" lvl="1" indent="-228600" defTabSz="914400">
              <a:lnSpc>
                <a:spcPct val="90000"/>
              </a:lnSpc>
              <a:spcBef>
                <a:spcPts val="499"/>
              </a:spcBef>
              <a:buClr>
                <a:srgbClr val="006298"/>
              </a:buClr>
              <a:buFont typeface="Arial"/>
              <a:buChar char="•"/>
            </a:pPr>
            <a:r>
              <a:rPr lang="en-US" sz="2000" b="0" u="none" strike="noStrike">
                <a:solidFill>
                  <a:srgbClr val="004a78"/>
                </a:solidFill>
                <a:effectLst/>
                <a:uFillTx/>
                <a:latin typeface="Arial"/>
                <a:ea typeface="Arial"/>
              </a:rPr>
              <a:t>Ability to apply necessary tools to perform your tasks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docProps/app.xml><?xml version="1.0" encoding="utf-8"?>
<Properties xmlns="http://schemas.openxmlformats.org/officeDocument/2006/extended-properties" xmlns:vt="http://schemas.openxmlformats.org/officeDocument/2006/docPropsVTypes">
  <Template/>
  <TotalTime>5291</TotalTime>
  <Application>LibreOffice/25.8.4.2$Linux_X86_64 LibreOffice_project/580$Build-2</Application>
  <AppVersion>15.0000</AppVersion>
  <Words>4032</Words>
  <Paragraphs>379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2020-07-27T16:46:05Z</dcterms:created>
  <dc:creator>Onderdonk, Natalie</dc:creator>
  <dc:description/>
  <dc:language>en-US</dc:language>
  <cp:lastModifiedBy/>
  <dcterms:modified xsi:type="dcterms:W3CDTF">2026-01-17T14:20:36Z</dcterms:modified>
  <cp:revision>133</cp:revision>
  <dc:subject/>
  <dc:title>Chapter 4: Constitutional Law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y fmtid="{D5CDD505-2E9C-101B-9397-08002B2CF9AE}" pid="3" name="Notes">
    <vt:i4>15</vt:i4>
  </property>
  <property fmtid="{D5CDD505-2E9C-101B-9397-08002B2CF9AE}" pid="4" name="PresentationFormat">
    <vt:lpwstr>Widescreen</vt:lpwstr>
  </property>
  <property fmtid="{D5CDD505-2E9C-101B-9397-08002B2CF9AE}" pid="5" name="Slides">
    <vt:i4>47</vt:i4>
  </property>
</Properties>
</file>