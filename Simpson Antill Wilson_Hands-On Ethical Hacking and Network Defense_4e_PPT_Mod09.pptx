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2"/>
  </p:notesMasterIdLst>
  <p:handoutMasterIdLst>
    <p:handoutMasterId r:id="rId53"/>
  </p:handoutMasterIdLst>
  <p:sldIdLst>
    <p:sldId id="377" r:id="rId5"/>
    <p:sldId id="269" r:id="rId6"/>
    <p:sldId id="301" r:id="rId7"/>
    <p:sldId id="539" r:id="rId8"/>
    <p:sldId id="540" r:id="rId9"/>
    <p:sldId id="555" r:id="rId10"/>
    <p:sldId id="512" r:id="rId11"/>
    <p:sldId id="334" r:id="rId12"/>
    <p:sldId id="336" r:id="rId13"/>
    <p:sldId id="556" r:id="rId14"/>
    <p:sldId id="557" r:id="rId15"/>
    <p:sldId id="541" r:id="rId16"/>
    <p:sldId id="543" r:id="rId17"/>
    <p:sldId id="542" r:id="rId18"/>
    <p:sldId id="420" r:id="rId19"/>
    <p:sldId id="376" r:id="rId20"/>
    <p:sldId id="545" r:id="rId21"/>
    <p:sldId id="544" r:id="rId22"/>
    <p:sldId id="458" r:id="rId23"/>
    <p:sldId id="546" r:id="rId24"/>
    <p:sldId id="459" r:id="rId25"/>
    <p:sldId id="341" r:id="rId26"/>
    <p:sldId id="342" r:id="rId27"/>
    <p:sldId id="378" r:id="rId28"/>
    <p:sldId id="428" r:id="rId29"/>
    <p:sldId id="461" r:id="rId30"/>
    <p:sldId id="307" r:id="rId31"/>
    <p:sldId id="436" r:id="rId32"/>
    <p:sldId id="437" r:id="rId33"/>
    <p:sldId id="357" r:id="rId34"/>
    <p:sldId id="547" r:id="rId35"/>
    <p:sldId id="309" r:id="rId36"/>
    <p:sldId id="469" r:id="rId37"/>
    <p:sldId id="548" r:id="rId38"/>
    <p:sldId id="470" r:id="rId39"/>
    <p:sldId id="553" r:id="rId40"/>
    <p:sldId id="472" r:id="rId41"/>
    <p:sldId id="554" r:id="rId42"/>
    <p:sldId id="475" r:id="rId43"/>
    <p:sldId id="549" r:id="rId44"/>
    <p:sldId id="550" r:id="rId45"/>
    <p:sldId id="476" r:id="rId46"/>
    <p:sldId id="551" r:id="rId47"/>
    <p:sldId id="345" r:id="rId48"/>
    <p:sldId id="346" r:id="rId49"/>
    <p:sldId id="347" r:id="rId50"/>
    <p:sldId id="478" r:id="rId5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F06A90B-A749-208A-D00E-EF25335465EC}" name="Divya Krishnakumar" initials="DK" userId="S::divya.krishnakumar@ansrsource.com::083ee865-650d-4256-9272-f4d91147c45c" providerId="AD"/>
  <p188:author id="{BF2A948C-1811-CB48-BB9C-92871E13B267}" name="ansrsource_17" initials="AW" userId="ansrsource_17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riola, Courtney A" initials="TCA" lastIdx="1" clrIdx="0">
    <p:extLst>
      <p:ext uri="{19B8F6BF-5375-455C-9EA6-DF929625EA0E}">
        <p15:presenceInfo xmlns:p15="http://schemas.microsoft.com/office/powerpoint/2012/main" userId="S-1-5-21-4027829005-1107895287-290554039-156439" providerId="AD"/>
      </p:ext>
    </p:extLst>
  </p:cmAuthor>
  <p:cmAuthor id="2" name="Onderdonk, Natalie" initials="ON" lastIdx="1" clrIdx="1">
    <p:extLst>
      <p:ext uri="{19B8F6BF-5375-455C-9EA6-DF929625EA0E}">
        <p15:presenceInfo xmlns:p15="http://schemas.microsoft.com/office/powerpoint/2012/main" userId="S::Natalie.Onderdonk@cengage.com::794b6c7a-2b12-4b61-8069-51114120681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A78"/>
    <a:srgbClr val="000000"/>
    <a:srgbClr val="E9255F"/>
    <a:srgbClr val="006298"/>
    <a:srgbClr val="FF6300"/>
    <a:srgbClr val="0098D4"/>
    <a:srgbClr val="00B8E7"/>
    <a:srgbClr val="81D0ED"/>
    <a:srgbClr val="F6B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1FF4D5E-8B91-400A-8BD8-C0680B799F7C}" v="7" dt="2022-02-20T14:35:38.5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1762" autoAdjust="0"/>
  </p:normalViewPr>
  <p:slideViewPr>
    <p:cSldViewPr snapToGrid="0">
      <p:cViewPr varScale="1">
        <p:scale>
          <a:sx n="60" d="100"/>
          <a:sy n="60" d="100"/>
        </p:scale>
        <p:origin x="4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microsoft.com/office/2018/10/relationships/authors" Target="authors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vya Krishnakumar" userId="083ee865-650d-4256-9272-f4d91147c45c" providerId="ADAL" clId="{C1FF4D5E-8B91-400A-8BD8-C0680B799F7C}"/>
    <pc:docChg chg="undo custSel modSld">
      <pc:chgData name="Divya Krishnakumar" userId="083ee865-650d-4256-9272-f4d91147c45c" providerId="ADAL" clId="{C1FF4D5E-8B91-400A-8BD8-C0680B799F7C}" dt="2022-02-20T14:34:58.279" v="95" actId="20577"/>
      <pc:docMkLst>
        <pc:docMk/>
      </pc:docMkLst>
      <pc:sldChg chg="modSp mod addCm">
        <pc:chgData name="Divya Krishnakumar" userId="083ee865-650d-4256-9272-f4d91147c45c" providerId="ADAL" clId="{C1FF4D5E-8B91-400A-8BD8-C0680B799F7C}" dt="2022-02-20T14:18:44.796" v="68"/>
        <pc:sldMkLst>
          <pc:docMk/>
          <pc:sldMk cId="3831289291" sldId="307"/>
        </pc:sldMkLst>
        <pc:spChg chg="mod">
          <ac:chgData name="Divya Krishnakumar" userId="083ee865-650d-4256-9272-f4d91147c45c" providerId="ADAL" clId="{C1FF4D5E-8B91-400A-8BD8-C0680B799F7C}" dt="2022-02-20T14:16:32.928" v="67" actId="5793"/>
          <ac:spMkLst>
            <pc:docMk/>
            <pc:sldMk cId="3831289291" sldId="307"/>
            <ac:spMk id="6" creationId="{1560DD7E-8221-45EC-B849-91DC33361686}"/>
          </ac:spMkLst>
        </pc:spChg>
      </pc:sldChg>
      <pc:sldChg chg="modSp mod addCm">
        <pc:chgData name="Divya Krishnakumar" userId="083ee865-650d-4256-9272-f4d91147c45c" providerId="ADAL" clId="{C1FF4D5E-8B91-400A-8BD8-C0680B799F7C}" dt="2022-02-20T14:23:00.757" v="70"/>
        <pc:sldMkLst>
          <pc:docMk/>
          <pc:sldMk cId="670972609" sldId="309"/>
        </pc:sldMkLst>
        <pc:spChg chg="mod">
          <ac:chgData name="Divya Krishnakumar" userId="083ee865-650d-4256-9272-f4d91147c45c" providerId="ADAL" clId="{C1FF4D5E-8B91-400A-8BD8-C0680B799F7C}" dt="2022-02-20T14:22:30.237" v="69" actId="6549"/>
          <ac:spMkLst>
            <pc:docMk/>
            <pc:sldMk cId="670972609" sldId="309"/>
            <ac:spMk id="6" creationId="{1560DD7E-8221-45EC-B849-91DC33361686}"/>
          </ac:spMkLst>
        </pc:spChg>
      </pc:sldChg>
      <pc:sldChg chg="addCm delCm">
        <pc:chgData name="Divya Krishnakumar" userId="083ee865-650d-4256-9272-f4d91147c45c" providerId="ADAL" clId="{C1FF4D5E-8B91-400A-8BD8-C0680B799F7C}" dt="2022-02-20T13:53:01.668" v="25"/>
        <pc:sldMkLst>
          <pc:docMk/>
          <pc:sldMk cId="2209717256" sldId="336"/>
        </pc:sldMkLst>
      </pc:sldChg>
      <pc:sldChg chg="modSp mod">
        <pc:chgData name="Divya Krishnakumar" userId="083ee865-650d-4256-9272-f4d91147c45c" providerId="ADAL" clId="{C1FF4D5E-8B91-400A-8BD8-C0680B799F7C}" dt="2022-02-20T14:34:58.279" v="95" actId="20577"/>
        <pc:sldMkLst>
          <pc:docMk/>
          <pc:sldMk cId="1193155209" sldId="346"/>
        </pc:sldMkLst>
        <pc:spChg chg="mod">
          <ac:chgData name="Divya Krishnakumar" userId="083ee865-650d-4256-9272-f4d91147c45c" providerId="ADAL" clId="{C1FF4D5E-8B91-400A-8BD8-C0680B799F7C}" dt="2022-02-20T14:34:58.279" v="95" actId="20577"/>
          <ac:spMkLst>
            <pc:docMk/>
            <pc:sldMk cId="1193155209" sldId="346"/>
            <ac:spMk id="2" creationId="{00000000-0000-0000-0000-000000000000}"/>
          </ac:spMkLst>
        </pc:spChg>
      </pc:sldChg>
      <pc:sldChg chg="modSp mod">
        <pc:chgData name="Divya Krishnakumar" userId="083ee865-650d-4256-9272-f4d91147c45c" providerId="ADAL" clId="{C1FF4D5E-8B91-400A-8BD8-C0680B799F7C}" dt="2022-02-20T14:00:39.503" v="27" actId="20577"/>
        <pc:sldMkLst>
          <pc:docMk/>
          <pc:sldMk cId="1460256132" sldId="376"/>
        </pc:sldMkLst>
        <pc:spChg chg="mod">
          <ac:chgData name="Divya Krishnakumar" userId="083ee865-650d-4256-9272-f4d91147c45c" providerId="ADAL" clId="{C1FF4D5E-8B91-400A-8BD8-C0680B799F7C}" dt="2022-02-20T14:00:39.503" v="27" actId="20577"/>
          <ac:spMkLst>
            <pc:docMk/>
            <pc:sldMk cId="1460256132" sldId="376"/>
            <ac:spMk id="2" creationId="{00000000-0000-0000-0000-000000000000}"/>
          </ac:spMkLst>
        </pc:spChg>
      </pc:sldChg>
      <pc:sldChg chg="modSp mod">
        <pc:chgData name="Divya Krishnakumar" userId="083ee865-650d-4256-9272-f4d91147c45c" providerId="ADAL" clId="{C1FF4D5E-8B91-400A-8BD8-C0680B799F7C}" dt="2022-02-20T14:04:40.083" v="36" actId="20577"/>
        <pc:sldMkLst>
          <pc:docMk/>
          <pc:sldMk cId="3338165092" sldId="378"/>
        </pc:sldMkLst>
        <pc:spChg chg="mod">
          <ac:chgData name="Divya Krishnakumar" userId="083ee865-650d-4256-9272-f4d91147c45c" providerId="ADAL" clId="{C1FF4D5E-8B91-400A-8BD8-C0680B799F7C}" dt="2022-02-20T14:04:40.083" v="36" actId="20577"/>
          <ac:spMkLst>
            <pc:docMk/>
            <pc:sldMk cId="3338165092" sldId="378"/>
            <ac:spMk id="5" creationId="{DDD4F286-8DF4-49F9-81A5-0E1B45EB6F4A}"/>
          </ac:spMkLst>
        </pc:spChg>
      </pc:sldChg>
      <pc:sldChg chg="modSp mod">
        <pc:chgData name="Divya Krishnakumar" userId="083ee865-650d-4256-9272-f4d91147c45c" providerId="ADAL" clId="{C1FF4D5E-8B91-400A-8BD8-C0680B799F7C}" dt="2022-02-20T13:08:34.510" v="8" actId="313"/>
        <pc:sldMkLst>
          <pc:docMk/>
          <pc:sldMk cId="288985424" sldId="436"/>
        </pc:sldMkLst>
        <pc:spChg chg="mod">
          <ac:chgData name="Divya Krishnakumar" userId="083ee865-650d-4256-9272-f4d91147c45c" providerId="ADAL" clId="{C1FF4D5E-8B91-400A-8BD8-C0680B799F7C}" dt="2022-02-20T13:08:34.510" v="8" actId="313"/>
          <ac:spMkLst>
            <pc:docMk/>
            <pc:sldMk cId="288985424" sldId="436"/>
            <ac:spMk id="7" creationId="{045CD120-AFFC-4BEA-A617-47DCF0109B5C}"/>
          </ac:spMkLst>
        </pc:spChg>
      </pc:sldChg>
      <pc:sldChg chg="modSp mod">
        <pc:chgData name="Divya Krishnakumar" userId="083ee865-650d-4256-9272-f4d91147c45c" providerId="ADAL" clId="{C1FF4D5E-8B91-400A-8BD8-C0680B799F7C}" dt="2022-02-20T14:02:50.163" v="29" actId="20577"/>
        <pc:sldMkLst>
          <pc:docMk/>
          <pc:sldMk cId="3692444895" sldId="458"/>
        </pc:sldMkLst>
        <pc:spChg chg="mod">
          <ac:chgData name="Divya Krishnakumar" userId="083ee865-650d-4256-9272-f4d91147c45c" providerId="ADAL" clId="{C1FF4D5E-8B91-400A-8BD8-C0680B799F7C}" dt="2022-02-20T14:02:50.163" v="29" actId="20577"/>
          <ac:spMkLst>
            <pc:docMk/>
            <pc:sldMk cId="3692444895" sldId="458"/>
            <ac:spMk id="2" creationId="{00000000-0000-0000-0000-000000000000}"/>
          </ac:spMkLst>
        </pc:spChg>
      </pc:sldChg>
      <pc:sldChg chg="modSp mod addCm">
        <pc:chgData name="Divya Krishnakumar" userId="083ee865-650d-4256-9272-f4d91147c45c" providerId="ADAL" clId="{C1FF4D5E-8B91-400A-8BD8-C0680B799F7C}" dt="2022-02-20T14:24:19.703" v="77"/>
        <pc:sldMkLst>
          <pc:docMk/>
          <pc:sldMk cId="3746876303" sldId="470"/>
        </pc:sldMkLst>
        <pc:spChg chg="mod">
          <ac:chgData name="Divya Krishnakumar" userId="083ee865-650d-4256-9272-f4d91147c45c" providerId="ADAL" clId="{C1FF4D5E-8B91-400A-8BD8-C0680B799F7C}" dt="2022-02-20T14:23:51.482" v="76" actId="20577"/>
          <ac:spMkLst>
            <pc:docMk/>
            <pc:sldMk cId="3746876303" sldId="470"/>
            <ac:spMk id="3" creationId="{139142D6-5C3A-42A0-8A74-350829226946}"/>
          </ac:spMkLst>
        </pc:spChg>
      </pc:sldChg>
      <pc:sldChg chg="modSp mod">
        <pc:chgData name="Divya Krishnakumar" userId="083ee865-650d-4256-9272-f4d91147c45c" providerId="ADAL" clId="{C1FF4D5E-8B91-400A-8BD8-C0680B799F7C}" dt="2022-02-20T14:28:01.274" v="83" actId="20577"/>
        <pc:sldMkLst>
          <pc:docMk/>
          <pc:sldMk cId="4027423901" sldId="472"/>
        </pc:sldMkLst>
        <pc:spChg chg="mod">
          <ac:chgData name="Divya Krishnakumar" userId="083ee865-650d-4256-9272-f4d91147c45c" providerId="ADAL" clId="{C1FF4D5E-8B91-400A-8BD8-C0680B799F7C}" dt="2022-02-20T14:28:01.274" v="83" actId="20577"/>
          <ac:spMkLst>
            <pc:docMk/>
            <pc:sldMk cId="4027423901" sldId="472"/>
            <ac:spMk id="3" creationId="{0C2DAB88-4E38-4590-89B6-A9C9EC45F56F}"/>
          </ac:spMkLst>
        </pc:spChg>
      </pc:sldChg>
      <pc:sldChg chg="modSp mod">
        <pc:chgData name="Divya Krishnakumar" userId="083ee865-650d-4256-9272-f4d91147c45c" providerId="ADAL" clId="{C1FF4D5E-8B91-400A-8BD8-C0680B799F7C}" dt="2022-02-20T13:08:53.409" v="14" actId="313"/>
        <pc:sldMkLst>
          <pc:docMk/>
          <pc:sldMk cId="243493065" sldId="475"/>
        </pc:sldMkLst>
        <pc:spChg chg="mod">
          <ac:chgData name="Divya Krishnakumar" userId="083ee865-650d-4256-9272-f4d91147c45c" providerId="ADAL" clId="{C1FF4D5E-8B91-400A-8BD8-C0680B799F7C}" dt="2022-02-20T13:08:53.409" v="14" actId="313"/>
          <ac:spMkLst>
            <pc:docMk/>
            <pc:sldMk cId="243493065" sldId="475"/>
            <ac:spMk id="3" creationId="{2F895A90-C059-4F6E-B532-4D2ECF128251}"/>
          </ac:spMkLst>
        </pc:spChg>
      </pc:sldChg>
      <pc:sldChg chg="modSp mod">
        <pc:chgData name="Divya Krishnakumar" userId="083ee865-650d-4256-9272-f4d91147c45c" providerId="ADAL" clId="{C1FF4D5E-8B91-400A-8BD8-C0680B799F7C}" dt="2022-02-20T13:49:36.945" v="23" actId="20577"/>
        <pc:sldMkLst>
          <pc:docMk/>
          <pc:sldMk cId="261404134" sldId="539"/>
        </pc:sldMkLst>
        <pc:spChg chg="mod">
          <ac:chgData name="Divya Krishnakumar" userId="083ee865-650d-4256-9272-f4d91147c45c" providerId="ADAL" clId="{C1FF4D5E-8B91-400A-8BD8-C0680B799F7C}" dt="2022-02-20T13:49:36.945" v="23" actId="20577"/>
          <ac:spMkLst>
            <pc:docMk/>
            <pc:sldMk cId="261404134" sldId="539"/>
            <ac:spMk id="3" creationId="{8B2BB213-BEFF-48FD-A4A3-34D3E6186184}"/>
          </ac:spMkLst>
        </pc:spChg>
      </pc:sldChg>
      <pc:sldChg chg="modSp mod">
        <pc:chgData name="Divya Krishnakumar" userId="083ee865-650d-4256-9272-f4d91147c45c" providerId="ADAL" clId="{C1FF4D5E-8B91-400A-8BD8-C0680B799F7C}" dt="2022-02-20T13:07:50.728" v="2" actId="20577"/>
        <pc:sldMkLst>
          <pc:docMk/>
          <pc:sldMk cId="2953884283" sldId="543"/>
        </pc:sldMkLst>
        <pc:spChg chg="mod">
          <ac:chgData name="Divya Krishnakumar" userId="083ee865-650d-4256-9272-f4d91147c45c" providerId="ADAL" clId="{C1FF4D5E-8B91-400A-8BD8-C0680B799F7C}" dt="2022-02-20T13:07:50.728" v="2" actId="20577"/>
          <ac:spMkLst>
            <pc:docMk/>
            <pc:sldMk cId="2953884283" sldId="543"/>
            <ac:spMk id="3" creationId="{23E86B04-DF53-4733-A983-09A6D7E30D64}"/>
          </ac:spMkLst>
        </pc:spChg>
      </pc:sldChg>
      <pc:sldChg chg="modSp mod">
        <pc:chgData name="Divya Krishnakumar" userId="083ee865-650d-4256-9272-f4d91147c45c" providerId="ADAL" clId="{C1FF4D5E-8B91-400A-8BD8-C0680B799F7C}" dt="2022-02-20T13:08:04.521" v="5" actId="313"/>
        <pc:sldMkLst>
          <pc:docMk/>
          <pc:sldMk cId="3908484543" sldId="545"/>
        </pc:sldMkLst>
        <pc:spChg chg="mod">
          <ac:chgData name="Divya Krishnakumar" userId="083ee865-650d-4256-9272-f4d91147c45c" providerId="ADAL" clId="{C1FF4D5E-8B91-400A-8BD8-C0680B799F7C}" dt="2022-02-20T13:08:04.521" v="5" actId="313"/>
          <ac:spMkLst>
            <pc:docMk/>
            <pc:sldMk cId="3908484543" sldId="545"/>
            <ac:spMk id="2" creationId="{00000000-0000-0000-0000-000000000000}"/>
          </ac:spMkLst>
        </pc:spChg>
      </pc:sldChg>
      <pc:sldChg chg="modSp mod">
        <pc:chgData name="Divya Krishnakumar" userId="083ee865-650d-4256-9272-f4d91147c45c" providerId="ADAL" clId="{C1FF4D5E-8B91-400A-8BD8-C0680B799F7C}" dt="2022-02-20T14:33:31.344" v="94" actId="6549"/>
        <pc:sldMkLst>
          <pc:docMk/>
          <pc:sldMk cId="2794036405" sldId="550"/>
        </pc:sldMkLst>
        <pc:spChg chg="mod">
          <ac:chgData name="Divya Krishnakumar" userId="083ee865-650d-4256-9272-f4d91147c45c" providerId="ADAL" clId="{C1FF4D5E-8B91-400A-8BD8-C0680B799F7C}" dt="2022-02-20T14:33:31.344" v="94" actId="6549"/>
          <ac:spMkLst>
            <pc:docMk/>
            <pc:sldMk cId="2794036405" sldId="550"/>
            <ac:spMk id="3" creationId="{2F895A90-C059-4F6E-B532-4D2ECF128251}"/>
          </ac:spMkLst>
        </pc:spChg>
      </pc:sldChg>
      <pc:sldChg chg="addCm">
        <pc:chgData name="Divya Krishnakumar" userId="083ee865-650d-4256-9272-f4d91147c45c" providerId="ADAL" clId="{C1FF4D5E-8B91-400A-8BD8-C0680B799F7C}" dt="2022-02-20T14:26:16.599" v="78"/>
        <pc:sldMkLst>
          <pc:docMk/>
          <pc:sldMk cId="441683946" sldId="553"/>
        </pc:sldMkLst>
      </pc:sldChg>
      <pc:sldChg chg="modSp mod">
        <pc:chgData name="Divya Krishnakumar" userId="083ee865-650d-4256-9272-f4d91147c45c" providerId="ADAL" clId="{C1FF4D5E-8B91-400A-8BD8-C0680B799F7C}" dt="2022-02-20T14:30:05.887" v="88" actId="20577"/>
        <pc:sldMkLst>
          <pc:docMk/>
          <pc:sldMk cId="3213872949" sldId="554"/>
        </pc:sldMkLst>
        <pc:spChg chg="mod">
          <ac:chgData name="Divya Krishnakumar" userId="083ee865-650d-4256-9272-f4d91147c45c" providerId="ADAL" clId="{C1FF4D5E-8B91-400A-8BD8-C0680B799F7C}" dt="2022-02-20T14:30:05.887" v="88" actId="20577"/>
          <ac:spMkLst>
            <pc:docMk/>
            <pc:sldMk cId="3213872949" sldId="554"/>
            <ac:spMk id="3" creationId="{BBF5ECB7-C877-45B4-8507-5BEA681AF0FF}"/>
          </ac:spMkLst>
        </pc:spChg>
      </pc:sldChg>
      <pc:sldChg chg="addCm">
        <pc:chgData name="Divya Krishnakumar" userId="083ee865-650d-4256-9272-f4d91147c45c" providerId="ADAL" clId="{C1FF4D5E-8B91-400A-8BD8-C0680B799F7C}" dt="2022-02-20T13:53:20.788" v="26"/>
        <pc:sldMkLst>
          <pc:docMk/>
          <pc:sldMk cId="2408480843" sldId="55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8AA413-85C6-40F2-B867-268CAAA7E377}" type="datetimeFigureOut">
              <a:rPr lang="en-US" smtClean="0"/>
              <a:t>2/23/2022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67803E-66EE-42CE-8DFB-98553954E4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2102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86680D68-05FF-7942-990A-B21BB8E6CE33}" type="datetimeFigureOut">
              <a:rPr lang="en-US"/>
              <a:pPr>
                <a:defRPr/>
              </a:pPr>
              <a:t>2/23/2022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1CAE60C-72A0-D14D-8733-C13212F694A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167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5413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the Knowledge Check questions to periodically pose a question to students during class to gauge how well they can recall the material that was presented.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445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923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Instructions: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Use this activity to solicit student opinions about ethical hacking and related concepts in the module or to play a game.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Go to kahoot.com, or the platform of your preference, and log in or sign up.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Create the challenge.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 Teacher Tip: Turn off the timer to prioritize accuracy or turn on the nickname generator to avoid inappropriate nicknames.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Invite players by sharing the link or PIN.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This can be done synchronously during class or asynchronously for review or homework.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71769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741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Instructions: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1. Use this activity to solicit student opinions about ethical hacking and related concepts in the module or to play a game.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2. Go to kahoot.com, or the platform of your preference, and log in or sign up.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3. Create the challenge.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4. Teacher Tip: Turn off the timer to prioritize accuracy or turn on the nickname generator to avoid inappropriate nicknames.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5. Invite players by sharing the link or PIN.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6. This can be done synchronously during class or asynchronously for review or homework. 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677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64014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49357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2904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35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0636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015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14820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Use the Knowledge Check questions to periodically pose a question to students during class to gauge how well they can recall the material that was presented.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7020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1376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r>
              <a:rPr lang="en-US" sz="1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Use the Discussion activity to encourage group conversation about a related topic of interest.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795861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2672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Instructions:</a:t>
            </a:r>
          </a:p>
          <a:p>
            <a:pPr marL="0" indent="0">
              <a:buFontTx/>
              <a:buNone/>
            </a:pPr>
            <a:r>
              <a:rPr lang="en-US" dirty="0"/>
              <a:t>Use the Self-Assessment question to encourage students to evaluate their progress or goals in the course, as well as determine how they might apply their learning or grow as an individual. </a:t>
            </a:r>
          </a:p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1CAE60C-72A0-D14D-8733-C13212F694AD}" type="slidenum">
              <a:rPr lang="en-US" smtClean="0"/>
              <a:pPr>
                <a:defRPr/>
              </a:pPr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52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291187"/>
            <a:ext cx="10515600" cy="6840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4867275" y="3619985"/>
            <a:ext cx="2457450" cy="597477"/>
          </a:xfrm>
        </p:spPr>
        <p:txBody>
          <a:bodyPr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9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3265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ni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1274574" y="2193424"/>
            <a:ext cx="9642852" cy="618014"/>
          </a:xfrm>
        </p:spPr>
        <p:txBody>
          <a:bodyPr anchor="b">
            <a:noAutofit/>
          </a:bodyPr>
          <a:lstStyle>
            <a:lvl1pPr marL="0" indent="0" algn="ctr">
              <a:buNone/>
              <a:defRPr sz="50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Unit 1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96122"/>
            <a:ext cx="10515600" cy="67210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38174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910" y="3112899"/>
            <a:ext cx="3297426" cy="618014"/>
          </a:xfrm>
        </p:spPr>
        <p:txBody>
          <a:bodyPr anchor="b">
            <a:no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Chapter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910" y="4035474"/>
            <a:ext cx="6402684" cy="67210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6063" y="314482"/>
            <a:ext cx="3343275" cy="431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23890" y="6356350"/>
            <a:ext cx="880166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chemeClr val="bg1"/>
                </a:solidFill>
                <a:latin typeface="arial" charset="0"/>
              </a:defRPr>
            </a:lvl1pPr>
          </a:lstStyle>
          <a:p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617780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3732692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 </a:t>
            </a:r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 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1A08720E-89CF-471D-8467-1907150E3B60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035067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s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4" y="1290690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740228" y="1737343"/>
            <a:ext cx="10711543" cy="1462674"/>
          </a:xfrm>
        </p:spPr>
        <p:txBody>
          <a:bodyPr>
            <a:noAutofit/>
          </a:bodyPr>
          <a:lstStyle>
            <a:lvl1pPr marL="342900" indent="-342900" algn="l">
              <a:buFont typeface="Arial" panose="020B0604020202020204" pitchFamily="34" charset="0"/>
              <a:buChar char="•"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Clr>
                <a:srgbClr val="000000"/>
              </a:buClr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Sed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3" y="3389727"/>
            <a:ext cx="10711543" cy="348047"/>
          </a:xfrm>
        </p:spPr>
        <p:txBody>
          <a:bodyPr>
            <a:noAutofit/>
          </a:bodyPr>
          <a:lstStyle>
            <a:lvl1pPr marL="0" indent="0" algn="l">
              <a:buNone/>
              <a:defRPr sz="2400" b="1" i="0" baseline="0">
                <a:solidFill>
                  <a:srgbClr val="006298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Section Header</a:t>
            </a: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743572" y="3856204"/>
            <a:ext cx="10711543" cy="1462674"/>
          </a:xfrm>
        </p:spPr>
        <p:txBody>
          <a:bodyPr>
            <a:noAutofit/>
          </a:bodyPr>
          <a:lstStyle>
            <a:lvl1pPr marL="0" indent="0" algn="l"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 dirty="0"/>
              <a:t>Click to add text here.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Faucibus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eget</a:t>
            </a:r>
            <a:r>
              <a:rPr lang="en-US" dirty="0"/>
              <a:t> </a:t>
            </a:r>
            <a:r>
              <a:rPr lang="en-US" dirty="0" err="1"/>
              <a:t>nullam</a:t>
            </a:r>
            <a:r>
              <a:rPr lang="en-US" dirty="0"/>
              <a:t> non. </a:t>
            </a:r>
            <a:r>
              <a:rPr lang="en-US" dirty="0" err="1"/>
              <a:t>Mauris</a:t>
            </a:r>
            <a:r>
              <a:rPr lang="en-US" dirty="0"/>
              <a:t> a diam </a:t>
            </a:r>
            <a:r>
              <a:rPr lang="en-US" dirty="0" err="1"/>
              <a:t>maecenas</a:t>
            </a:r>
            <a:r>
              <a:rPr lang="en-US" dirty="0"/>
              <a:t> sed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. Sed </a:t>
            </a:r>
            <a:r>
              <a:rPr lang="en-US" dirty="0" err="1"/>
              <a:t>ullamcorper</a:t>
            </a:r>
            <a:r>
              <a:rPr lang="en-US" dirty="0"/>
              <a:t> </a:t>
            </a:r>
            <a:r>
              <a:rPr lang="en-US" dirty="0" err="1"/>
              <a:t>morbi</a:t>
            </a:r>
            <a:r>
              <a:rPr lang="en-US" dirty="0"/>
              <a:t> </a:t>
            </a:r>
            <a:r>
              <a:rPr lang="en-US" dirty="0" err="1"/>
              <a:t>tincidunt</a:t>
            </a:r>
            <a:r>
              <a:rPr lang="en-US" dirty="0"/>
              <a:t> </a:t>
            </a:r>
            <a:r>
              <a:rPr lang="en-US" dirty="0" err="1"/>
              <a:t>ornare</a:t>
            </a:r>
            <a:r>
              <a:rPr lang="en-US" dirty="0"/>
              <a:t>.</a:t>
            </a:r>
          </a:p>
        </p:txBody>
      </p:sp>
      <p:sp>
        <p:nvSpPr>
          <p:cNvPr id="12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879366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43576" y="1579015"/>
            <a:ext cx="5084468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2202774"/>
            <a:ext cx="5084468" cy="3953578"/>
          </a:xfrm>
        </p:spPr>
        <p:txBody>
          <a:bodyPr>
            <a:normAutofit/>
          </a:bodyPr>
          <a:lstStyle>
            <a:lvl1pPr marL="0" indent="0">
              <a:buClr>
                <a:srgbClr val="004A78"/>
              </a:buClr>
              <a:buFont typeface="Arial" charset="0"/>
              <a:buNone/>
              <a:defRPr sz="1800">
                <a:solidFill>
                  <a:srgbClr val="000000"/>
                </a:solidFill>
              </a:defRPr>
            </a:lvl1pPr>
            <a:lvl2pPr marL="457200" indent="0">
              <a:buClr>
                <a:srgbClr val="004A78"/>
              </a:buClr>
              <a:buFont typeface="Arial" charset="0"/>
              <a:buNone/>
              <a:defRPr sz="1800">
                <a:solidFill>
                  <a:srgbClr val="000000"/>
                </a:solidFill>
              </a:defRPr>
            </a:lvl2pPr>
            <a:lvl3pPr marL="11430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3pPr>
            <a:lvl4pPr marL="16002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4pPr>
            <a:lvl5pPr marL="2057400" indent="-228600">
              <a:buClr>
                <a:srgbClr val="004A78"/>
              </a:buClr>
              <a:buFont typeface="Arial" charset="0"/>
              <a:buChar char="•"/>
              <a:defRPr sz="18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 Massa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velit</a:t>
            </a:r>
            <a:r>
              <a:rPr lang="en-US"/>
              <a:t>.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.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nisi porta lorem. </a:t>
            </a:r>
            <a:r>
              <a:rPr lang="en-US" err="1"/>
              <a:t>Fermentum</a:t>
            </a:r>
            <a:r>
              <a:rPr lang="en-US"/>
              <a:t> et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dui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id </a:t>
            </a:r>
            <a:r>
              <a:rPr lang="en-US" err="1"/>
              <a:t>venenatis</a:t>
            </a:r>
            <a:r>
              <a:rPr lang="en-US"/>
              <a:t> a </a:t>
            </a:r>
            <a:r>
              <a:rPr lang="en-US" err="1"/>
              <a:t>condimentum</a:t>
            </a:r>
            <a:r>
              <a:rPr lang="en-US"/>
              <a:t>. Non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vel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.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20"/>
          </p:nvPr>
        </p:nvSpPr>
        <p:spPr>
          <a:xfrm>
            <a:off x="6370651" y="1579015"/>
            <a:ext cx="5084468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6370651" y="2202774"/>
            <a:ext cx="5084468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Clr>
                <a:srgbClr val="004A78"/>
              </a:buClr>
              <a:buFontTx/>
              <a:buChar char="‒"/>
              <a:defRPr sz="1800">
                <a:solidFill>
                  <a:srgbClr val="000000"/>
                </a:solidFill>
              </a:defRPr>
            </a:lvl2pPr>
            <a:lvl3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3pPr>
            <a:lvl4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4pPr>
            <a:lvl5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</a:p>
          <a:p>
            <a:pPr lvl="0"/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 Massa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feugiat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pretium</a:t>
            </a:r>
            <a:r>
              <a:rPr lang="en-US"/>
              <a:t> </a:t>
            </a:r>
            <a:r>
              <a:rPr lang="en-US" err="1"/>
              <a:t>fusce</a:t>
            </a:r>
            <a:r>
              <a:rPr lang="en-US"/>
              <a:t> id </a:t>
            </a:r>
            <a:r>
              <a:rPr lang="en-US" err="1"/>
              <a:t>velit</a:t>
            </a:r>
            <a:r>
              <a:rPr lang="en-US"/>
              <a:t>. </a:t>
            </a:r>
          </a:p>
          <a:p>
            <a:pPr lvl="0"/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placerat</a:t>
            </a:r>
            <a:r>
              <a:rPr lang="en-US"/>
              <a:t>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. In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euismod</a:t>
            </a:r>
            <a:r>
              <a:rPr lang="en-US"/>
              <a:t> nisi porta lorem. </a:t>
            </a:r>
            <a:r>
              <a:rPr lang="en-US" err="1"/>
              <a:t>Fermentum</a:t>
            </a:r>
            <a:r>
              <a:rPr lang="en-US"/>
              <a:t> et </a:t>
            </a:r>
            <a:r>
              <a:rPr lang="en-US" err="1"/>
              <a:t>sollicitudin</a:t>
            </a:r>
            <a:r>
              <a:rPr lang="en-US"/>
              <a:t> ac </a:t>
            </a:r>
            <a:r>
              <a:rPr lang="en-US" err="1"/>
              <a:t>orci</a:t>
            </a:r>
            <a:r>
              <a:rPr lang="en-US"/>
              <a:t> </a:t>
            </a:r>
            <a:r>
              <a:rPr lang="en-US" err="1"/>
              <a:t>phasellus</a:t>
            </a:r>
            <a:r>
              <a:rPr lang="en-US"/>
              <a:t> </a:t>
            </a:r>
            <a:r>
              <a:rPr lang="en-US" err="1"/>
              <a:t>egestas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 </a:t>
            </a:r>
            <a:r>
              <a:rPr lang="en-US" err="1"/>
              <a:t>rutrum</a:t>
            </a:r>
            <a:r>
              <a:rPr lang="en-US"/>
              <a:t> </a:t>
            </a:r>
            <a:r>
              <a:rPr lang="en-US" err="1"/>
              <a:t>tellus</a:t>
            </a:r>
            <a:r>
              <a:rPr lang="en-US"/>
              <a:t>. </a:t>
            </a:r>
            <a:r>
              <a:rPr lang="en-US" err="1"/>
              <a:t>Nec</a:t>
            </a:r>
            <a:r>
              <a:rPr lang="en-US"/>
              <a:t> dui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mattis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.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condimentum</a:t>
            </a:r>
            <a:r>
              <a:rPr lang="en-US"/>
              <a:t> id </a:t>
            </a:r>
            <a:r>
              <a:rPr lang="en-US" err="1"/>
              <a:t>venenatis</a:t>
            </a:r>
            <a:r>
              <a:rPr lang="en-US"/>
              <a:t> a </a:t>
            </a:r>
            <a:r>
              <a:rPr lang="en-US" err="1"/>
              <a:t>condimentum</a:t>
            </a:r>
            <a:r>
              <a:rPr lang="en-US"/>
              <a:t>. Non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praesent</a:t>
            </a:r>
            <a:r>
              <a:rPr lang="en-US"/>
              <a:t> </a:t>
            </a:r>
            <a:r>
              <a:rPr lang="en-US" err="1"/>
              <a:t>elementum</a:t>
            </a:r>
            <a:r>
              <a:rPr lang="en-US"/>
              <a:t> </a:t>
            </a:r>
            <a:r>
              <a:rPr lang="en-US" err="1"/>
              <a:t>facilisis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fringilla</a:t>
            </a:r>
            <a:r>
              <a:rPr lang="en-US"/>
              <a:t> </a:t>
            </a:r>
            <a:r>
              <a:rPr lang="en-US" err="1"/>
              <a:t>est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59007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43576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2202774"/>
            <a:ext cx="3300402" cy="3953578"/>
          </a:xfrm>
        </p:spPr>
        <p:txBody>
          <a:bodyPr>
            <a:normAutofit/>
          </a:bodyPr>
          <a:lstStyle>
            <a:lvl1pPr marL="0" indent="0">
              <a:buClr>
                <a:srgbClr val="004A78"/>
              </a:buClr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22"/>
          </p:nvPr>
        </p:nvSpPr>
        <p:spPr>
          <a:xfrm>
            <a:off x="4445799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4445799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23" name="Content Placeholder 2"/>
          <p:cNvSpPr>
            <a:spLocks noGrp="1"/>
          </p:cNvSpPr>
          <p:nvPr>
            <p:ph idx="23"/>
          </p:nvPr>
        </p:nvSpPr>
        <p:spPr>
          <a:xfrm>
            <a:off x="8145953" y="1579015"/>
            <a:ext cx="3300402" cy="492443"/>
          </a:xfrm>
          <a:solidFill>
            <a:schemeClr val="bg1"/>
          </a:solidFill>
          <a:effectLst>
            <a:outerShdw dist="12700" dir="5400000" algn="t" rotWithShape="0">
              <a:prstClr val="black"/>
            </a:outerShdw>
          </a:effectLst>
        </p:spPr>
        <p:txBody>
          <a:bodyPr tIns="91440" bIns="91440" rtlCol="0" anchor="b">
            <a:sp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2000" b="1" smtClean="0">
                <a:solidFill>
                  <a:srgbClr val="006298"/>
                </a:solidFill>
              </a:defRPr>
            </a:lvl1pPr>
            <a:lvl2pPr>
              <a:defRPr lang="en-US" smtClean="0">
                <a:solidFill>
                  <a:schemeClr val="tx1"/>
                </a:solidFill>
              </a:defRPr>
            </a:lvl2pPr>
            <a:lvl3pPr>
              <a:defRPr lang="en-US" smtClean="0">
                <a:solidFill>
                  <a:schemeClr val="tx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8154717" y="2202774"/>
            <a:ext cx="3300402" cy="3953578"/>
          </a:xfrm>
        </p:spPr>
        <p:txBody>
          <a:bodyPr>
            <a:normAutofit/>
          </a:bodyPr>
          <a:lstStyle>
            <a:lvl1pPr>
              <a:buClr>
                <a:srgbClr val="004A78"/>
              </a:buClr>
              <a:defRPr sz="1800">
                <a:solidFill>
                  <a:srgbClr val="000000"/>
                </a:solidFill>
              </a:defRPr>
            </a:lvl1pPr>
            <a:lvl2pPr marL="685800" indent="-228600">
              <a:buFontTx/>
              <a:buChar char="‒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Viverra</a:t>
            </a:r>
            <a:r>
              <a:rPr lang="en-US"/>
              <a:t> vitae </a:t>
            </a:r>
            <a:r>
              <a:rPr lang="en-US" err="1"/>
              <a:t>congue</a:t>
            </a:r>
            <a:r>
              <a:rPr lang="en-US"/>
              <a:t>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ac </a:t>
            </a:r>
            <a:r>
              <a:rPr lang="en-US" err="1"/>
              <a:t>felis</a:t>
            </a:r>
            <a:r>
              <a:rPr lang="en-US"/>
              <a:t> </a:t>
            </a:r>
            <a:r>
              <a:rPr lang="en-US" err="1"/>
              <a:t>donec</a:t>
            </a:r>
            <a:r>
              <a:rPr lang="en-US"/>
              <a:t> et. </a:t>
            </a:r>
            <a:r>
              <a:rPr lang="en-US" err="1"/>
              <a:t>Magnis</a:t>
            </a:r>
            <a:r>
              <a:rPr lang="en-US"/>
              <a:t> dis parturient </a:t>
            </a:r>
            <a:r>
              <a:rPr lang="en-US" err="1"/>
              <a:t>montes</a:t>
            </a:r>
            <a:r>
              <a:rPr lang="en-US"/>
              <a:t> </a:t>
            </a:r>
            <a:r>
              <a:rPr lang="en-US" err="1"/>
              <a:t>nascetur</a:t>
            </a:r>
            <a:r>
              <a:rPr lang="en-US"/>
              <a:t>.</a:t>
            </a:r>
          </a:p>
        </p:txBody>
      </p:sp>
      <p:sp>
        <p:nvSpPr>
          <p:cNvPr id="10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377184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1"/>
          <p:cNvSpPr>
            <a:spLocks noGrp="1"/>
          </p:cNvSpPr>
          <p:nvPr>
            <p:ph type="body" sz="quarter" idx="15" hasCustomPrompt="1"/>
          </p:nvPr>
        </p:nvSpPr>
        <p:spPr>
          <a:xfrm>
            <a:off x="743576" y="1289684"/>
            <a:ext cx="10711543" cy="2750053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2400" b="0" i="0" baseline="0">
                <a:solidFill>
                  <a:srgbClr val="000000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 typeface="Arial" panose="020B0604020202020204" pitchFamily="34" charset="0"/>
              <a:buNone/>
              <a:defRPr>
                <a:solidFill>
                  <a:srgbClr val="000000"/>
                </a:solidFill>
                <a:latin typeface="Summer Font" charset="0"/>
                <a:ea typeface="Summer Font" charset="0"/>
                <a:cs typeface="Summer Font" charset="0"/>
              </a:defRPr>
            </a:lvl2pPr>
            <a:lvl3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3pPr>
            <a:lvl4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4pPr>
            <a:lvl5pPr>
              <a:defRPr>
                <a:solidFill>
                  <a:schemeClr val="bg1"/>
                </a:solidFill>
                <a:latin typeface="Summer Font" charset="0"/>
                <a:ea typeface="Summer Font" charset="0"/>
                <a:cs typeface="Summer Font" charset="0"/>
              </a:defRPr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 </a:t>
            </a:r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 </a:t>
            </a:r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 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740228" y="4846655"/>
            <a:ext cx="10711543" cy="825500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Lorem ipsum dolor sit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sed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do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dolore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magna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8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474805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"/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0C78AC8-E1A0-4975-919B-DC886A739CA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3577" y="4029075"/>
            <a:ext cx="7982257" cy="1835457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23BC119-C238-4C36-BBED-7F10BDC9AE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857874" cy="1936791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B98B54F-6FA9-4905-8BDA-434E60C09D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93898" y="5562460"/>
            <a:ext cx="3707552" cy="262425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4911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"/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23BC119-C238-4C36-BBED-7F10BDC9AE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857874" cy="1936791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8B98B54F-6FA9-4905-8BDA-434E60C09DC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893898" y="5562460"/>
            <a:ext cx="3707552" cy="262425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D1DF692E-72DC-47BE-9648-D62DDED49EB4}"/>
              </a:ext>
            </a:extLst>
          </p:cNvPr>
          <p:cNvSpPr>
            <a:spLocks noGrp="1"/>
          </p:cNvSpPr>
          <p:nvPr>
            <p:ph type="tbl" sz="quarter" idx="18"/>
          </p:nvPr>
        </p:nvSpPr>
        <p:spPr>
          <a:xfrm>
            <a:off x="1014413" y="3914775"/>
            <a:ext cx="10587037" cy="2228850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70350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733118" y="1619557"/>
            <a:ext cx="6477000" cy="4259263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7478972" y="4070657"/>
            <a:ext cx="3976406" cy="1808163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Click to add caption to accompany content. Lorem ipsum dolor sit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amet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consectetur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adipiscing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elit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sed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do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eiusmod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tempor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incididunt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ut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labore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dolore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magna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aliqua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.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Viverra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vitae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congue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eu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consequat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ac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felis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donec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6298"/>
                </a:solidFill>
                <a:effectLst/>
                <a:uLnTx/>
                <a:uFillTx/>
                <a:latin typeface="Arial" charset="0"/>
                <a:ea typeface="Arial" charset="0"/>
                <a:cs typeface="Arial" charset="0"/>
              </a:rPr>
              <a:t> et.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3D3CEFA6-1052-4CB3-8134-501BB4231EC5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4D2E82F8-8478-47DF-BB49-FCCDE3B1710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478972" y="3630961"/>
            <a:ext cx="3707552" cy="262425"/>
          </a:xfrm>
        </p:spPr>
        <p:txBody>
          <a:bodyPr/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000">
                <a:solidFill>
                  <a:srgbClr val="00629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6298"/>
              </a:solidFill>
              <a:effectLst/>
              <a:uLnTx/>
              <a:uFillTx/>
              <a:latin typeface="Arial" charset="0"/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1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0000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FF6300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</a:t>
            </a:r>
          </a:p>
          <a:p>
            <a:pPr lvl="0"/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</a:t>
            </a:r>
          </a:p>
          <a:p>
            <a:pPr lvl="0"/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</a:t>
            </a:r>
          </a:p>
          <a:p>
            <a:pPr lvl="0"/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Footer"/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058116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457200" indent="-457200">
              <a:buClr>
                <a:srgbClr val="004A78"/>
              </a:buClr>
              <a:buFont typeface="+mj-lt"/>
              <a:buAutoNum type="arabicPeriod"/>
              <a:defRPr sz="2000">
                <a:solidFill>
                  <a:srgbClr val="000000"/>
                </a:solidFill>
              </a:defRPr>
            </a:lvl1pPr>
            <a:lvl2pPr marL="457200" marR="0" indent="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None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/>
              <a:t>Click to add text here.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</a:t>
            </a:r>
            <a:r>
              <a:rPr lang="en-US" err="1"/>
              <a:t>sed</a:t>
            </a:r>
            <a:r>
              <a:rPr lang="en-US"/>
              <a:t>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labore</a:t>
            </a:r>
            <a:r>
              <a:rPr lang="en-US"/>
              <a:t> et </a:t>
            </a:r>
            <a:r>
              <a:rPr lang="en-US" err="1"/>
              <a:t>dolore</a:t>
            </a:r>
            <a:r>
              <a:rPr lang="en-US"/>
              <a:t> magna </a:t>
            </a:r>
            <a:r>
              <a:rPr lang="en-US" err="1"/>
              <a:t>aliqua</a:t>
            </a:r>
            <a:r>
              <a:rPr lang="en-US"/>
              <a:t>.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nullam</a:t>
            </a:r>
            <a:r>
              <a:rPr lang="en-US"/>
              <a:t> non.</a:t>
            </a:r>
          </a:p>
          <a:p>
            <a:pPr lvl="0"/>
            <a:r>
              <a:rPr lang="en-US" err="1"/>
              <a:t>Mauris</a:t>
            </a:r>
            <a:r>
              <a:rPr lang="en-US"/>
              <a:t> a </a:t>
            </a:r>
            <a:r>
              <a:rPr lang="en-US" err="1"/>
              <a:t>diam</a:t>
            </a:r>
            <a:r>
              <a:rPr lang="en-US"/>
              <a:t> </a:t>
            </a:r>
            <a:r>
              <a:rPr lang="en-US" err="1"/>
              <a:t>maecenas</a:t>
            </a:r>
            <a:r>
              <a:rPr lang="en-US"/>
              <a:t>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enim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sem</a:t>
            </a:r>
            <a:r>
              <a:rPr lang="en-US"/>
              <a:t> </a:t>
            </a:r>
            <a:r>
              <a:rPr lang="en-US" err="1"/>
              <a:t>viverra</a:t>
            </a:r>
            <a:r>
              <a:rPr lang="en-US"/>
              <a:t>.</a:t>
            </a:r>
          </a:p>
          <a:p>
            <a:pPr lvl="0"/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ullamcorper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ornare</a:t>
            </a:r>
            <a:r>
              <a:rPr lang="en-US"/>
              <a:t>.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volutpat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 </a:t>
            </a:r>
            <a:r>
              <a:rPr lang="en-US" err="1"/>
              <a:t>mauris</a:t>
            </a:r>
            <a:r>
              <a:rPr lang="en-US"/>
              <a:t>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congue</a:t>
            </a:r>
            <a:r>
              <a:rPr lang="en-US"/>
              <a:t> nisi. </a:t>
            </a:r>
            <a:r>
              <a:rPr lang="en-US" err="1"/>
              <a:t>Mauris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 vitae.</a:t>
            </a:r>
          </a:p>
          <a:p>
            <a:pPr lvl="0"/>
            <a:r>
              <a:rPr lang="en-US" err="1"/>
              <a:t>Consectetur</a:t>
            </a:r>
            <a:r>
              <a:rPr lang="en-US"/>
              <a:t> libero id </a:t>
            </a:r>
            <a:r>
              <a:rPr lang="en-US" err="1"/>
              <a:t>faucibus</a:t>
            </a:r>
            <a:r>
              <a:rPr lang="en-US"/>
              <a:t> </a:t>
            </a:r>
            <a:r>
              <a:rPr lang="en-US" err="1"/>
              <a:t>nisl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.</a:t>
            </a:r>
          </a:p>
          <a:p>
            <a:pPr lvl="0"/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facilisi</a:t>
            </a:r>
            <a:r>
              <a:rPr lang="en-US"/>
              <a:t> </a:t>
            </a:r>
            <a:r>
              <a:rPr lang="en-US" err="1"/>
              <a:t>morbi</a:t>
            </a:r>
            <a:r>
              <a:rPr lang="en-US"/>
              <a:t> tempus </a:t>
            </a:r>
            <a:r>
              <a:rPr lang="en-US" err="1"/>
              <a:t>iaculis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 id </a:t>
            </a:r>
            <a:r>
              <a:rPr lang="en-US" err="1"/>
              <a:t>volutpat</a:t>
            </a:r>
            <a:r>
              <a:rPr lang="en-US"/>
              <a:t> lacus. </a:t>
            </a:r>
            <a:r>
              <a:rPr lang="en-US" err="1"/>
              <a:t>Imperdiet</a:t>
            </a:r>
            <a:r>
              <a:rPr lang="en-US"/>
              <a:t> </a:t>
            </a:r>
            <a:r>
              <a:rPr lang="en-US" err="1"/>
              <a:t>nulla</a:t>
            </a:r>
            <a:r>
              <a:rPr lang="en-US"/>
              <a:t> </a:t>
            </a:r>
            <a:r>
              <a:rPr lang="en-US" err="1"/>
              <a:t>malesuada</a:t>
            </a:r>
            <a:r>
              <a:rPr lang="en-US"/>
              <a:t> </a:t>
            </a:r>
            <a:r>
              <a:rPr lang="en-US" err="1"/>
              <a:t>pellentesque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 </a:t>
            </a:r>
            <a:r>
              <a:rPr lang="en-US" err="1"/>
              <a:t>eget</a:t>
            </a:r>
            <a:r>
              <a:rPr lang="en-US"/>
              <a:t> gravida cum </a:t>
            </a:r>
            <a:r>
              <a:rPr lang="en-US" err="1"/>
              <a:t>sociis</a:t>
            </a:r>
            <a:r>
              <a:rPr lang="en-US"/>
              <a:t>.</a:t>
            </a:r>
          </a:p>
          <a:p>
            <a:pPr lvl="0"/>
            <a:r>
              <a:rPr lang="en-US"/>
              <a:t>Sed </a:t>
            </a:r>
            <a:r>
              <a:rPr lang="en-US" err="1"/>
              <a:t>velit</a:t>
            </a:r>
            <a:r>
              <a:rPr lang="en-US"/>
              <a:t> </a:t>
            </a:r>
            <a:r>
              <a:rPr lang="en-US" err="1"/>
              <a:t>dignissim</a:t>
            </a:r>
            <a:r>
              <a:rPr lang="en-US"/>
              <a:t> </a:t>
            </a:r>
            <a:r>
              <a:rPr lang="en-US" err="1"/>
              <a:t>sodales</a:t>
            </a:r>
            <a:r>
              <a:rPr lang="en-US"/>
              <a:t> </a:t>
            </a:r>
            <a:r>
              <a:rPr lang="en-US" err="1"/>
              <a:t>ut.</a:t>
            </a:r>
            <a:endParaRPr lang="en-US"/>
          </a:p>
        </p:txBody>
      </p:sp>
      <p:sp>
        <p:nvSpPr>
          <p:cNvPr id="5" name="Footer"/>
          <p:cNvSpPr txBox="1"/>
          <p:nvPr userDrawn="1"/>
        </p:nvSpPr>
        <p:spPr>
          <a:xfrm>
            <a:off x="3007866" y="6323299"/>
            <a:ext cx="8956009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34264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743576" y="1638300"/>
            <a:ext cx="10711543" cy="4394200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ourier New" panose="02070309020205020404" pitchFamily="49" charset="0"/>
              <a:buChar char="o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">
            <a:extLst>
              <a:ext uri="{FF2B5EF4-FFF2-40B4-BE49-F238E27FC236}">
                <a16:creationId xmlns:a16="http://schemas.microsoft.com/office/drawing/2014/main" id="{83735F31-4A9D-40F8-9F71-BD376A4D8D2F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9151730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1895522" y="2019868"/>
            <a:ext cx="8128000" cy="3380095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79FF5D3-8EDD-4E3F-9076-F1A6AB3D3112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764034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990599" y="3553820"/>
            <a:ext cx="10515599" cy="1814513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79FF5D3-8EDD-4E3F-9076-F1A6AB3D3112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6" name="Table Placeholder 4">
            <a:extLst>
              <a:ext uri="{FF2B5EF4-FFF2-40B4-BE49-F238E27FC236}">
                <a16:creationId xmlns:a16="http://schemas.microsoft.com/office/drawing/2014/main" id="{A14F7248-79C8-4906-81B9-90D9166C1489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990599" y="1409700"/>
            <a:ext cx="10515599" cy="1814513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8325984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/>
          <p:cNvSpPr>
            <a:spLocks noGrp="1"/>
          </p:cNvSpPr>
          <p:nvPr>
            <p:ph type="tbl" sz="quarter" idx="10"/>
          </p:nvPr>
        </p:nvSpPr>
        <p:spPr>
          <a:xfrm>
            <a:off x="1652337" y="4026568"/>
            <a:ext cx="8507663" cy="2143416"/>
          </a:xfr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7" name="Footer">
            <a:extLst>
              <a:ext uri="{FF2B5EF4-FFF2-40B4-BE49-F238E27FC236}">
                <a16:creationId xmlns:a16="http://schemas.microsoft.com/office/drawing/2014/main" id="{479FF5D3-8EDD-4E3F-9076-F1A6AB3D3112}"/>
              </a:ext>
            </a:extLst>
          </p:cNvPr>
          <p:cNvSpPr txBox="1"/>
          <p:nvPr userDrawn="1"/>
        </p:nvSpPr>
        <p:spPr>
          <a:xfrm>
            <a:off x="2743202" y="6318516"/>
            <a:ext cx="9108380" cy="477054"/>
          </a:xfrm>
          <a:prstGeom prst="rect">
            <a:avLst/>
          </a:prstGeom>
          <a:noFill/>
          <a:effectLst/>
        </p:spPr>
        <p:txBody>
          <a:bodyPr wrap="square" lIns="0" tIns="0" r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2D354C28-2602-4BD1-852F-6D26EF74A6E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43577" y="1638300"/>
            <a:ext cx="10610224" cy="2143416"/>
          </a:xfrm>
        </p:spPr>
        <p:txBody>
          <a:bodyPr>
            <a:normAutofit/>
          </a:bodyPr>
          <a:lstStyle>
            <a:lvl1pPr marL="342900" indent="-342900">
              <a:buClr>
                <a:srgbClr val="004A78"/>
              </a:buClr>
              <a:buFont typeface="Arial" charset="0"/>
              <a:buChar char="•"/>
              <a:defRPr sz="2000">
                <a:solidFill>
                  <a:srgbClr val="004A78"/>
                </a:solidFill>
              </a:defRPr>
            </a:lvl1pPr>
            <a:lvl2pPr marL="685800" marR="0" indent="-228600" algn="l" defTabSz="914400" rtl="0" eaLnBrk="1" fontAlgn="base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rgbClr val="006298"/>
              </a:buClr>
              <a:buSzTx/>
              <a:buFont typeface="Arial" charset="0"/>
              <a:buChar char="•"/>
              <a:tabLst/>
              <a:defRPr sz="2000" baseline="0"/>
            </a:lvl2pPr>
            <a:lvl3pPr marL="1143000" indent="-228600">
              <a:buClr>
                <a:srgbClr val="000000"/>
              </a:buClr>
              <a:buFont typeface="Arial" charset="0"/>
              <a:buChar char="•"/>
              <a:defRPr sz="2000"/>
            </a:lvl3pPr>
            <a:lvl4pPr marL="1600200" indent="-228600">
              <a:buClr>
                <a:srgbClr val="000000"/>
              </a:buClr>
              <a:buSzPct val="50000"/>
              <a:buFont typeface="Calibri" charset="0"/>
              <a:buChar char="▶"/>
              <a:defRPr sz="2000"/>
            </a:lvl4pPr>
            <a:lvl5pPr marL="2057400" indent="-228600">
              <a:buClr>
                <a:srgbClr val="000000"/>
              </a:buClr>
              <a:buFont typeface="Helvetica" charset="0"/>
              <a:buChar char="⁃"/>
              <a:defRPr sz="2000"/>
            </a:lvl5pPr>
          </a:lstStyle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30220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2" y="16"/>
            <a:ext cx="12191807" cy="6865874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3996910" y="3112899"/>
            <a:ext cx="3297426" cy="618014"/>
          </a:xfrm>
        </p:spPr>
        <p:txBody>
          <a:bodyPr anchor="b">
            <a:noAutofit/>
          </a:bodyPr>
          <a:lstStyle>
            <a:lvl1pPr marL="0" indent="0" algn="l">
              <a:buNone/>
              <a:defRPr sz="36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2pPr>
            <a:lvl3pPr marL="9144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3pPr>
            <a:lvl4pPr marL="1371600" indent="0" algn="ctr">
              <a:buNone/>
              <a:defRPr>
                <a:latin typeface="Summer Font" charset="0"/>
                <a:ea typeface="Summer Font" charset="0"/>
                <a:cs typeface="Summer Font" charset="0"/>
              </a:defRPr>
            </a:lvl4pPr>
          </a:lstStyle>
          <a:p>
            <a:pPr lvl="0"/>
            <a:r>
              <a:rPr lang="en-US"/>
              <a:t>Chapter 1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996910" y="4035474"/>
            <a:ext cx="6402684" cy="67210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/>
          </p:nvPr>
        </p:nvSpPr>
        <p:spPr>
          <a:xfrm>
            <a:off x="246063" y="314482"/>
            <a:ext cx="3343275" cy="4318000"/>
          </a:xfrm>
        </p:spPr>
        <p:txBody>
          <a:bodyPr/>
          <a:lstStyle/>
          <a:p>
            <a:r>
              <a:rPr lang="en-US" dirty="0"/>
              <a:t>Click icon to add picture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24861" y="6356350"/>
            <a:ext cx="1699425" cy="383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FDBF05B8-008A-435C-BEB9-BA347195A6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23890" y="6375089"/>
            <a:ext cx="8843249" cy="365125"/>
          </a:xfr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en-US" dirty="0"/>
              <a:t>[Author Name], [Book Title], [#] Edition. © [Insert Year]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1764721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6721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843" y="6356350"/>
            <a:ext cx="1579562" cy="354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2225" y="6356350"/>
            <a:ext cx="9257732" cy="3540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lang="en-US" sz="1400" b="0" i="0" u="none" strike="noStrike" baseline="0" smtClean="0">
                <a:solidFill>
                  <a:srgbClr val="006298"/>
                </a:solidFill>
                <a:latin typeface="arial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Antill, 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4A78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21" r:id="rId2"/>
    <p:sldLayoutId id="2147483722" r:id="rId3"/>
    <p:sldLayoutId id="2147483714" r:id="rId4"/>
    <p:sldLayoutId id="2147483718" r:id="rId5"/>
    <p:sldLayoutId id="2147483715" r:id="rId6"/>
    <p:sldLayoutId id="2147483716" r:id="rId7"/>
    <p:sldLayoutId id="2147483719" r:id="rId8"/>
    <p:sldLayoutId id="2147483727" r:id="rId9"/>
    <p:sldLayoutId id="2147483728" r:id="rId10"/>
    <p:sldLayoutId id="2147483720" r:id="rId11"/>
    <p:sldLayoutId id="2147483723" r:id="rId12"/>
    <p:sldLayoutId id="2147483724" r:id="rId13"/>
    <p:sldLayoutId id="2147483713" r:id="rId14"/>
    <p:sldLayoutId id="2147483717" r:id="rId15"/>
    <p:sldLayoutId id="2147483729" r:id="rId16"/>
    <p:sldLayoutId id="2147483726" r:id="rId17"/>
    <p:sldLayoutId id="2147483725" r:id="rId18"/>
  </p:sldLayoutIdLst>
  <p:hf sldNum="0"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 b="1" i="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400">
          <a:solidFill>
            <a:schemeClr val="tx1"/>
          </a:solidFill>
          <a:latin typeface="Open Sans" charset="0"/>
          <a:ea typeface="Open Sans" charset="0"/>
          <a:cs typeface="Open Sans" charset="0"/>
        </a:defRPr>
      </a:lvl9pPr>
    </p:titleStyle>
    <p:bodyStyle>
      <a:lvl1pPr marL="0" indent="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None/>
        <a:defRPr sz="2800" kern="1200" baseline="0">
          <a:solidFill>
            <a:srgbClr val="000000"/>
          </a:solidFill>
          <a:latin typeface="Arial" charset="0"/>
          <a:ea typeface="Arial" charset="0"/>
          <a:cs typeface="Arial" charset="0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 baseline="0">
          <a:solidFill>
            <a:srgbClr val="004A78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32437B-505B-437D-B700-DB98649D4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0100" y="1901952"/>
            <a:ext cx="8037040" cy="1527048"/>
          </a:xfrm>
        </p:spPr>
        <p:txBody>
          <a:bodyPr anchor="ctr"/>
          <a:lstStyle/>
          <a:p>
            <a:pPr algn="ctr"/>
            <a:r>
              <a:rPr lang="en-US" sz="4000" b="0" dirty="0"/>
              <a:t>Hands-On Ethical Hacking and Network Defense,</a:t>
            </a:r>
            <a:br>
              <a:rPr lang="en-US" sz="4000" b="0" dirty="0"/>
            </a:br>
            <a:r>
              <a:rPr lang="en-US" sz="4000" b="0" dirty="0"/>
              <a:t>Edition 4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1DF6995-6A0D-4B55-9749-F555B7DB1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17175" y="3828650"/>
            <a:ext cx="6372223" cy="1116757"/>
          </a:xfrm>
        </p:spPr>
        <p:txBody>
          <a:bodyPr anchor="ctr"/>
          <a:lstStyle/>
          <a:p>
            <a:pPr algn="ctr"/>
            <a:r>
              <a:rPr lang="en-US" sz="3200" b="1" dirty="0"/>
              <a:t>Module 9: </a:t>
            </a:r>
            <a:r>
              <a:rPr lang="en-US" sz="3200" dirty="0"/>
              <a:t>Embedded Operating Systems: The Hidden Threat</a:t>
            </a: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BF92F8E3-AE5A-4A03-A6AF-648B72C79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923" r="923"/>
          <a:stretch>
            <a:fillRect/>
          </a:stretch>
        </p:blipFill>
        <p:spPr>
          <a:xfrm>
            <a:off x="246063" y="314325"/>
            <a:ext cx="3343275" cy="4318000"/>
          </a:xfrm>
        </p:spPr>
      </p:pic>
      <p:sp>
        <p:nvSpPr>
          <p:cNvPr id="7" name="Footer">
            <a:extLst>
              <a:ext uri="{FF2B5EF4-FFF2-40B4-BE49-F238E27FC236}">
                <a16:creationId xmlns:a16="http://schemas.microsoft.com/office/drawing/2014/main" id="{B1026838-50FD-462D-BFD6-82AA8692D3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08694" y="6347068"/>
            <a:ext cx="9058446" cy="441920"/>
          </a:xfrm>
        </p:spPr>
        <p:txBody>
          <a:bodyPr/>
          <a:lstStyle/>
          <a:p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Simpson, Antill</a:t>
            </a:r>
            <a:r>
              <a:rPr lang="en-US" sz="1400" dirty="0">
                <a:solidFill>
                  <a:schemeClr val="bg1"/>
                </a:solidFill>
                <a:latin typeface="arial" charset="0"/>
              </a:rPr>
              <a:t>,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Wilson, Hands-On Ethical Hacking and Network Defense, 4</a:t>
            </a:r>
            <a:r>
              <a:rPr kumimoji="0" lang="en-US" sz="1400" b="0" i="0" u="none" strike="noStrike" kern="1200" cap="none" spc="0" normalizeH="0" baseline="3000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th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Edition. © 2023 Cengage. All Rights Reserved. May not be scanned, copied or duplicated, or posted to a publicly accessible website, in whole or in part.</a:t>
            </a:r>
          </a:p>
        </p:txBody>
      </p:sp>
    </p:spTree>
    <p:extLst>
      <p:ext uri="{BB962C8B-B14F-4D97-AF65-F5344CB8AC3E}">
        <p14:creationId xmlns:p14="http://schemas.microsoft.com/office/powerpoint/2010/main" val="317249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Module Objectives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dirty="0"/>
              <a:t>By the end of this module, you should be able to: </a:t>
            </a:r>
          </a:p>
          <a:p>
            <a:pPr lvl="1">
              <a:defRPr/>
            </a:pPr>
            <a:r>
              <a:rPr lang="en-US" dirty="0"/>
              <a:t>Explain what embedded operating systems are and where they’re used</a:t>
            </a:r>
          </a:p>
          <a:p>
            <a:pPr lvl="1">
              <a:defRPr/>
            </a:pPr>
            <a:r>
              <a:rPr lang="en-US" dirty="0"/>
              <a:t>Describe the Internet of Things (IoT) and other embedded operating systems</a:t>
            </a:r>
          </a:p>
          <a:p>
            <a:pPr lvl="1">
              <a:defRPr/>
            </a:pPr>
            <a:r>
              <a:rPr lang="en-US" dirty="0"/>
              <a:t>Identify vulnerabilities of embedded operating systems and best practices for protecting them</a:t>
            </a:r>
          </a:p>
        </p:txBody>
      </p:sp>
    </p:spTree>
    <p:extLst>
      <p:ext uri="{BB962C8B-B14F-4D97-AF65-F5344CB8AC3E}">
        <p14:creationId xmlns:p14="http://schemas.microsoft.com/office/powerpoint/2010/main" val="54954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85C-E736-4579-9701-27091A38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sz="3200" dirty="0"/>
              <a:t>Introduction to Embedded Operating Systems (1 of 3)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B213-BEFF-48FD-A4A3-34D3E61861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b="1" dirty="0"/>
              <a:t>Embedded system </a:t>
            </a:r>
          </a:p>
          <a:p>
            <a:pPr lvl="1"/>
            <a:r>
              <a:rPr lang="en-US" altLang="en-US" dirty="0"/>
              <a:t>Any computer system that isn’t a general-purpose PC or server</a:t>
            </a:r>
          </a:p>
          <a:p>
            <a:pPr lvl="2"/>
            <a:r>
              <a:rPr lang="en-US" altLang="en-US" dirty="0"/>
              <a:t>Found in GPS devices, ATMs, and in a wide array of electronic consumer and industrial items</a:t>
            </a:r>
          </a:p>
          <a:p>
            <a:r>
              <a:rPr lang="en-US" altLang="en-US" b="1" dirty="0"/>
              <a:t>Embedded operating system (OS) </a:t>
            </a:r>
          </a:p>
          <a:p>
            <a:pPr lvl="1"/>
            <a:r>
              <a:rPr lang="en-US" altLang="en-US" dirty="0"/>
              <a:t>Small program developed specifically for use with embedded systems</a:t>
            </a:r>
          </a:p>
          <a:p>
            <a:pPr lvl="1"/>
            <a:r>
              <a:rPr lang="en-US" altLang="en-US" dirty="0"/>
              <a:t>Stripped-down version of OS commonly used on general-purpose computers</a:t>
            </a:r>
          </a:p>
          <a:p>
            <a:pPr lvl="2"/>
            <a:r>
              <a:rPr lang="en-US" altLang="en-US" dirty="0"/>
              <a:t>Designed to be small and efficient</a:t>
            </a:r>
          </a:p>
        </p:txBody>
      </p:sp>
    </p:spTree>
    <p:extLst>
      <p:ext uri="{BB962C8B-B14F-4D97-AF65-F5344CB8AC3E}">
        <p14:creationId xmlns:p14="http://schemas.microsoft.com/office/powerpoint/2010/main" val="1917845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85C-E736-4579-9701-27091A38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sz="3200" dirty="0"/>
              <a:t>Introduction to Embedded Operating Systems (2 of 3)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B213-BEFF-48FD-A4A3-34D3E61861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b="1" dirty="0"/>
              <a:t>Real-time operating system (RTOS)</a:t>
            </a:r>
          </a:p>
          <a:p>
            <a:pPr lvl="1"/>
            <a:r>
              <a:rPr lang="en-US" altLang="en-US" dirty="0"/>
              <a:t>Typically used in devices such as programmable thermostats, appliance controls, and spacecraft</a:t>
            </a:r>
          </a:p>
          <a:p>
            <a:r>
              <a:rPr lang="en-US" altLang="en-US" dirty="0"/>
              <a:t>Corporate buildings </a:t>
            </a:r>
          </a:p>
          <a:p>
            <a:pPr lvl="1"/>
            <a:r>
              <a:rPr lang="en-US" altLang="en-US" dirty="0"/>
              <a:t>May have many embedded systems</a:t>
            </a:r>
          </a:p>
          <a:p>
            <a:pPr lvl="2"/>
            <a:r>
              <a:rPr lang="en-US" altLang="en-US" dirty="0"/>
              <a:t>Firewalls, switches, routers, web-filtering appliances, network attached storage (NAS) devices, etc.</a:t>
            </a:r>
          </a:p>
          <a:p>
            <a:r>
              <a:rPr lang="en-US" altLang="en-US" dirty="0"/>
              <a:t>Embedded systems </a:t>
            </a:r>
          </a:p>
          <a:p>
            <a:pPr lvl="1"/>
            <a:r>
              <a:rPr lang="en-US" altLang="en-US" dirty="0"/>
              <a:t>Are in all networks</a:t>
            </a:r>
          </a:p>
          <a:p>
            <a:pPr lvl="1"/>
            <a:r>
              <a:rPr lang="en-US" altLang="en-US" dirty="0"/>
              <a:t>Perform essential functions</a:t>
            </a:r>
          </a:p>
          <a:p>
            <a:pPr lvl="2"/>
            <a:r>
              <a:rPr lang="en-US" altLang="en-US" dirty="0"/>
              <a:t>Route network traffic</a:t>
            </a:r>
          </a:p>
          <a:p>
            <a:pPr lvl="2"/>
            <a:r>
              <a:rPr lang="en-US" altLang="en-US" dirty="0"/>
              <a:t>Block suspicious packets</a:t>
            </a:r>
          </a:p>
        </p:txBody>
      </p:sp>
    </p:spTree>
    <p:extLst>
      <p:ext uri="{BB962C8B-B14F-4D97-AF65-F5344CB8AC3E}">
        <p14:creationId xmlns:p14="http://schemas.microsoft.com/office/powerpoint/2010/main" val="261404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0185C-E736-4579-9701-27091A38A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sz="3200" dirty="0"/>
              <a:t>Introduction to Embedded Operating Systems (3 of 3)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BB213-BEFF-48FD-A4A3-34D3E618618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Recently, security researchers reverse-engineered the software on a popular firewall’s chipset (</a:t>
            </a:r>
            <a:r>
              <a:rPr lang="en-US" altLang="en-US" b="1" dirty="0"/>
              <a:t>firmware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They inserted modified software to control the firewall’s behavior</a:t>
            </a:r>
          </a:p>
          <a:p>
            <a:pPr lvl="1"/>
            <a:r>
              <a:rPr lang="en-US" altLang="en-US" dirty="0"/>
              <a:t>Hackers who could do this could modify a firewall to copy network traffic passing through an interface</a:t>
            </a:r>
          </a:p>
          <a:p>
            <a:pPr lvl="2"/>
            <a:r>
              <a:rPr lang="en-US" altLang="en-US" dirty="0"/>
              <a:t>Could give an external IP address full access through the firewall</a:t>
            </a:r>
          </a:p>
        </p:txBody>
      </p:sp>
    </p:spTree>
    <p:extLst>
      <p:ext uri="{BB962C8B-B14F-4D97-AF65-F5344CB8AC3E}">
        <p14:creationId xmlns:p14="http://schemas.microsoft.com/office/powerpoint/2010/main" val="2140204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Knowledge Check Activity 9-1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10711543" cy="3732692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An embedded OS must be developed specifically for use with embedded systems. True or false?</a:t>
            </a:r>
          </a:p>
          <a:p>
            <a:pPr indent="-457200">
              <a:lnSpc>
                <a:spcPct val="91000"/>
              </a:lnSpc>
              <a:spcBef>
                <a:spcPts val="0"/>
              </a:spcBef>
              <a:spcAft>
                <a:spcPts val="800"/>
              </a:spcAft>
            </a:pPr>
            <a:endParaRPr lang="en-US" sz="2000" dirty="0"/>
          </a:p>
          <a:p>
            <a:pPr marL="457200" indent="-457200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</a:pPr>
            <a:r>
              <a:rPr lang="en-US" sz="2000" dirty="0"/>
              <a:t>True</a:t>
            </a:r>
          </a:p>
          <a:p>
            <a:pPr marL="457200" indent="-457200">
              <a:lnSpc>
                <a:spcPct val="91000"/>
              </a:lnSpc>
              <a:spcAft>
                <a:spcPts val="0"/>
              </a:spcAft>
              <a:buFont typeface="+mj-lt"/>
              <a:buAutoNum type="alphaLcPeriod"/>
            </a:pPr>
            <a:r>
              <a:rPr lang="en-US" sz="2000" dirty="0"/>
              <a:t>False</a:t>
            </a:r>
          </a:p>
        </p:txBody>
      </p:sp>
    </p:spTree>
    <p:extLst>
      <p:ext uri="{BB962C8B-B14F-4D97-AF65-F5344CB8AC3E}">
        <p14:creationId xmlns:p14="http://schemas.microsoft.com/office/powerpoint/2010/main" val="3330478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Knowledge Check Activity 9-1: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289684"/>
            <a:ext cx="10711543" cy="3732692"/>
          </a:xfrm>
        </p:spPr>
        <p:txBody>
          <a:bodyPr/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2000" dirty="0"/>
              <a:t>An embedded OS must be developed specifically for use with embedded systems. True or false?</a:t>
            </a:r>
          </a:p>
          <a:p>
            <a:endParaRPr lang="en-US" sz="2000" b="1" dirty="0"/>
          </a:p>
          <a:p>
            <a:r>
              <a:rPr lang="en-US" sz="2000" b="1" dirty="0"/>
              <a:t>Answer: b. False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000" b="1" dirty="0"/>
              <a:t>An embedded operating system can be a small program developed specifically for use with embedded systems, or it can be a stripped-down version of an OS commonly used on general-purpose computers.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805189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88F9-342C-4EF0-B9CE-95D987CA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Polling Activity 9-1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A6162-1611-47F6-A8D6-D4E02F3BA6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Which of the following describes an RTOS?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457200" indent="-457200">
              <a:buClr>
                <a:srgbClr val="000000"/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An embedded OS capable of multitasking and responding predictably</a:t>
            </a:r>
          </a:p>
          <a:p>
            <a:pPr marL="457200" indent="-457200">
              <a:buClr>
                <a:srgbClr val="000000"/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An embedded OS intended for real-time data manipulation</a:t>
            </a:r>
          </a:p>
          <a:p>
            <a:pPr marL="457200" indent="-457200">
              <a:buClr>
                <a:srgbClr val="000000"/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An embedded OS intended for packet analysis</a:t>
            </a:r>
          </a:p>
          <a:p>
            <a:pPr marL="457200" indent="-457200">
              <a:buClr>
                <a:srgbClr val="000000"/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An embedded OS intended for devices that run multiple OSs</a:t>
            </a:r>
          </a:p>
        </p:txBody>
      </p:sp>
    </p:spTree>
    <p:extLst>
      <p:ext uri="{BB962C8B-B14F-4D97-AF65-F5344CB8AC3E}">
        <p14:creationId xmlns:p14="http://schemas.microsoft.com/office/powerpoint/2010/main" val="31947758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Activity 9-1: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Which of the following describes an RTOS?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a. An embedded OS capable of multitasking and responding predictably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RTOS is designed with an algorithm aimed at multitasking and responding predictably.</a:t>
            </a:r>
          </a:p>
        </p:txBody>
      </p:sp>
    </p:spTree>
    <p:extLst>
      <p:ext uri="{BB962C8B-B14F-4D97-AF65-F5344CB8AC3E}">
        <p14:creationId xmlns:p14="http://schemas.microsoft.com/office/powerpoint/2010/main" val="22097172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588F9-342C-4EF0-B9CE-95D987CA9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dirty="0"/>
              <a:t>Polling Activity 9-2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A6162-1611-47F6-A8D6-D4E02F3BA6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Which of the following does not use an embedded OS?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ATM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Workstation running Windows 10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NAS device running Windows Server 2012 for Embedded Systems</a:t>
            </a:r>
          </a:p>
          <a:p>
            <a:pPr marL="457200" indent="-457200">
              <a:buClr>
                <a:schemeClr val="bg2">
                  <a:lumMod val="10000"/>
                </a:schemeClr>
              </a:buClr>
              <a:buFont typeface="+mj-lt"/>
              <a:buAutoNum type="alphaLcPeriod"/>
            </a:pPr>
            <a:r>
              <a:rPr lang="en-US" dirty="0">
                <a:solidFill>
                  <a:srgbClr val="000000"/>
                </a:solidFill>
              </a:rPr>
              <a:t>Slot machine</a:t>
            </a:r>
          </a:p>
        </p:txBody>
      </p:sp>
    </p:spTree>
    <p:extLst>
      <p:ext uri="{BB962C8B-B14F-4D97-AF65-F5344CB8AC3E}">
        <p14:creationId xmlns:p14="http://schemas.microsoft.com/office/powerpoint/2010/main" val="115220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Polling Activity 9-2: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Which of the following does not use an embedded OS?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b. Workstation running Windows 10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 workstation running Windows 10 uses a desktop PC that does not require an embedded operating system as it is running on a Windows OS.</a:t>
            </a:r>
          </a:p>
        </p:txBody>
      </p:sp>
    </p:spTree>
    <p:extLst>
      <p:ext uri="{BB962C8B-B14F-4D97-AF65-F5344CB8AC3E}">
        <p14:creationId xmlns:p14="http://schemas.microsoft.com/office/powerpoint/2010/main" val="2408480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233A-258F-40F3-9EAC-85EEA62B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Windows and Other Embedded Operating Systems (1 of 2)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6B04-DF53-4733-A983-09A6D7E30D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Recycling common code and reusing technologies</a:t>
            </a:r>
          </a:p>
          <a:p>
            <a:pPr lvl="1"/>
            <a:r>
              <a:rPr lang="en-US" altLang="en-US" dirty="0"/>
              <a:t>Sound software engineering practices</a:t>
            </a:r>
          </a:p>
          <a:p>
            <a:pPr lvl="2"/>
            <a:r>
              <a:rPr lang="en-US" altLang="en-US" dirty="0"/>
              <a:t>However, they introduce common points of failure in many products</a:t>
            </a:r>
          </a:p>
          <a:p>
            <a:pPr lvl="2"/>
            <a:r>
              <a:rPr lang="en-US" altLang="en-US" dirty="0"/>
              <a:t>Viruses, worms, Trojans, and other attack vectors take advantage of shared code</a:t>
            </a:r>
          </a:p>
          <a:p>
            <a:r>
              <a:rPr lang="en-US" altLang="en-US" dirty="0"/>
              <a:t>Windows and Linux vulnerabilities</a:t>
            </a:r>
          </a:p>
          <a:p>
            <a:pPr lvl="1"/>
            <a:r>
              <a:rPr lang="en-US" altLang="en-US" dirty="0"/>
              <a:t>Might also exist in embedded version</a:t>
            </a:r>
          </a:p>
          <a:p>
            <a:r>
              <a:rPr lang="en-US" altLang="en-US" dirty="0"/>
              <a:t>Windows CE</a:t>
            </a:r>
          </a:p>
          <a:p>
            <a:pPr lvl="1"/>
            <a:r>
              <a:rPr lang="en-US" altLang="en-US" dirty="0"/>
              <a:t>Trimmed-down version of the Windows desktop OS</a:t>
            </a:r>
          </a:p>
          <a:p>
            <a:pPr lvl="2"/>
            <a:r>
              <a:rPr lang="en-US" altLang="en-US" dirty="0"/>
              <a:t>Much of the rest of it is available to hardware vendors, partners, and developers, based on their licensing level</a:t>
            </a:r>
          </a:p>
          <a:p>
            <a:pPr lvl="1"/>
            <a:r>
              <a:rPr lang="en-US" altLang="en-US" dirty="0"/>
              <a:t>Some source code is available to the public</a:t>
            </a:r>
          </a:p>
          <a:p>
            <a:pPr lvl="2"/>
            <a:r>
              <a:rPr lang="en-US" altLang="en-US" dirty="0"/>
              <a:t>Rare in 2022, but still worth knowing about</a:t>
            </a:r>
          </a:p>
        </p:txBody>
      </p:sp>
    </p:spTree>
    <p:extLst>
      <p:ext uri="{BB962C8B-B14F-4D97-AF65-F5344CB8AC3E}">
        <p14:creationId xmlns:p14="http://schemas.microsoft.com/office/powerpoint/2010/main" val="3877498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233A-258F-40F3-9EAC-85EEA62B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Windows and Other Embedded Operating Systems (2 of 2)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6B04-DF53-4733-A983-09A6D7E30D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Windows 10 IoT</a:t>
            </a:r>
          </a:p>
          <a:p>
            <a:pPr lvl="1"/>
            <a:r>
              <a:rPr lang="en-US" altLang="en-US" dirty="0"/>
              <a:t>Provides full Windows API</a:t>
            </a:r>
          </a:p>
          <a:p>
            <a:pPr lvl="1"/>
            <a:r>
              <a:rPr lang="en-US" altLang="en-US" dirty="0"/>
              <a:t>Performs many of the same tasks as the personal computer (PC) version </a:t>
            </a:r>
          </a:p>
          <a:p>
            <a:pPr lvl="2"/>
            <a:r>
              <a:rPr lang="en-US" altLang="en-US" dirty="0"/>
              <a:t>Does not have a PC interface</a:t>
            </a:r>
          </a:p>
          <a:p>
            <a:pPr lvl="1"/>
            <a:r>
              <a:rPr lang="en-US" altLang="en-US" dirty="0"/>
              <a:t>Designed for use on commodity devices</a:t>
            </a:r>
          </a:p>
          <a:p>
            <a:pPr lvl="2"/>
            <a:r>
              <a:rPr lang="en-US" altLang="en-US" dirty="0"/>
              <a:t>Example: Raspberry Pi</a:t>
            </a:r>
          </a:p>
          <a:p>
            <a:pPr lvl="1"/>
            <a:r>
              <a:rPr lang="en-US" altLang="en-US" dirty="0"/>
              <a:t>Designed to make things easy for developers</a:t>
            </a:r>
          </a:p>
        </p:txBody>
      </p:sp>
    </p:spTree>
    <p:extLst>
      <p:ext uri="{BB962C8B-B14F-4D97-AF65-F5344CB8AC3E}">
        <p14:creationId xmlns:p14="http://schemas.microsoft.com/office/powerpoint/2010/main" val="29538842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0233A-258F-40F3-9EAC-85EEA62BD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Proprietary Embedded OSs (1 of 5)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E86B04-DF53-4733-A983-09A6D7E30D6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VxWorks </a:t>
            </a:r>
          </a:p>
          <a:p>
            <a:pPr lvl="1"/>
            <a:r>
              <a:rPr lang="en-US" altLang="en-US" dirty="0"/>
              <a:t>Widely used embedded real-time OS </a:t>
            </a:r>
          </a:p>
          <a:p>
            <a:pPr lvl="2"/>
            <a:r>
              <a:rPr lang="en-US" altLang="en-US" dirty="0"/>
              <a:t>Developed by Wind River Systems</a:t>
            </a:r>
          </a:p>
          <a:p>
            <a:pPr lvl="1"/>
            <a:r>
              <a:rPr lang="en-US" altLang="en-US" dirty="0"/>
              <a:t>Used in many different environments and applications</a:t>
            </a:r>
          </a:p>
          <a:p>
            <a:pPr lvl="1"/>
            <a:r>
              <a:rPr lang="en-US" altLang="en-US" dirty="0"/>
              <a:t>Designed to run efficiently on minimal hardware</a:t>
            </a:r>
          </a:p>
          <a:p>
            <a:pPr lvl="1"/>
            <a:r>
              <a:rPr lang="en-US" altLang="en-US" dirty="0"/>
              <a:t>Used by a variety of systems</a:t>
            </a:r>
          </a:p>
        </p:txBody>
      </p:sp>
    </p:spTree>
    <p:extLst>
      <p:ext uri="{BB962C8B-B14F-4D97-AF65-F5344CB8AC3E}">
        <p14:creationId xmlns:p14="http://schemas.microsoft.com/office/powerpoint/2010/main" val="842610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11939-29FF-4E2E-BE1B-7A71D4DC8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Proprietary Embedded OSs (2 of 5) </a:t>
            </a:r>
            <a:endParaRPr lang="en-IN" dirty="0"/>
          </a:p>
        </p:txBody>
      </p:sp>
      <p:pic>
        <p:nvPicPr>
          <p:cNvPr id="10" name="Picture Placeholder 9" descr="Wind River Workbench application development and test interface. The two open windows show project structure, code, terminal output, and executables.">
            <a:extLst>
              <a:ext uri="{FF2B5EF4-FFF2-40B4-BE49-F238E27FC236}">
                <a16:creationId xmlns:a16="http://schemas.microsoft.com/office/drawing/2014/main" id="{BB1087D9-B54C-47BC-B645-53CB48882DA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t="-311" b="276"/>
          <a:stretch/>
        </p:blipFill>
        <p:spPr>
          <a:xfrm>
            <a:off x="593634" y="1169122"/>
            <a:ext cx="6718979" cy="4983968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661DBB-F648-4688-91CC-7A0A0DD8554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5590051" y="4168101"/>
            <a:ext cx="3707552" cy="262425"/>
          </a:xfrm>
        </p:spPr>
        <p:txBody>
          <a:bodyPr/>
          <a:lstStyle/>
          <a:p>
            <a:r>
              <a:rPr lang="en-IN" dirty="0"/>
              <a:t>Source: Wind River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A241A2-F79A-456A-AFD7-8544E08EB98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907757" y="4928461"/>
            <a:ext cx="4284243" cy="914400"/>
          </a:xfrm>
        </p:spPr>
        <p:txBody>
          <a:bodyPr/>
          <a:lstStyle/>
          <a:p>
            <a:r>
              <a:rPr lang="en-US" b="1" dirty="0"/>
              <a:t>Figure 9-1 </a:t>
            </a:r>
            <a:r>
              <a:rPr lang="en-US" dirty="0"/>
              <a:t>Creating an embedded OS image in Wind River’s VxWorks Workbench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640708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Proprietary Embedded OSs (3 of 5) 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Green Hill Software produces a variety of embedded OSs</a:t>
            </a:r>
          </a:p>
          <a:p>
            <a:pPr lvl="1"/>
            <a:r>
              <a:rPr lang="en-US" altLang="en-US" dirty="0"/>
              <a:t>F-35 Joint Strike Fighter</a:t>
            </a:r>
          </a:p>
          <a:p>
            <a:pPr lvl="1"/>
            <a:r>
              <a:rPr lang="en-US" altLang="en-US" b="1" dirty="0"/>
              <a:t>Multiple independent levels of security/safety (MILS)</a:t>
            </a:r>
          </a:p>
          <a:p>
            <a:pPr lvl="2"/>
            <a:r>
              <a:rPr lang="en-US" altLang="en-US" dirty="0"/>
              <a:t>Embedded OS certified to run multiple levels of classification</a:t>
            </a:r>
          </a:p>
          <a:p>
            <a:pPr lvl="1"/>
            <a:r>
              <a:rPr lang="en-US" altLang="en-US" dirty="0"/>
              <a:t>Designs embedded OS code used in printers, routers, switches, etc.</a:t>
            </a:r>
          </a:p>
          <a:p>
            <a:r>
              <a:rPr lang="en-US" altLang="en-US" dirty="0"/>
              <a:t>QNX Software Systems QNX</a:t>
            </a:r>
          </a:p>
          <a:p>
            <a:pPr lvl="1"/>
            <a:r>
              <a:rPr lang="en-US" altLang="en-US" dirty="0"/>
              <a:t>Commercial RTOS</a:t>
            </a:r>
          </a:p>
          <a:p>
            <a:pPr lvl="1"/>
            <a:r>
              <a:rPr lang="en-US" altLang="en-US" dirty="0"/>
              <a:t>Used in Cisco’s ultrahigh-availability routers and Logitech universal remotes</a:t>
            </a:r>
          </a:p>
        </p:txBody>
      </p:sp>
    </p:spTree>
    <p:extLst>
      <p:ext uri="{BB962C8B-B14F-4D97-AF65-F5344CB8AC3E}">
        <p14:creationId xmlns:p14="http://schemas.microsoft.com/office/powerpoint/2010/main" val="14602561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Proprietary Embedded OSs (4 of 5) 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Real-Time Executive for Multiprocessor Systems (RTEMS)</a:t>
            </a:r>
          </a:p>
          <a:p>
            <a:pPr lvl="1"/>
            <a:r>
              <a:rPr lang="en-US" altLang="en-US" dirty="0"/>
              <a:t>An open-source embedded OS </a:t>
            </a:r>
          </a:p>
          <a:p>
            <a:pPr lvl="1"/>
            <a:r>
              <a:rPr lang="en-US" altLang="en-US" dirty="0"/>
              <a:t>Used in space systems </a:t>
            </a:r>
          </a:p>
          <a:p>
            <a:pPr lvl="2"/>
            <a:r>
              <a:rPr lang="en-US" altLang="en-US" dirty="0"/>
              <a:t>Support processors designed specifically to operate in space</a:t>
            </a:r>
          </a:p>
          <a:p>
            <a:r>
              <a:rPr lang="en-US" altLang="en-US" dirty="0"/>
              <a:t>Using multiple embedded OSs increases the attack surface</a:t>
            </a:r>
          </a:p>
          <a:p>
            <a:pPr lvl="1"/>
            <a:r>
              <a:rPr lang="en-US" altLang="en-US" dirty="0"/>
              <a:t>NASA has improved Mars Reconnaissance Orbiter’s survivability by using several small embedded OSs tailored for specific functions</a:t>
            </a:r>
          </a:p>
        </p:txBody>
      </p:sp>
    </p:spTree>
    <p:extLst>
      <p:ext uri="{BB962C8B-B14F-4D97-AF65-F5344CB8AC3E}">
        <p14:creationId xmlns:p14="http://schemas.microsoft.com/office/powerpoint/2010/main" val="39084845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Other Proprietary Embedded OSs (5 of 5) </a:t>
            </a:r>
            <a:endParaRPr lang="en-US" dirty="0"/>
          </a:p>
        </p:txBody>
      </p:sp>
      <p:pic>
        <p:nvPicPr>
          <p:cNvPr id="10" name="Picture Placeholder 9" descr="Diagram compares a monolithic kernel OS stack to a microkernel OS stack. The microkernel is smaller as it only has one layer between hardware and applications, whereas the monolithic kernel has four.">
            <a:extLst>
              <a:ext uri="{FF2B5EF4-FFF2-40B4-BE49-F238E27FC236}">
                <a16:creationId xmlns:a16="http://schemas.microsoft.com/office/drawing/2014/main" id="{3F49DF26-4638-40D5-98A3-DF94770675FA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l="1270" r="1174"/>
          <a:stretch/>
        </p:blipFill>
        <p:spPr>
          <a:xfrm>
            <a:off x="1766807" y="1299368"/>
            <a:ext cx="8290821" cy="425926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172C0-7660-483A-9B34-A08970434AF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24001" y="5800010"/>
            <a:ext cx="5543998" cy="439213"/>
          </a:xfrm>
        </p:spPr>
        <p:txBody>
          <a:bodyPr/>
          <a:lstStyle/>
          <a:p>
            <a:r>
              <a:rPr lang="en-US" b="1" dirty="0"/>
              <a:t>Figure 9-2 </a:t>
            </a:r>
            <a:r>
              <a:rPr lang="en-US" dirty="0"/>
              <a:t>Monolithic kernel versus microkernel OSs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5246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*Nix Embedded OSs (1 of 3)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>
            <a:noAutofit/>
          </a:bodyPr>
          <a:lstStyle/>
          <a:p>
            <a:r>
              <a:rPr lang="en-US" altLang="en-US" dirty="0"/>
              <a:t>Embedded Linux </a:t>
            </a:r>
          </a:p>
          <a:p>
            <a:pPr lvl="1"/>
            <a:r>
              <a:rPr lang="en-US" altLang="en-US" dirty="0"/>
              <a:t>Example of a monolithic OS used in industrial, medical, and consumer items</a:t>
            </a:r>
          </a:p>
          <a:p>
            <a:pPr lvl="1"/>
            <a:r>
              <a:rPr lang="en-US" altLang="en-US" dirty="0"/>
              <a:t>Embedded versions of Linux and other *nix OSs can be tailored for devices with limited memory or hard drive capacity</a:t>
            </a:r>
          </a:p>
          <a:p>
            <a:pPr lvl="1"/>
            <a:r>
              <a:rPr lang="en-US" altLang="en-US" dirty="0"/>
              <a:t>Advantage of monolithic kernel</a:t>
            </a:r>
          </a:p>
          <a:p>
            <a:pPr lvl="2"/>
            <a:r>
              <a:rPr lang="en-US" altLang="en-US" dirty="0"/>
              <a:t>Supports the widest variety of hardware </a:t>
            </a:r>
          </a:p>
          <a:p>
            <a:pPr lvl="2"/>
            <a:r>
              <a:rPr lang="en-US" altLang="en-US" dirty="0"/>
              <a:t>Allows adding features by using dynamic kernel modules</a:t>
            </a:r>
          </a:p>
        </p:txBody>
      </p:sp>
    </p:spTree>
    <p:extLst>
      <p:ext uri="{BB962C8B-B14F-4D97-AF65-F5344CB8AC3E}">
        <p14:creationId xmlns:p14="http://schemas.microsoft.com/office/powerpoint/2010/main" val="3692444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*Nix Embedded OSs (2 of 3)</a:t>
            </a:r>
            <a:endParaRPr lang="en-US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Wind River Linux</a:t>
            </a:r>
          </a:p>
          <a:p>
            <a:pPr lvl="1"/>
            <a:r>
              <a:rPr lang="en-US" altLang="en-US" dirty="0"/>
              <a:t>Linux OS for embedded systems</a:t>
            </a:r>
          </a:p>
          <a:p>
            <a:pPr lvl="1"/>
            <a:r>
              <a:rPr lang="en-US" altLang="en-US" dirty="0"/>
              <a:t>Produced by Wind River</a:t>
            </a:r>
          </a:p>
          <a:p>
            <a:pPr lvl="1"/>
            <a:r>
              <a:rPr lang="en-US" altLang="en-US" dirty="0"/>
              <a:t>Linux variant RTOS suitable for embedded applications</a:t>
            </a:r>
          </a:p>
          <a:p>
            <a:pPr lvl="2"/>
            <a:r>
              <a:rPr lang="en-US" altLang="en-US" dirty="0"/>
              <a:t>Requires a guaranteed response in a mathematically predictable manner</a:t>
            </a:r>
          </a:p>
          <a:p>
            <a:r>
              <a:rPr lang="en-US" altLang="en-US" dirty="0"/>
              <a:t>Linux dd-wrt</a:t>
            </a:r>
          </a:p>
          <a:p>
            <a:pPr lvl="1"/>
            <a:r>
              <a:rPr lang="en-US" altLang="en-US" dirty="0"/>
              <a:t>Embedded Linux OS</a:t>
            </a:r>
          </a:p>
          <a:p>
            <a:pPr lvl="1"/>
            <a:r>
              <a:rPr lang="en-US" altLang="en-US" dirty="0"/>
              <a:t>Initially designed for use on the Linksys WRT54G wireless router </a:t>
            </a:r>
          </a:p>
          <a:p>
            <a:pPr lvl="1"/>
            <a:r>
              <a:rPr lang="en-US" altLang="en-US" dirty="0"/>
              <a:t>Can be run on most small office or home routers</a:t>
            </a:r>
          </a:p>
        </p:txBody>
      </p:sp>
    </p:spTree>
    <p:extLst>
      <p:ext uri="{BB962C8B-B14F-4D97-AF65-F5344CB8AC3E}">
        <p14:creationId xmlns:p14="http://schemas.microsoft.com/office/powerpoint/2010/main" val="2909413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*Nix Embedded OSs (3 of 3)</a:t>
            </a:r>
            <a:endParaRPr lang="en-US" dirty="0"/>
          </a:p>
        </p:txBody>
      </p:sp>
      <p:pic>
        <p:nvPicPr>
          <p:cNvPr id="10" name="Picture Placeholder 9" descr="A basic setup configuration window for d d - w r t open source router software.">
            <a:extLst>
              <a:ext uri="{FF2B5EF4-FFF2-40B4-BE49-F238E27FC236}">
                <a16:creationId xmlns:a16="http://schemas.microsoft.com/office/drawing/2014/main" id="{40852695-02B9-481A-8C4C-CFBCFCE1A55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02" b="102"/>
          <a:stretch>
            <a:fillRect/>
          </a:stretch>
        </p:blipFill>
        <p:spPr>
          <a:xfrm>
            <a:off x="733117" y="1173365"/>
            <a:ext cx="7155519" cy="4705456"/>
          </a:xfr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8F2311-712F-4407-AD47-8558631997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6116748" y="3785346"/>
            <a:ext cx="3707552" cy="262425"/>
          </a:xfrm>
        </p:spPr>
        <p:txBody>
          <a:bodyPr/>
          <a:lstStyle/>
          <a:p>
            <a:r>
              <a:rPr lang="en-IN" dirty="0"/>
              <a:t>Source: GNU Public License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889CE-A269-4043-B7C7-E5D2298B76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4121" y="5155539"/>
            <a:ext cx="3877879" cy="439349"/>
          </a:xfrm>
        </p:spPr>
        <p:txBody>
          <a:bodyPr/>
          <a:lstStyle/>
          <a:p>
            <a:r>
              <a:rPr lang="en-US" b="1" dirty="0">
                <a:solidFill>
                  <a:srgbClr val="004A78"/>
                </a:solidFill>
              </a:rPr>
              <a:t>Figure 9-3 </a:t>
            </a:r>
            <a:r>
              <a:rPr lang="en-US" dirty="0">
                <a:solidFill>
                  <a:srgbClr val="004A78"/>
                </a:solidFill>
              </a:rPr>
              <a:t>Control panel for dd-wrt</a:t>
            </a:r>
            <a:endParaRPr lang="en-IN" dirty="0">
              <a:solidFill>
                <a:srgbClr val="004A7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1205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9-2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VxWorks is which of the following?</a:t>
            </a:r>
          </a:p>
          <a:p>
            <a:endParaRPr lang="en-US" sz="2000" dirty="0"/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Windows embedded OS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Proprietary embedded OS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Linux embedded OS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Windows security validation tool</a:t>
            </a:r>
          </a:p>
        </p:txBody>
      </p:sp>
    </p:spTree>
    <p:extLst>
      <p:ext uri="{BB962C8B-B14F-4D97-AF65-F5344CB8AC3E}">
        <p14:creationId xmlns:p14="http://schemas.microsoft.com/office/powerpoint/2010/main" val="22227424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Knowledge Check Activity 9-2: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VxWorks is which of the following?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b. Proprietary embedded OS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VxWorks is a proprietary embedded real-time OS developed by Wind River Systems.</a:t>
            </a:r>
          </a:p>
        </p:txBody>
      </p:sp>
    </p:spTree>
    <p:extLst>
      <p:ext uri="{BB962C8B-B14F-4D97-AF65-F5344CB8AC3E}">
        <p14:creationId xmlns:p14="http://schemas.microsoft.com/office/powerpoint/2010/main" val="39590718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9F49D-B5B7-4EF9-9FA8-A2AD1A13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Vulnerabilities of Embedded OSs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4F286-8DF4-49F9-81A5-0E1B45EB6F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Impact of attacks have become more serious</a:t>
            </a:r>
          </a:p>
          <a:p>
            <a:pPr lvl="1"/>
            <a:r>
              <a:rPr lang="en-US" altLang="en-US" dirty="0"/>
              <a:t>Embedded OSs are no exception</a:t>
            </a:r>
          </a:p>
          <a:p>
            <a:r>
              <a:rPr lang="en-US" altLang="en-US" dirty="0"/>
              <a:t>Easiest way to profit from hacking </a:t>
            </a:r>
          </a:p>
          <a:p>
            <a:pPr lvl="1"/>
            <a:r>
              <a:rPr lang="en-US" altLang="en-US" dirty="0"/>
              <a:t>Attack devices that store and dispense cash (e.g., ATMs)</a:t>
            </a:r>
          </a:p>
          <a:p>
            <a:pPr lvl="1"/>
            <a:r>
              <a:rPr lang="en-US" altLang="en-US" dirty="0"/>
              <a:t>ATMs are vulnerable to attacks upon their software performed locally or remotely</a:t>
            </a:r>
          </a:p>
          <a:p>
            <a:pPr lvl="2"/>
            <a:r>
              <a:rPr lang="en-US" altLang="en-US" dirty="0"/>
              <a:t>Physical attacks can also occur, which involve the use of card skimmers or even stealing the machines</a:t>
            </a:r>
          </a:p>
        </p:txBody>
      </p:sp>
    </p:spTree>
    <p:extLst>
      <p:ext uri="{BB962C8B-B14F-4D97-AF65-F5344CB8AC3E}">
        <p14:creationId xmlns:p14="http://schemas.microsoft.com/office/powerpoint/2010/main" val="33381650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9F49D-B5B7-4EF9-9FA8-A2AD1A13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Embedded OSs Are Everywhere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4F286-8DF4-49F9-81A5-0E1B45EB6F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>
            <a:noAutofit/>
          </a:bodyPr>
          <a:lstStyle/>
          <a:p>
            <a:r>
              <a:rPr lang="en-US" altLang="en-US" dirty="0"/>
              <a:t>Embedded systems with Y2K software flaw were located everywhere</a:t>
            </a:r>
          </a:p>
          <a:p>
            <a:pPr lvl="1"/>
            <a:r>
              <a:rPr lang="en-US" altLang="en-US" dirty="0"/>
              <a:t>Today, there are many more embedded devices to be concerned about than in 2000</a:t>
            </a:r>
          </a:p>
          <a:p>
            <a:pPr lvl="2"/>
            <a:r>
              <a:rPr lang="en-US" altLang="en-US" dirty="0"/>
              <a:t>Are under attack from hackers and terrorists who want to further their financial or political causes</a:t>
            </a:r>
          </a:p>
          <a:p>
            <a:pPr lvl="2"/>
            <a:r>
              <a:rPr lang="en-US" altLang="en-US" dirty="0"/>
              <a:t>Addressing security early in the design phase is essential</a:t>
            </a:r>
          </a:p>
        </p:txBody>
      </p:sp>
    </p:spTree>
    <p:extLst>
      <p:ext uri="{BB962C8B-B14F-4D97-AF65-F5344CB8AC3E}">
        <p14:creationId xmlns:p14="http://schemas.microsoft.com/office/powerpoint/2010/main" val="27752475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59F49D-B5B7-4EF9-9FA8-A2AD1A13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Embedded OSs Are Networked (1 of 2)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4F286-8DF4-49F9-81A5-0E1B45EB6F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>
            <a:noAutofit/>
          </a:bodyPr>
          <a:lstStyle/>
          <a:p>
            <a:r>
              <a:rPr lang="en-US" altLang="en-US" dirty="0"/>
              <a:t>Advantages of connecting to a network</a:t>
            </a:r>
          </a:p>
          <a:p>
            <a:pPr lvl="1"/>
            <a:r>
              <a:rPr lang="en-US" altLang="en-US" dirty="0"/>
              <a:t>Efficiency and economy</a:t>
            </a:r>
          </a:p>
          <a:p>
            <a:pPr lvl="1"/>
            <a:r>
              <a:rPr lang="en-US" altLang="en-US" dirty="0"/>
              <a:t>Ability to manage systems and share services while keeping the amount of human resources and expertise is minimal</a:t>
            </a:r>
          </a:p>
          <a:p>
            <a:pPr lvl="2"/>
            <a:r>
              <a:rPr lang="en-US" altLang="en-US" dirty="0"/>
              <a:t>Helps companies reduce costs</a:t>
            </a:r>
          </a:p>
          <a:p>
            <a:r>
              <a:rPr lang="en-US" altLang="en-US" dirty="0"/>
              <a:t>Gaining efficiency and reducing costs have a price</a:t>
            </a:r>
          </a:p>
          <a:p>
            <a:pPr lvl="1"/>
            <a:r>
              <a:rPr lang="en-US" altLang="en-US" dirty="0"/>
              <a:t>Any device added to a network infrastructure increases the potential for security problems</a:t>
            </a:r>
          </a:p>
        </p:txBody>
      </p:sp>
    </p:spTree>
    <p:extLst>
      <p:ext uri="{BB962C8B-B14F-4D97-AF65-F5344CB8AC3E}">
        <p14:creationId xmlns:p14="http://schemas.microsoft.com/office/powerpoint/2010/main" val="1783778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B80130-72C9-41FC-8599-88CBF27BC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Embedded OSs Are Networked (2 of 2)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60DD7E-8221-45EC-B849-91DC33361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Security testers should address questions such as the following:</a:t>
            </a:r>
          </a:p>
          <a:p>
            <a:pPr lvl="1"/>
            <a:r>
              <a:rPr lang="en-US" altLang="en-US" dirty="0"/>
              <a:t>What Peripheral Component Interconnect (PCI) or USB devices are present?</a:t>
            </a:r>
          </a:p>
          <a:p>
            <a:pPr lvl="1"/>
            <a:r>
              <a:rPr lang="en-US" altLang="en-US" dirty="0"/>
              <a:t>Where were they manufactured? Is the supply chain trustworthy?</a:t>
            </a:r>
          </a:p>
          <a:p>
            <a:pPr lvl="1"/>
            <a:r>
              <a:rPr lang="en-US" altLang="en-US" dirty="0"/>
              <a:t>Which devices have embedded OSs stored in rewriteable (nonvolatile) memory? Rewriteable memory can be flashed</a:t>
            </a:r>
          </a:p>
          <a:p>
            <a:pPr lvl="1"/>
            <a:r>
              <a:rPr lang="en-US" altLang="en-US" dirty="0"/>
              <a:t>Which embedded OS is currently loaded on each device?</a:t>
            </a:r>
          </a:p>
          <a:p>
            <a:pPr lvl="1"/>
            <a:r>
              <a:rPr lang="en-US" altLang="en-US" dirty="0"/>
              <a:t>Can you make sure the embedded OS hasn’t been corrupted or subverted with malicious code?</a:t>
            </a:r>
          </a:p>
        </p:txBody>
      </p:sp>
    </p:spTree>
    <p:extLst>
      <p:ext uri="{BB962C8B-B14F-4D97-AF65-F5344CB8AC3E}">
        <p14:creationId xmlns:p14="http://schemas.microsoft.com/office/powerpoint/2010/main" val="38312892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AD0F13-2FAF-4F1D-A722-A5FDCF9D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Embedded OSs Are Difficult to Patch (1 of 2)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5CD120-AFFC-4BEA-A617-47DCF0109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General-purpose desktop OSs</a:t>
            </a:r>
          </a:p>
          <a:p>
            <a:pPr lvl="1"/>
            <a:r>
              <a:rPr lang="en-US" altLang="en-US" dirty="0"/>
              <a:t>Wait for vulnerability to be identified, then download, and install the patch when it’s available</a:t>
            </a:r>
          </a:p>
          <a:p>
            <a:pPr lvl="1"/>
            <a:r>
              <a:rPr lang="en-US" altLang="en-US" dirty="0"/>
              <a:t>Restart the system, if necessary</a:t>
            </a:r>
          </a:p>
          <a:p>
            <a:pPr lvl="1"/>
            <a:r>
              <a:rPr lang="en-US" altLang="en-US" dirty="0"/>
              <a:t>Patching is simple</a:t>
            </a:r>
          </a:p>
          <a:p>
            <a:r>
              <a:rPr lang="en-US" altLang="en-US" dirty="0"/>
              <a:t>Embedded OSs</a:t>
            </a:r>
          </a:p>
          <a:p>
            <a:pPr lvl="1"/>
            <a:r>
              <a:rPr lang="en-US" altLang="en-US" dirty="0"/>
              <a:t>Must continue operating regardless of threats, particularly in critical systems</a:t>
            </a:r>
          </a:p>
          <a:p>
            <a:pPr lvl="1"/>
            <a:r>
              <a:rPr lang="en-US" altLang="en-US" dirty="0"/>
              <a:t>Patching may be a problem</a:t>
            </a:r>
          </a:p>
          <a:p>
            <a:pPr lvl="2"/>
            <a:r>
              <a:rPr lang="en-US" altLang="en-US" dirty="0"/>
              <a:t>System administrators may have no clue how to patch a web server running on a tiny chip</a:t>
            </a:r>
          </a:p>
          <a:p>
            <a:pPr lvl="1"/>
            <a:r>
              <a:rPr lang="en-US" altLang="en-US" dirty="0"/>
              <a:t>Buffer overflow attacks might be successful </a:t>
            </a:r>
          </a:p>
          <a:p>
            <a:pPr lvl="2"/>
            <a:r>
              <a:rPr lang="en-US" altLang="en-US" dirty="0"/>
              <a:t>Because few updates are released to correct vulnerabilities</a:t>
            </a:r>
          </a:p>
          <a:p>
            <a:pPr lvl="2"/>
            <a:r>
              <a:rPr lang="en-US" altLang="en-US" dirty="0"/>
              <a:t>Manufacturers typically prefer system upgrades</a:t>
            </a:r>
          </a:p>
        </p:txBody>
      </p:sp>
    </p:spTree>
    <p:extLst>
      <p:ext uri="{BB962C8B-B14F-4D97-AF65-F5344CB8AC3E}">
        <p14:creationId xmlns:p14="http://schemas.microsoft.com/office/powerpoint/2010/main" val="2889854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91AD0F13-2FAF-4F1D-A722-A5FDCF9DA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Embedded OSs Are Difficult to Patch (2 of 2) 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5CD120-AFFC-4BEA-A617-47DCF0109B5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Open-source software </a:t>
            </a:r>
          </a:p>
          <a:p>
            <a:pPr lvl="1"/>
            <a:r>
              <a:rPr lang="en-US" altLang="en-US" dirty="0"/>
              <a:t>Cost of developing and patching is shared by the entire open-source community</a:t>
            </a:r>
          </a:p>
          <a:p>
            <a:r>
              <a:rPr lang="en-US" altLang="en-US" dirty="0"/>
              <a:t>Patching Linux kernel </a:t>
            </a:r>
          </a:p>
          <a:p>
            <a:pPr lvl="1"/>
            <a:r>
              <a:rPr lang="en-US" altLang="en-US" dirty="0"/>
              <a:t>Cost in programmer hours is estimated at tens of billions of dollars</a:t>
            </a:r>
          </a:p>
          <a:p>
            <a:r>
              <a:rPr lang="en-US" altLang="en-US" dirty="0"/>
              <a:t>Linux kernel offers flexibility and support for sophisticated features</a:t>
            </a:r>
          </a:p>
          <a:p>
            <a:pPr lvl="1"/>
            <a:r>
              <a:rPr lang="en-US" altLang="en-US" dirty="0"/>
              <a:t>Large; has many code portions that might need to be patched</a:t>
            </a:r>
          </a:p>
          <a:p>
            <a:r>
              <a:rPr lang="en-US" altLang="en-US" dirty="0"/>
              <a:t>Fixing minor vulnerabilities that are expensive to fix in embedded OSs</a:t>
            </a:r>
          </a:p>
          <a:p>
            <a:pPr lvl="1"/>
            <a:r>
              <a:rPr lang="en-US" altLang="en-US" dirty="0"/>
              <a:t>Programmer must weigh the cost of fixing the vulnerability against the importance of the information the embedded system controls</a:t>
            </a:r>
          </a:p>
        </p:txBody>
      </p:sp>
    </p:spTree>
    <p:extLst>
      <p:ext uri="{BB962C8B-B14F-4D97-AF65-F5344CB8AC3E}">
        <p14:creationId xmlns:p14="http://schemas.microsoft.com/office/powerpoint/2010/main" val="20388998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E98-384B-4A37-9AC9-ACAAC680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Embedded OSs Are in Networking Devices (1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D6E0-DE58-42D3-A2D7-3F26486CBD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Networking devices usually have software and hardware designed to transmit information across networks</a:t>
            </a:r>
          </a:p>
          <a:p>
            <a:r>
              <a:rPr lang="en-US" altLang="en-US" dirty="0"/>
              <a:t>General-purpose computers originally performed routing and switching</a:t>
            </a:r>
          </a:p>
          <a:p>
            <a:pPr lvl="1"/>
            <a:r>
              <a:rPr lang="en-US" altLang="en-US" dirty="0"/>
              <a:t>High-speed networks now use specialized hardware and embedded OSs</a:t>
            </a:r>
          </a:p>
          <a:p>
            <a:r>
              <a:rPr lang="en-US" altLang="en-US" dirty="0"/>
              <a:t>Attacks that compromise a router can give attackers the complete access to every host on the network</a:t>
            </a:r>
          </a:p>
          <a:p>
            <a:r>
              <a:rPr lang="en-US" altLang="en-US" dirty="0"/>
              <a:t>Attackers follow usual methods of footprinting, scanning, and enumerating the target to compromise an entire network</a:t>
            </a:r>
          </a:p>
        </p:txBody>
      </p:sp>
    </p:spTree>
    <p:extLst>
      <p:ext uri="{BB962C8B-B14F-4D97-AF65-F5344CB8AC3E}">
        <p14:creationId xmlns:p14="http://schemas.microsoft.com/office/powerpoint/2010/main" val="25327736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E98-384B-4A37-9AC9-ACAAC6805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Embedded OSs Are in Networking Devices (2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7FD6E0-DE58-42D3-A2D7-3F26486CBD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Authentication bypass vulnerability</a:t>
            </a:r>
          </a:p>
          <a:p>
            <a:pPr lvl="1"/>
            <a:r>
              <a:rPr lang="en-US" altLang="en-US" dirty="0"/>
              <a:t>A common vulnerability of routers and other network devices with built-in web management interfaces</a:t>
            </a:r>
          </a:p>
          <a:p>
            <a:pPr lvl="1"/>
            <a:r>
              <a:rPr lang="en-US" altLang="en-US" dirty="0"/>
              <a:t>Specially crafted URL bypasses the normal authentication mechanism</a:t>
            </a:r>
          </a:p>
          <a:p>
            <a:r>
              <a:rPr lang="en-US" altLang="en-US" dirty="0"/>
              <a:t>After bypassing authentication, attackers can launch other network attacks </a:t>
            </a:r>
          </a:p>
          <a:p>
            <a:pPr lvl="1"/>
            <a:r>
              <a:rPr lang="en-US" altLang="en-US" dirty="0"/>
              <a:t>They use the access gained through compromising the router</a:t>
            </a:r>
          </a:p>
        </p:txBody>
      </p:sp>
    </p:spTree>
    <p:extLst>
      <p:ext uri="{BB962C8B-B14F-4D97-AF65-F5344CB8AC3E}">
        <p14:creationId xmlns:p14="http://schemas.microsoft.com/office/powerpoint/2010/main" val="2866685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4B80130-72C9-41FC-8599-88CBF27BC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2105"/>
          </a:xfrm>
        </p:spPr>
        <p:txBody>
          <a:bodyPr/>
          <a:lstStyle/>
          <a:p>
            <a:r>
              <a:rPr lang="en-US" altLang="en-US" dirty="0"/>
              <a:t>Embedded OSs Are in Network Peripherals (1 of 3)</a:t>
            </a: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560DD7E-8221-45EC-B849-91DC333616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43576" y="1638300"/>
            <a:ext cx="10711543" cy="4394200"/>
          </a:xfrm>
        </p:spPr>
        <p:txBody>
          <a:bodyPr/>
          <a:lstStyle/>
          <a:p>
            <a:r>
              <a:rPr lang="en-US" altLang="en-US" dirty="0"/>
              <a:t>Common peripheral devices on an organization’s network: </a:t>
            </a:r>
          </a:p>
          <a:p>
            <a:pPr lvl="1"/>
            <a:r>
              <a:rPr lang="en-US" altLang="en-US" dirty="0"/>
              <a:t>Include printers, scanners, copiers, and fax devices</a:t>
            </a:r>
          </a:p>
          <a:p>
            <a:r>
              <a:rPr lang="en-US" altLang="en-US" b="1" dirty="0"/>
              <a:t>Multifunction devices (MFDs) </a:t>
            </a:r>
          </a:p>
          <a:p>
            <a:pPr lvl="1"/>
            <a:r>
              <a:rPr lang="en-US" altLang="en-US" dirty="0"/>
              <a:t>Perform more than one function</a:t>
            </a:r>
          </a:p>
          <a:p>
            <a:pPr lvl="1"/>
            <a:r>
              <a:rPr lang="en-US" altLang="en-US" dirty="0"/>
              <a:t>Rarely scanned for vulnerabilities or configured for security</a:t>
            </a:r>
          </a:p>
          <a:p>
            <a:pPr lvl="1"/>
            <a:r>
              <a:rPr lang="en-US" altLang="en-US" dirty="0"/>
              <a:t>Have embedded OSs with sensitive information</a:t>
            </a:r>
          </a:p>
          <a:p>
            <a:pPr lvl="2"/>
            <a:r>
              <a:rPr lang="en-US" altLang="en-US" dirty="0"/>
              <a:t>Information may be susceptible to theft and modification</a:t>
            </a:r>
          </a:p>
          <a:p>
            <a:pPr lvl="2"/>
            <a:r>
              <a:rPr lang="en-US" altLang="en-US" dirty="0"/>
              <a:t>Malware or malicious links can be inserted into the OSs</a:t>
            </a:r>
          </a:p>
          <a:p>
            <a:pPr lvl="2"/>
            <a:r>
              <a:rPr lang="en-US" altLang="en-US" dirty="0"/>
              <a:t>Social-engineering techniques may be used by attackers to masquerade as support technicians</a:t>
            </a:r>
          </a:p>
          <a:p>
            <a:r>
              <a:rPr lang="en-US" altLang="en-US" dirty="0"/>
              <a:t>Printers should be reconfigured before connecting them to a network</a:t>
            </a:r>
          </a:p>
          <a:p>
            <a:pPr lvl="1"/>
            <a:r>
              <a:rPr lang="en-US" altLang="en-US" dirty="0"/>
              <a:t>Most printers have only TCP/IP enabled, but unfortunately, default administrator usernames and passwords are still configured</a:t>
            </a:r>
          </a:p>
        </p:txBody>
      </p:sp>
    </p:spTree>
    <p:extLst>
      <p:ext uri="{BB962C8B-B14F-4D97-AF65-F5344CB8AC3E}">
        <p14:creationId xmlns:p14="http://schemas.microsoft.com/office/powerpoint/2010/main" val="6709726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59EE7B-1CB2-432F-BF8E-572FFEDD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Embedded OSs Are in Network Peripherals (2 of 3)</a:t>
            </a:r>
            <a:endParaRPr lang="en-IN" dirty="0"/>
          </a:p>
        </p:txBody>
      </p:sp>
      <p:pic>
        <p:nvPicPr>
          <p:cNvPr id="10" name="Picture Placeholder 9" descr="A sample of output generated by PewDiePie printer hack, including What To Do steps.">
            <a:extLst>
              <a:ext uri="{FF2B5EF4-FFF2-40B4-BE49-F238E27FC236}">
                <a16:creationId xmlns:a16="http://schemas.microsoft.com/office/drawing/2014/main" id="{97DDF9FC-327A-48A7-9121-C6A5E1C3F5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1957" r="6"/>
          <a:stretch/>
        </p:blipFill>
        <p:spPr>
          <a:xfrm>
            <a:off x="1859795" y="1156200"/>
            <a:ext cx="7625166" cy="440243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5499B-DA2B-41F9-8612-5749D47E32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7762397" y="3469980"/>
            <a:ext cx="3707552" cy="262425"/>
          </a:xfrm>
        </p:spPr>
        <p:txBody>
          <a:bodyPr/>
          <a:lstStyle/>
          <a:p>
            <a:r>
              <a:rPr lang="en-IN" dirty="0"/>
              <a:t>Source: bbc.com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AC099-0E34-4FC4-AA4B-73D7D5801B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25427" y="5677602"/>
            <a:ext cx="4516716" cy="423851"/>
          </a:xfrm>
        </p:spPr>
        <p:txBody>
          <a:bodyPr/>
          <a:lstStyle/>
          <a:p>
            <a:r>
              <a:rPr lang="en-US" b="1" dirty="0"/>
              <a:t>Figure 9-4 </a:t>
            </a:r>
            <a:r>
              <a:rPr lang="en-US" dirty="0"/>
              <a:t>PewDiePie Printer Hack Output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512558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259EE7B-1CB2-432F-BF8E-572FFEDD2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Embedded OSs Are in Network Peripherals (3 of 3)</a:t>
            </a:r>
            <a:endParaRPr lang="en-IN" dirty="0"/>
          </a:p>
        </p:txBody>
      </p:sp>
      <p:pic>
        <p:nvPicPr>
          <p:cNvPr id="10" name="Picture Placeholder 9" descr="An upload window being used to upload a firmware binary file to a Xerox printer.">
            <a:extLst>
              <a:ext uri="{FF2B5EF4-FFF2-40B4-BE49-F238E27FC236}">
                <a16:creationId xmlns:a16="http://schemas.microsoft.com/office/drawing/2014/main" id="{0C661C62-3635-4B8F-B341-427EDCE6F3D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7346" t="2070" b="-68"/>
          <a:stretch/>
        </p:blipFill>
        <p:spPr>
          <a:xfrm>
            <a:off x="1208868" y="1255363"/>
            <a:ext cx="6001250" cy="509894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35499B-DA2B-41F9-8612-5749D47E32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 rot="16200000">
            <a:off x="5487555" y="4219897"/>
            <a:ext cx="3707552" cy="262425"/>
          </a:xfrm>
        </p:spPr>
        <p:txBody>
          <a:bodyPr/>
          <a:lstStyle/>
          <a:p>
            <a:r>
              <a:rPr lang="en-IN" dirty="0"/>
              <a:t>Source: Xerox Corporation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2AC099-0E34-4FC4-AA4B-73D7D5801BA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42142" y="5295025"/>
            <a:ext cx="4076054" cy="516840"/>
          </a:xfrm>
        </p:spPr>
        <p:txBody>
          <a:bodyPr/>
          <a:lstStyle/>
          <a:p>
            <a:r>
              <a:rPr lang="en-US" b="1" dirty="0"/>
              <a:t>Figure 9-5 </a:t>
            </a:r>
            <a:r>
              <a:rPr lang="en-US" dirty="0"/>
              <a:t>Firmware file being uploaded to a networked printer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63682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39FB-3950-4321-BCE5-7AC1CE99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Supervisory Control and Data Acquisition Systems (SCADA) (1 of 2)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142D6-5C3A-42A0-8A74-3508292269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Used for equipment monitoring in large industries where automation is critical, such as public works and utilities</a:t>
            </a:r>
          </a:p>
          <a:p>
            <a:r>
              <a:rPr lang="en-US" altLang="en-US" dirty="0"/>
              <a:t>May have many embedded systems as components</a:t>
            </a:r>
          </a:p>
          <a:p>
            <a:pPr lvl="1"/>
            <a:r>
              <a:rPr lang="en-US" altLang="en-US" dirty="0"/>
              <a:t>Components might be vulnerable through data fed in and out of them or through their embedded OSs</a:t>
            </a:r>
          </a:p>
          <a:p>
            <a:r>
              <a:rPr lang="en-US" altLang="en-US" dirty="0"/>
              <a:t>SCADA systems controlling critical infrastructure are usually separated from the Internet by an “air gap”</a:t>
            </a:r>
          </a:p>
        </p:txBody>
      </p:sp>
    </p:spTree>
    <p:extLst>
      <p:ext uri="{BB962C8B-B14F-4D97-AF65-F5344CB8AC3E}">
        <p14:creationId xmlns:p14="http://schemas.microsoft.com/office/powerpoint/2010/main" val="37468763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339FB-3950-4321-BCE5-7AC1CE997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dirty="0"/>
              <a:t>Supervisory Control and Data Acquisition Systems (SCADA) (2 of 2)</a:t>
            </a:r>
            <a:endParaRPr lang="en-IN" sz="28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9142D6-5C3A-42A0-8A74-3508292269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December 2015</a:t>
            </a:r>
          </a:p>
          <a:p>
            <a:pPr lvl="1"/>
            <a:r>
              <a:rPr lang="en-US" altLang="en-US" dirty="0"/>
              <a:t>An attack on a Ukrainian power plant left about 700,000 people in the dark for a few hours</a:t>
            </a:r>
          </a:p>
          <a:p>
            <a:pPr lvl="1"/>
            <a:r>
              <a:rPr lang="en-US" altLang="en-US" dirty="0"/>
              <a:t>Later, it was uncovered that a piece of malicious code named “Black-Energy” was introduced to infect systems at the power plant</a:t>
            </a:r>
          </a:p>
          <a:p>
            <a:pPr lvl="2"/>
            <a:r>
              <a:rPr lang="en-US" altLang="en-US" dirty="0"/>
              <a:t>It is assumed that attackers interacted with a SCADA system to interrupt the flow of power</a:t>
            </a:r>
          </a:p>
        </p:txBody>
      </p:sp>
    </p:spTree>
    <p:extLst>
      <p:ext uri="{BB962C8B-B14F-4D97-AF65-F5344CB8AC3E}">
        <p14:creationId xmlns:p14="http://schemas.microsoft.com/office/powerpoint/2010/main" val="4416839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4A3E9-337E-48CA-A03D-2AEEA3681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Cell Phones, Smartphones, and PDAs (1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2DAB88-4E38-4590-89B6-A9C9EC45F5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Conversations over traditional phones </a:t>
            </a:r>
          </a:p>
          <a:p>
            <a:pPr lvl="1"/>
            <a:r>
              <a:rPr lang="en-US" altLang="en-US" dirty="0"/>
              <a:t>Considered protected</a:t>
            </a:r>
          </a:p>
          <a:p>
            <a:pPr lvl="1"/>
            <a:r>
              <a:rPr lang="en-US" altLang="en-US" dirty="0"/>
              <a:t>Used to require a lot of time, expensive equipment, and a warrant</a:t>
            </a:r>
          </a:p>
          <a:p>
            <a:pPr lvl="1"/>
            <a:r>
              <a:rPr lang="en-US" altLang="en-US" dirty="0"/>
              <a:t>Many have the same security expectations of cell phones, smartphones, and smartphones</a:t>
            </a:r>
          </a:p>
          <a:p>
            <a:r>
              <a:rPr lang="en-US" altLang="en-US" dirty="0"/>
              <a:t>Cell phone vulnerabilities include the following:</a:t>
            </a:r>
          </a:p>
          <a:p>
            <a:pPr lvl="1"/>
            <a:r>
              <a:rPr lang="en-US" altLang="en-US" dirty="0"/>
              <a:t>Attackers listening to your phone calls</a:t>
            </a:r>
          </a:p>
          <a:p>
            <a:pPr lvl="1"/>
            <a:r>
              <a:rPr lang="en-US" altLang="en-US" dirty="0"/>
              <a:t>Using the phone as a microphone</a:t>
            </a:r>
          </a:p>
          <a:p>
            <a:pPr lvl="1"/>
            <a:r>
              <a:rPr lang="en-US" altLang="en-US" dirty="0"/>
              <a:t>“Cloning” the phone to make long-distance calls</a:t>
            </a:r>
          </a:p>
          <a:p>
            <a:pPr lvl="1"/>
            <a:r>
              <a:rPr lang="en-US" altLang="en-US" dirty="0"/>
              <a:t>Get useful information for computer or network access</a:t>
            </a:r>
          </a:p>
          <a:p>
            <a:pPr lvl="2"/>
            <a:r>
              <a:rPr lang="en-US" altLang="en-US" dirty="0"/>
              <a:t>Steal trade or national security secrets</a:t>
            </a:r>
          </a:p>
        </p:txBody>
      </p:sp>
    </p:spTree>
    <p:extLst>
      <p:ext uri="{BB962C8B-B14F-4D97-AF65-F5344CB8AC3E}">
        <p14:creationId xmlns:p14="http://schemas.microsoft.com/office/powerpoint/2010/main" val="4027423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193F7-661D-4D4C-8169-1C1F1517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Cell Phones, Smartphones, and PDAs (2 of 2)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5ECB7-C877-45B4-8507-5BEA681AF0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Smartphones</a:t>
            </a:r>
          </a:p>
          <a:p>
            <a:pPr lvl="1"/>
            <a:r>
              <a:rPr lang="en-US" altLang="en-US" dirty="0"/>
              <a:t>Security researchers and attackers have created Java-based viruses as well as code</a:t>
            </a:r>
          </a:p>
          <a:p>
            <a:pPr lvl="2"/>
            <a:r>
              <a:rPr lang="en-US" altLang="en-US" dirty="0"/>
              <a:t>Can infect phones running Google Android, Windows Mobile, and the Apple iPhone OS (iOS)</a:t>
            </a:r>
          </a:p>
          <a:p>
            <a:pPr lvl="2"/>
            <a:r>
              <a:rPr lang="en-US" altLang="en-US" dirty="0"/>
              <a:t>The line is blurring between embedded and general-purpose OSs</a:t>
            </a:r>
          </a:p>
          <a:p>
            <a:pPr lvl="3"/>
            <a:r>
              <a:rPr lang="en-US" altLang="en-US" dirty="0"/>
              <a:t>These OSs have vulnerabilities that can compromise your smartphone’s security</a:t>
            </a:r>
          </a:p>
          <a:p>
            <a:pPr lvl="2"/>
            <a:r>
              <a:rPr lang="en-US" altLang="en-US" dirty="0"/>
              <a:t>Wearable technologies increase the vulnerabilities of smartphone because of their interaction through Bluetooth</a:t>
            </a:r>
          </a:p>
          <a:p>
            <a:r>
              <a:rPr lang="en-US" altLang="en-US" dirty="0"/>
              <a:t>Trojan applications have become a big concern in mobile application stores</a:t>
            </a:r>
          </a:p>
          <a:p>
            <a:pPr lvl="1"/>
            <a:r>
              <a:rPr lang="en-US" altLang="en-US" dirty="0"/>
              <a:t>Examples: Cake VPN, Pacific VPN, BeatPlayer, QR/Barcode Scanner MAX, and </a:t>
            </a:r>
            <a:r>
              <a:rPr lang="en-US" altLang="en-US" dirty="0" err="1"/>
              <a:t>QRecorder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213872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64F7-A7E0-4D79-94CA-35EE1AA1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Rootkits (1 of 3)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95A90-C059-4F6E-B532-4D2ECF1282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Modify parts of OS or install themselves as kernel modules, drivers, libraries, and applications</a:t>
            </a:r>
          </a:p>
          <a:p>
            <a:pPr lvl="1"/>
            <a:r>
              <a:rPr lang="en-US" altLang="en-US" dirty="0"/>
              <a:t>Exist for Windows and *nix OSs</a:t>
            </a:r>
          </a:p>
          <a:p>
            <a:r>
              <a:rPr lang="en-US" altLang="en-US" dirty="0"/>
              <a:t>Rootkit-detection tools and antivirus software</a:t>
            </a:r>
          </a:p>
          <a:p>
            <a:pPr lvl="1"/>
            <a:r>
              <a:rPr lang="en-US" altLang="en-US" dirty="0"/>
              <a:t>Detect rootkits and prevent installation</a:t>
            </a:r>
          </a:p>
          <a:p>
            <a:pPr lvl="2"/>
            <a:r>
              <a:rPr lang="en-US" altLang="en-US" dirty="0"/>
              <a:t>More difficult if OS has already been compromised</a:t>
            </a:r>
          </a:p>
          <a:p>
            <a:pPr lvl="2"/>
            <a:r>
              <a:rPr lang="en-US" altLang="en-US" dirty="0"/>
              <a:t>Rootkits can monitor the OS for anti-rootkit tools and neutralize them</a:t>
            </a:r>
          </a:p>
          <a:p>
            <a:r>
              <a:rPr lang="en-US" altLang="en-US" dirty="0"/>
              <a:t>Biggest threat</a:t>
            </a:r>
          </a:p>
          <a:p>
            <a:pPr lvl="1"/>
            <a:r>
              <a:rPr lang="en-US" altLang="en-US" dirty="0"/>
              <a:t>Rootkits that infect a device’s firmware</a:t>
            </a:r>
          </a:p>
          <a:p>
            <a:pPr lvl="1"/>
            <a:r>
              <a:rPr lang="en-US" altLang="en-US" dirty="0"/>
              <a:t>More dangerous because they tend to be extremely small</a:t>
            </a:r>
          </a:p>
          <a:p>
            <a:pPr lvl="2"/>
            <a:r>
              <a:rPr lang="en-US" altLang="en-US" dirty="0"/>
              <a:t>Loaded in low-level nonvolatile storage that anti-rootkit tools can’t access readily</a:t>
            </a:r>
          </a:p>
          <a:p>
            <a:pPr lvl="2"/>
            <a:r>
              <a:rPr lang="en-US" altLang="en-US" dirty="0"/>
              <a:t>Can persist even after the hard drive has been reformatted</a:t>
            </a:r>
          </a:p>
        </p:txBody>
      </p:sp>
    </p:spTree>
    <p:extLst>
      <p:ext uri="{BB962C8B-B14F-4D97-AF65-F5344CB8AC3E}">
        <p14:creationId xmlns:p14="http://schemas.microsoft.com/office/powerpoint/2010/main" val="2434930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64F7-A7E0-4D79-94CA-35EE1AA1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Rootkits (2 of 3)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95A90-C059-4F6E-B532-4D2ECF1282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altLang="en-US" dirty="0"/>
              <a:t>Trusted Platform Module (TPM)</a:t>
            </a:r>
          </a:p>
          <a:p>
            <a:pPr lvl="1"/>
            <a:r>
              <a:rPr lang="en-US" altLang="en-US" dirty="0"/>
              <a:t>A cryptographic firmware bootcheck processor installed on many recent computer systems</a:t>
            </a:r>
          </a:p>
          <a:p>
            <a:pPr lvl="1"/>
            <a:r>
              <a:rPr lang="en-US" altLang="en-US" dirty="0"/>
              <a:t>Acts as a defense against low-level rootkits</a:t>
            </a:r>
          </a:p>
          <a:p>
            <a:pPr lvl="2"/>
            <a:r>
              <a:rPr lang="en-US" altLang="en-US" dirty="0"/>
              <a:t>Ensures that OS hasn’t been subverted or corrupted</a:t>
            </a:r>
          </a:p>
          <a:p>
            <a:pPr lvl="1"/>
            <a:r>
              <a:rPr lang="en-US" altLang="en-US" dirty="0"/>
              <a:t>ISO standard ISO/IEC 11889</a:t>
            </a:r>
          </a:p>
          <a:p>
            <a:r>
              <a:rPr lang="en-US" altLang="en-US" dirty="0"/>
              <a:t>Firmware rootkits </a:t>
            </a:r>
          </a:p>
          <a:p>
            <a:pPr lvl="1"/>
            <a:r>
              <a:rPr lang="en-US" altLang="en-US" dirty="0"/>
              <a:t>Hard to detect as the code for firmware often isn’t checked for possible corruption</a:t>
            </a:r>
          </a:p>
          <a:p>
            <a:r>
              <a:rPr lang="en-US" altLang="en-US" dirty="0"/>
              <a:t>Insider hacking </a:t>
            </a:r>
          </a:p>
          <a:p>
            <a:pPr lvl="1"/>
            <a:r>
              <a:rPr lang="en-US" altLang="en-US" dirty="0"/>
              <a:t>Harder to detect with malicious code hidden in flash memory of their company computers before they leave the company</a:t>
            </a:r>
          </a:p>
        </p:txBody>
      </p:sp>
    </p:spTree>
    <p:extLst>
      <p:ext uri="{BB962C8B-B14F-4D97-AF65-F5344CB8AC3E}">
        <p14:creationId xmlns:p14="http://schemas.microsoft.com/office/powerpoint/2010/main" val="24539236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364F7-A7E0-4D79-94CA-35EE1AA19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Rootkits (3 of 3)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95A90-C059-4F6E-B532-4D2ECF12825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Systems that are compromised even before purchase</a:t>
            </a:r>
          </a:p>
          <a:p>
            <a:pPr lvl="1"/>
            <a:r>
              <a:rPr lang="en-US" altLang="en-US" dirty="0"/>
              <a:t>May function like normal</a:t>
            </a:r>
          </a:p>
          <a:p>
            <a:pPr lvl="1"/>
            <a:r>
              <a:rPr lang="en-US" altLang="en-US" dirty="0"/>
              <a:t>Must flash (rewrite) the BIOS with a known clean copy, wipe the hard drive, and reload the OS from clean installation media</a:t>
            </a:r>
          </a:p>
          <a:p>
            <a:pPr lvl="2"/>
            <a:r>
              <a:rPr lang="en-US" altLang="en-US" dirty="0"/>
              <a:t>Expensive and time-consuming</a:t>
            </a:r>
          </a:p>
          <a:p>
            <a:r>
              <a:rPr lang="en-US" altLang="en-US" dirty="0"/>
              <a:t>LoJack for Laptops</a:t>
            </a:r>
          </a:p>
          <a:p>
            <a:pPr lvl="1"/>
            <a:r>
              <a:rPr lang="en-US" altLang="en-US" dirty="0"/>
              <a:t>Popular laptop theft-recovery service</a:t>
            </a:r>
          </a:p>
          <a:p>
            <a:pPr lvl="1"/>
            <a:r>
              <a:rPr lang="en-US" altLang="en-US" dirty="0"/>
              <a:t>Has some design-level vulnerabilities that rootkits can exploit</a:t>
            </a:r>
          </a:p>
          <a:p>
            <a:pPr lvl="2"/>
            <a:r>
              <a:rPr lang="en-US" altLang="en-US" dirty="0"/>
              <a:t>Infection resides in the computer’s BIOS</a:t>
            </a:r>
          </a:p>
          <a:p>
            <a:pPr lvl="3"/>
            <a:r>
              <a:rPr lang="en-US" altLang="en-US" dirty="0"/>
              <a:t>Persists even after the OS is reinstalled or the hard drive is replaced</a:t>
            </a:r>
          </a:p>
          <a:p>
            <a:pPr lvl="2"/>
            <a:r>
              <a:rPr lang="en-US" altLang="en-US" dirty="0"/>
              <a:t>Call-home mechanism</a:t>
            </a:r>
          </a:p>
          <a:p>
            <a:pPr lvl="3"/>
            <a:r>
              <a:rPr lang="en-US" altLang="en-US" dirty="0"/>
              <a:t>Allows the monitoring authority to instruct the LoJack BIOS agent to wipe all information as a security measure or to track the stolen system’s location.</a:t>
            </a:r>
          </a:p>
        </p:txBody>
      </p:sp>
    </p:spTree>
    <p:extLst>
      <p:ext uri="{BB962C8B-B14F-4D97-AF65-F5344CB8AC3E}">
        <p14:creationId xmlns:p14="http://schemas.microsoft.com/office/powerpoint/2010/main" val="2794036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BDA3-A2DC-45DD-84B5-B009BE87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Best Practices for Protecting Embedded OSs (1 of 2)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FBCEF-D9F8-4E29-BCA9-B14EDE0204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Identify all embedded systems in an organization</a:t>
            </a:r>
          </a:p>
          <a:p>
            <a:r>
              <a:rPr lang="en-US" altLang="en-US" dirty="0"/>
              <a:t>Prioritize the systems or functions that depend on embedded systems</a:t>
            </a:r>
          </a:p>
          <a:p>
            <a:r>
              <a:rPr lang="en-US" altLang="en-US" dirty="0"/>
              <a:t>Follow least privileges principle for access to embedded systems</a:t>
            </a:r>
          </a:p>
          <a:p>
            <a:r>
              <a:rPr lang="en-US" altLang="en-US" dirty="0"/>
              <a:t>Use data transport encryption</a:t>
            </a:r>
          </a:p>
          <a:p>
            <a:r>
              <a:rPr lang="en-US" altLang="en-US" dirty="0"/>
              <a:t>Configure embedded systems securely</a:t>
            </a:r>
          </a:p>
          <a:p>
            <a:pPr lvl="1"/>
            <a:r>
              <a:rPr lang="en-US" altLang="en-US" dirty="0"/>
              <a:t>Follow manufacturers’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0980400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BDA3-A2DC-45DD-84B5-B009BE877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Best Practices for Protecting Embedded OSs (2 of 2)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5FBCEF-D9F8-4E29-BCA9-B14EDE0204C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Use cryptographic measures for booting embedded systems</a:t>
            </a:r>
          </a:p>
          <a:p>
            <a:r>
              <a:rPr lang="en-US" altLang="en-US" dirty="0"/>
              <a:t>Install patches and updates</a:t>
            </a:r>
          </a:p>
          <a:p>
            <a:r>
              <a:rPr lang="en-US" altLang="en-US" dirty="0"/>
              <a:t>Restrict network access to only the IP addresses that need to communicate with embedded systems</a:t>
            </a:r>
          </a:p>
          <a:p>
            <a:pPr lvl="1"/>
            <a:r>
              <a:rPr lang="en-US" altLang="en-US" dirty="0"/>
              <a:t>And reduce attack surface by disabling or blocking unneeded services</a:t>
            </a:r>
          </a:p>
          <a:p>
            <a:r>
              <a:rPr lang="en-US" altLang="en-US" dirty="0"/>
              <a:t>Upgrade or replace embedded systems that can’t be fixed or pose unacceptable risks</a:t>
            </a:r>
          </a:p>
        </p:txBody>
      </p:sp>
    </p:spTree>
    <p:extLst>
      <p:ext uri="{BB962C8B-B14F-4D97-AF65-F5344CB8AC3E}">
        <p14:creationId xmlns:p14="http://schemas.microsoft.com/office/powerpoint/2010/main" val="2890753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Activity 9-1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Discuss as a group why rootkits that infect a device’s firmware are considered the biggest threat to any OS (embedded or general-purpose).</a:t>
            </a:r>
          </a:p>
        </p:txBody>
      </p:sp>
    </p:spTree>
    <p:extLst>
      <p:ext uri="{BB962C8B-B14F-4D97-AF65-F5344CB8AC3E}">
        <p14:creationId xmlns:p14="http://schemas.microsoft.com/office/powerpoint/2010/main" val="378017211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Activity 9-1: Answer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sz="2000" dirty="0"/>
              <a:t>Discuss as a group why rootkits that infect a device’s firmware are considered the biggest threat to any OS (embedded or general-purpose).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000" b="1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/>
              <a:t>Answer: Rootkits tend to be extremely small, are loaded in low-level nonvolatile storage that anti-rootkit tools can’t access readily, and can persist even after the hard drive has been reformatted.</a:t>
            </a:r>
          </a:p>
        </p:txBody>
      </p:sp>
    </p:spTree>
    <p:extLst>
      <p:ext uri="{BB962C8B-B14F-4D97-AF65-F5344CB8AC3E}">
        <p14:creationId xmlns:p14="http://schemas.microsoft.com/office/powerpoint/2010/main" val="11931552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Self-Assessment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743576" y="1636776"/>
            <a:ext cx="10711543" cy="3732692"/>
          </a:xfrm>
        </p:spPr>
        <p:txBody>
          <a:bodyPr/>
          <a:lstStyle/>
          <a:p>
            <a:r>
              <a:rPr lang="en-US" sz="2000" dirty="0"/>
              <a:t>Explain why embedded device security is important.</a:t>
            </a:r>
          </a:p>
          <a:p>
            <a:endParaRPr lang="en-US" sz="2000" dirty="0"/>
          </a:p>
          <a:p>
            <a:r>
              <a:rPr lang="en-US" sz="2000" dirty="0"/>
              <a:t>Recall the different kinds of embedded OSs.</a:t>
            </a:r>
          </a:p>
        </p:txBody>
      </p:sp>
    </p:spTree>
    <p:extLst>
      <p:ext uri="{BB962C8B-B14F-4D97-AF65-F5344CB8AC3E}">
        <p14:creationId xmlns:p14="http://schemas.microsoft.com/office/powerpoint/2010/main" val="290799712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BD3F0-9E53-44BA-A4C6-6202E9E3F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Summary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06784-BA94-476A-A886-C8D42FD3C2C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Autofit/>
          </a:bodyPr>
          <a:lstStyle/>
          <a:p>
            <a:r>
              <a:rPr lang="en-US" altLang="en-US" dirty="0"/>
              <a:t>Now that the lesson has ended, you should be able to:</a:t>
            </a:r>
          </a:p>
          <a:p>
            <a:pPr lvl="1"/>
            <a:r>
              <a:rPr lang="en-US" dirty="0"/>
              <a:t>Explain what embedded operating systems are and where they’re used</a:t>
            </a:r>
          </a:p>
          <a:p>
            <a:pPr lvl="1">
              <a:defRPr/>
            </a:pPr>
            <a:r>
              <a:rPr lang="en-US" dirty="0"/>
              <a:t>Describe the Internet of Things (IoT) and other embedded operating systems</a:t>
            </a:r>
          </a:p>
          <a:p>
            <a:pPr lvl="1">
              <a:defRPr/>
            </a:pPr>
            <a:r>
              <a:rPr lang="en-US" dirty="0"/>
              <a:t>Identify vulnerabilities of embedded operating systems and best practices for protecting them</a:t>
            </a:r>
          </a:p>
        </p:txBody>
      </p:sp>
    </p:spTree>
    <p:extLst>
      <p:ext uri="{BB962C8B-B14F-4D97-AF65-F5344CB8AC3E}">
        <p14:creationId xmlns:p14="http://schemas.microsoft.com/office/powerpoint/2010/main" val="524230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1">
      <a:dk1>
        <a:srgbClr val="011892"/>
      </a:dk1>
      <a:lt1>
        <a:srgbClr val="FFFFFF"/>
      </a:lt1>
      <a:dk2>
        <a:srgbClr val="006198"/>
      </a:dk2>
      <a:lt2>
        <a:srgbClr val="E7E6E6"/>
      </a:lt2>
      <a:accent1>
        <a:srgbClr val="0098D4"/>
      </a:accent1>
      <a:accent2>
        <a:srgbClr val="00B7E6"/>
      </a:accent2>
      <a:accent3>
        <a:srgbClr val="81CFEC"/>
      </a:accent3>
      <a:accent4>
        <a:srgbClr val="E8255F"/>
      </a:accent4>
      <a:accent5>
        <a:srgbClr val="FF6300"/>
      </a:accent5>
      <a:accent6>
        <a:srgbClr val="F5B600"/>
      </a:accent6>
      <a:hlink>
        <a:srgbClr val="011892"/>
      </a:hlink>
      <a:folHlink>
        <a:srgbClr val="002060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effectLst/>
      </a:spPr>
      <a:bodyPr wrap="square" lIns="0" tIns="0" rIns="0" rtlCol="0" anchor="b">
        <a:spAutoFit/>
      </a:bodyPr>
      <a:lstStyle>
        <a:defPPr>
          <a:defRPr sz="2000" smtClean="0">
            <a:latin typeface="Open Sans" panose="020B0606030504020204" pitchFamily="34" charset="0"/>
            <a:ea typeface="Open Sans" panose="020B0606030504020204" pitchFamily="34" charset="0"/>
            <a:cs typeface="Open Sans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ccessible_PPT_Cengage.potx" id="{8657E95E-D601-4622-93AD-E122BF442589}" vid="{BBF71559-ED4F-42B5-98FD-480A317797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BD9E0DAEFC3E40A59C31973342194A" ma:contentTypeVersion="" ma:contentTypeDescription="Create a new document." ma:contentTypeScope="" ma:versionID="f864db225ba7641a71a5bcc0ce4d9915">
  <xsd:schema xmlns:xsd="http://www.w3.org/2001/XMLSchema" xmlns:xs="http://www.w3.org/2001/XMLSchema" xmlns:p="http://schemas.microsoft.com/office/2006/metadata/properties" xmlns:ns2="5b47f0fb-e24d-44b9-89a4-ff46b5ce035f" xmlns:ns3="dbac95d4-689a-4a2b-9845-ea50641fb23b" targetNamespace="http://schemas.microsoft.com/office/2006/metadata/properties" ma:root="true" ma:fieldsID="ca0abe68bfd46ce60dddf86ace54f11b" ns2:_="" ns3:_="">
    <xsd:import namespace="5b47f0fb-e24d-44b9-89a4-ff46b5ce035f"/>
    <xsd:import namespace="dbac95d4-689a-4a2b-9845-ea50641fb23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Team_x0020_Members" minOccurs="0"/>
                <xsd:element ref="ns3:test1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47f0fb-e24d-44b9-89a4-ff46b5ce035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3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ac95d4-689a-4a2b-9845-ea50641fb23b" elementFormDefault="qualified">
    <xsd:import namespace="http://schemas.microsoft.com/office/2006/documentManagement/types"/>
    <xsd:import namespace="http://schemas.microsoft.com/office/infopath/2007/PartnerControls"/>
    <xsd:element name="Team_x0020_Members" ma:index="10" nillable="true" ma:displayName="Team Members" ma:SearchPeopleOnly="false" ma:SharePointGroup="0" ma:internalName="Team_x0020_Member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test1" ma:index="11" nillable="true" ma:displayName="test1" ma:internalName="test1">
      <xsd:simpleType>
        <xsd:restriction base="dms:Note">
          <xsd:maxLength value="255"/>
        </xsd:restriction>
      </xsd:simpleType>
    </xsd:element>
    <xsd:element name="MediaServiceMetadata" ma:index="14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b47f0fb-e24d-44b9-89a4-ff46b5ce035f">
      <UserInfo>
        <DisplayName/>
        <AccountId xsi:nil="true"/>
        <AccountType/>
      </UserInfo>
    </SharedWithUsers>
    <test1 xmlns="dbac95d4-689a-4a2b-9845-ea50641fb23b" xsi:nil="true"/>
    <Team_x0020_Members xmlns="dbac95d4-689a-4a2b-9845-ea50641fb23b">
      <UserInfo>
        <DisplayName/>
        <AccountId xsi:nil="true"/>
        <AccountType/>
      </UserInfo>
    </Team_x0020_Members>
  </documentManagement>
</p:properties>
</file>

<file path=customXml/itemProps1.xml><?xml version="1.0" encoding="utf-8"?>
<ds:datastoreItem xmlns:ds="http://schemas.openxmlformats.org/officeDocument/2006/customXml" ds:itemID="{E32CFAA7-E308-4DCB-89CD-C84C20E9024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E3CE7F-DB89-4155-88C3-5669EA883D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b47f0fb-e24d-44b9-89a4-ff46b5ce035f"/>
    <ds:schemaRef ds:uri="dbac95d4-689a-4a2b-9845-ea50641fb2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A9BA192-EF86-48DF-982C-2C526A268392}">
  <ds:schemaRefs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0f302c04-584d-4df5-8948-8b6dd1f3c1a5"/>
    <ds:schemaRef ds:uri="http://schemas.openxmlformats.org/package/2006/metadata/core-properties"/>
    <ds:schemaRef ds:uri="http://schemas.microsoft.com/office/2006/documentManagement/types"/>
    <ds:schemaRef ds:uri="48fa25a7-52b6-4e1f-81c8-80356bf0725f"/>
    <ds:schemaRef ds:uri="http://www.w3.org/XML/1998/namespace"/>
    <ds:schemaRef ds:uri="http://purl.org/dc/dcmitype/"/>
    <ds:schemaRef ds:uri="5b47f0fb-e24d-44b9-89a4-ff46b5ce035f"/>
    <ds:schemaRef ds:uri="dbac95d4-689a-4a2b-9845-ea50641fb23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16449</TotalTime>
  <Words>3110</Words>
  <Application>Microsoft Office PowerPoint</Application>
  <PresentationFormat>Widescreen</PresentationFormat>
  <Paragraphs>359</Paragraphs>
  <Slides>47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Arial</vt:lpstr>
      <vt:lpstr>Arial</vt:lpstr>
      <vt:lpstr>Calibri</vt:lpstr>
      <vt:lpstr>Courier New</vt:lpstr>
      <vt:lpstr>Helvetica</vt:lpstr>
      <vt:lpstr>Open Sans</vt:lpstr>
      <vt:lpstr>Summer Font</vt:lpstr>
      <vt:lpstr>Office Theme</vt:lpstr>
      <vt:lpstr>Hands-On Ethical Hacking and Network Defense, Edition 4</vt:lpstr>
      <vt:lpstr>Module Objectives</vt:lpstr>
      <vt:lpstr>Introduction to Embedded Operating Systems (1 of 3)</vt:lpstr>
      <vt:lpstr>Introduction to Embedded Operating Systems (2 of 3)</vt:lpstr>
      <vt:lpstr>Introduction to Embedded Operating Systems (3 of 3)</vt:lpstr>
      <vt:lpstr>Knowledge Check Activity 9-1</vt:lpstr>
      <vt:lpstr>Knowledge Check Activity 9-1: Answer</vt:lpstr>
      <vt:lpstr>Polling Activity 9-1</vt:lpstr>
      <vt:lpstr>Polling Activity 9-1: Answer</vt:lpstr>
      <vt:lpstr>Polling Activity 9-2</vt:lpstr>
      <vt:lpstr>Polling Activity 9-2: Answer</vt:lpstr>
      <vt:lpstr>Windows and Other Embedded Operating Systems (1 of 2)</vt:lpstr>
      <vt:lpstr>Windows and Other Embedded Operating Systems (2 of 2)</vt:lpstr>
      <vt:lpstr>Other Proprietary Embedded OSs (1 of 5) </vt:lpstr>
      <vt:lpstr>Other Proprietary Embedded OSs (2 of 5) </vt:lpstr>
      <vt:lpstr>Other Proprietary Embedded OSs (3 of 5) </vt:lpstr>
      <vt:lpstr>Other Proprietary Embedded OSs (4 of 5) </vt:lpstr>
      <vt:lpstr>Other Proprietary Embedded OSs (5 of 5) </vt:lpstr>
      <vt:lpstr>*Nix Embedded OSs (1 of 3)</vt:lpstr>
      <vt:lpstr>*Nix Embedded OSs (2 of 3)</vt:lpstr>
      <vt:lpstr>*Nix Embedded OSs (3 of 3)</vt:lpstr>
      <vt:lpstr>Knowledge Check Activity 9-2</vt:lpstr>
      <vt:lpstr>Knowledge Check Activity 9-2: Answer</vt:lpstr>
      <vt:lpstr>Vulnerabilities of Embedded OSs</vt:lpstr>
      <vt:lpstr>Embedded OSs Are Everywhere</vt:lpstr>
      <vt:lpstr>Embedded OSs Are Networked (1 of 2)</vt:lpstr>
      <vt:lpstr>Embedded OSs Are Networked (2 of 2)</vt:lpstr>
      <vt:lpstr>Embedded OSs Are Difficult to Patch (1 of 2) </vt:lpstr>
      <vt:lpstr>Embedded OSs Are Difficult to Patch (2 of 2) </vt:lpstr>
      <vt:lpstr>Embedded OSs Are in Networking Devices (1 of 2)</vt:lpstr>
      <vt:lpstr>Embedded OSs Are in Networking Devices (2 of 2)</vt:lpstr>
      <vt:lpstr>Embedded OSs Are in Network Peripherals (1 of 3)</vt:lpstr>
      <vt:lpstr>Embedded OSs Are in Network Peripherals (2 of 3)</vt:lpstr>
      <vt:lpstr>Embedded OSs Are in Network Peripherals (3 of 3)</vt:lpstr>
      <vt:lpstr>Supervisory Control and Data Acquisition Systems (SCADA) (1 of 2)</vt:lpstr>
      <vt:lpstr>Supervisory Control and Data Acquisition Systems (SCADA) (2 of 2)</vt:lpstr>
      <vt:lpstr>Cell Phones, Smartphones, and PDAs (1 of 2)</vt:lpstr>
      <vt:lpstr>Cell Phones, Smartphones, and PDAs (2 of 2)</vt:lpstr>
      <vt:lpstr>Rootkits (1 of 3)</vt:lpstr>
      <vt:lpstr>Rootkits (2 of 3)</vt:lpstr>
      <vt:lpstr>Rootkits (3 of 3)</vt:lpstr>
      <vt:lpstr>Best Practices for Protecting Embedded OSs (1 of 2)</vt:lpstr>
      <vt:lpstr>Best Practices for Protecting Embedded OSs (2 of 2)</vt:lpstr>
      <vt:lpstr>Discussion Activity 9-1</vt:lpstr>
      <vt:lpstr>Discussion Activity 9-1: Answer</vt:lpstr>
      <vt:lpstr>Self-Assessment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Constitutional Law</dc:title>
  <dc:creator>Onderdonk, Natalie</dc:creator>
  <cp:lastModifiedBy>ansrsource_17</cp:lastModifiedBy>
  <cp:revision>445</cp:revision>
  <dcterms:created xsi:type="dcterms:W3CDTF">2020-07-27T16:46:05Z</dcterms:created>
  <dcterms:modified xsi:type="dcterms:W3CDTF">2022-02-23T13:28:14Z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0x010100DCBD9E0DAEFC3E40A59C31973342194A</vt:lpwstr>
  </property>
</Properties>
</file>