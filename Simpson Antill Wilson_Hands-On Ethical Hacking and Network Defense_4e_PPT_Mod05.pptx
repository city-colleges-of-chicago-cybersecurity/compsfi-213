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377" r:id="rId5"/>
    <p:sldId id="269" r:id="rId6"/>
    <p:sldId id="301" r:id="rId7"/>
    <p:sldId id="391" r:id="rId8"/>
    <p:sldId id="419" r:id="rId9"/>
    <p:sldId id="302" r:id="rId10"/>
    <p:sldId id="420" r:id="rId11"/>
    <p:sldId id="270" r:id="rId12"/>
    <p:sldId id="271" r:id="rId13"/>
    <p:sldId id="323" r:id="rId14"/>
    <p:sldId id="324" r:id="rId15"/>
    <p:sldId id="326" r:id="rId16"/>
    <p:sldId id="327" r:id="rId17"/>
    <p:sldId id="303" r:id="rId18"/>
    <p:sldId id="376" r:id="rId19"/>
    <p:sldId id="350" r:id="rId20"/>
    <p:sldId id="378" r:id="rId21"/>
    <p:sldId id="428" r:id="rId22"/>
    <p:sldId id="393" r:id="rId23"/>
    <p:sldId id="352" r:id="rId24"/>
    <p:sldId id="429" r:id="rId25"/>
    <p:sldId id="430" r:id="rId26"/>
    <p:sldId id="388" r:id="rId27"/>
    <p:sldId id="389" r:id="rId28"/>
    <p:sldId id="365" r:id="rId29"/>
    <p:sldId id="307" r:id="rId30"/>
    <p:sldId id="421" r:id="rId31"/>
    <p:sldId id="422" r:id="rId32"/>
    <p:sldId id="396" r:id="rId33"/>
    <p:sldId id="379" r:id="rId34"/>
    <p:sldId id="368" r:id="rId35"/>
    <p:sldId id="423" r:id="rId36"/>
    <p:sldId id="424" r:id="rId37"/>
    <p:sldId id="357" r:id="rId38"/>
    <p:sldId id="309" r:id="rId39"/>
    <p:sldId id="311" r:id="rId40"/>
    <p:sldId id="425" r:id="rId41"/>
    <p:sldId id="312" r:id="rId42"/>
    <p:sldId id="431" r:id="rId43"/>
    <p:sldId id="426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06A90B-A749-208A-D00E-EF25335465EC}" name="Divya Krishnakumar" initials="DK" userId="S::divya.krishnakumar@ansrsource.com::083ee865-650d-4256-9272-f4d91147c45c" providerId="AD"/>
  <p188:author id="{BF2A948C-1811-CB48-BB9C-92871E13B267}" name="ansrsource_17" initials="AW" userId="ansrsource_17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ola, Courtney A" initials="TCA" lastIdx="1" clrIdx="0">
    <p:extLst>
      <p:ext uri="{19B8F6BF-5375-455C-9EA6-DF929625EA0E}">
        <p15:presenceInfo xmlns:p15="http://schemas.microsoft.com/office/powerpoint/2012/main" userId="S-1-5-21-4027829005-1107895287-290554039-156439" providerId="AD"/>
      </p:ext>
    </p:extLst>
  </p:cmAuthor>
  <p:cmAuthor id="2" name="Onderdonk, Natalie" initials="ON" lastIdx="1" clrIdx="1">
    <p:extLst>
      <p:ext uri="{19B8F6BF-5375-455C-9EA6-DF929625EA0E}">
        <p15:presenceInfo xmlns:p15="http://schemas.microsoft.com/office/powerpoint/2012/main" userId="S::Natalie.Onderdonk@cengage.com::794b6c7a-2b12-4b61-8069-51114120681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78"/>
    <a:srgbClr val="000000"/>
    <a:srgbClr val="E9255F"/>
    <a:srgbClr val="006298"/>
    <a:srgbClr val="FF6300"/>
    <a:srgbClr val="0098D4"/>
    <a:srgbClr val="00B8E7"/>
    <a:srgbClr val="81D0ED"/>
    <a:srgbClr val="F6B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58952-A957-4DFF-92A4-F62A093E1968}" v="18" dt="2022-02-18T06:51:32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5" autoAdjust="0"/>
    <p:restoredTop sz="85632" autoAdjust="0"/>
  </p:normalViewPr>
  <p:slideViewPr>
    <p:cSldViewPr snapToGrid="0">
      <p:cViewPr varScale="1">
        <p:scale>
          <a:sx n="66" d="100"/>
          <a:sy n="66" d="100"/>
        </p:scale>
        <p:origin x="1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Krishnakumar" userId="083ee865-650d-4256-9272-f4d91147c45c" providerId="ADAL" clId="{36858952-A957-4DFF-92A4-F62A093E1968}"/>
    <pc:docChg chg="undo custSel modSld">
      <pc:chgData name="Divya Krishnakumar" userId="083ee865-650d-4256-9272-f4d91147c45c" providerId="ADAL" clId="{36858952-A957-4DFF-92A4-F62A093E1968}" dt="2022-02-18T06:49:37.400" v="31" actId="20577"/>
      <pc:docMkLst>
        <pc:docMk/>
      </pc:docMkLst>
      <pc:sldChg chg="modSp mod">
        <pc:chgData name="Divya Krishnakumar" userId="083ee865-650d-4256-9272-f4d91147c45c" providerId="ADAL" clId="{36858952-A957-4DFF-92A4-F62A093E1968}" dt="2022-02-17T21:51:09.603" v="13" actId="20577"/>
        <pc:sldMkLst>
          <pc:docMk/>
          <pc:sldMk cId="324826178" sldId="302"/>
        </pc:sldMkLst>
        <pc:spChg chg="mod">
          <ac:chgData name="Divya Krishnakumar" userId="083ee865-650d-4256-9272-f4d91147c45c" providerId="ADAL" clId="{36858952-A957-4DFF-92A4-F62A093E1968}" dt="2022-02-17T21:51:09.603" v="13" actId="20577"/>
          <ac:spMkLst>
            <pc:docMk/>
            <pc:sldMk cId="324826178" sldId="302"/>
            <ac:spMk id="3" creationId="{DE482330-7DDD-44FE-B24F-B5505B0ED059}"/>
          </ac:spMkLst>
        </pc:spChg>
      </pc:sldChg>
      <pc:sldChg chg="modSp mod">
        <pc:chgData name="Divya Krishnakumar" userId="083ee865-650d-4256-9272-f4d91147c45c" providerId="ADAL" clId="{36858952-A957-4DFF-92A4-F62A093E1968}" dt="2022-02-18T06:26:24.174" v="22" actId="20577"/>
        <pc:sldMkLst>
          <pc:docMk/>
          <pc:sldMk cId="3831289291" sldId="307"/>
        </pc:sldMkLst>
        <pc:spChg chg="mod">
          <ac:chgData name="Divya Krishnakumar" userId="083ee865-650d-4256-9272-f4d91147c45c" providerId="ADAL" clId="{36858952-A957-4DFF-92A4-F62A093E1968}" dt="2022-02-18T06:26:24.174" v="22" actId="20577"/>
          <ac:spMkLst>
            <pc:docMk/>
            <pc:sldMk cId="3831289291" sldId="307"/>
            <ac:spMk id="6" creationId="{1560DD7E-8221-45EC-B849-91DC33361686}"/>
          </ac:spMkLst>
        </pc:spChg>
      </pc:sldChg>
      <pc:sldChg chg="modSp mod">
        <pc:chgData name="Divya Krishnakumar" userId="083ee865-650d-4256-9272-f4d91147c45c" providerId="ADAL" clId="{36858952-A957-4DFF-92A4-F62A093E1968}" dt="2022-02-18T06:49:37.400" v="31" actId="20577"/>
        <pc:sldMkLst>
          <pc:docMk/>
          <pc:sldMk cId="670972609" sldId="309"/>
        </pc:sldMkLst>
        <pc:spChg chg="mod">
          <ac:chgData name="Divya Krishnakumar" userId="083ee865-650d-4256-9272-f4d91147c45c" providerId="ADAL" clId="{36858952-A957-4DFF-92A4-F62A093E1968}" dt="2022-02-18T06:49:37.400" v="31" actId="20577"/>
          <ac:spMkLst>
            <pc:docMk/>
            <pc:sldMk cId="670972609" sldId="309"/>
            <ac:spMk id="6" creationId="{1560DD7E-8221-45EC-B849-91DC33361686}"/>
          </ac:spMkLst>
        </pc:spChg>
      </pc:sldChg>
      <pc:sldChg chg="modSp mod">
        <pc:chgData name="Divya Krishnakumar" userId="083ee865-650d-4256-9272-f4d91147c45c" providerId="ADAL" clId="{36858952-A957-4DFF-92A4-F62A093E1968}" dt="2022-02-18T06:17:46.510" v="14" actId="20577"/>
        <pc:sldMkLst>
          <pc:docMk/>
          <pc:sldMk cId="2209717256" sldId="324"/>
        </pc:sldMkLst>
        <pc:spChg chg="mod">
          <ac:chgData name="Divya Krishnakumar" userId="083ee865-650d-4256-9272-f4d91147c45c" providerId="ADAL" clId="{36858952-A957-4DFF-92A4-F62A093E1968}" dt="2022-02-18T06:17:46.510" v="14" actId="20577"/>
          <ac:spMkLst>
            <pc:docMk/>
            <pc:sldMk cId="2209717256" sldId="324"/>
            <ac:spMk id="2" creationId="{00000000-0000-0000-0000-000000000000}"/>
          </ac:spMkLst>
        </pc:spChg>
      </pc:sldChg>
      <pc:sldChg chg="modSp mod">
        <pc:chgData name="Divya Krishnakumar" userId="083ee865-650d-4256-9272-f4d91147c45c" providerId="ADAL" clId="{36858952-A957-4DFF-92A4-F62A093E1968}" dt="2022-02-18T06:20:09.420" v="17" actId="6549"/>
        <pc:sldMkLst>
          <pc:docMk/>
          <pc:sldMk cId="3531513244" sldId="350"/>
        </pc:sldMkLst>
        <pc:spChg chg="mod">
          <ac:chgData name="Divya Krishnakumar" userId="083ee865-650d-4256-9272-f4d91147c45c" providerId="ADAL" clId="{36858952-A957-4DFF-92A4-F62A093E1968}" dt="2022-02-18T06:20:09.420" v="17" actId="6549"/>
          <ac:spMkLst>
            <pc:docMk/>
            <pc:sldMk cId="3531513244" sldId="350"/>
            <ac:spMk id="5" creationId="{BF9C9D85-43E3-444D-A816-C4E0951EC1D8}"/>
          </ac:spMkLst>
        </pc:spChg>
      </pc:sldChg>
      <pc:sldChg chg="modSp mod">
        <pc:chgData name="Divya Krishnakumar" userId="083ee865-650d-4256-9272-f4d91147c45c" providerId="ADAL" clId="{36858952-A957-4DFF-92A4-F62A093E1968}" dt="2022-02-18T06:19:15.671" v="16" actId="20577"/>
        <pc:sldMkLst>
          <pc:docMk/>
          <pc:sldMk cId="1460256132" sldId="376"/>
        </pc:sldMkLst>
        <pc:spChg chg="mod">
          <ac:chgData name="Divya Krishnakumar" userId="083ee865-650d-4256-9272-f4d91147c45c" providerId="ADAL" clId="{36858952-A957-4DFF-92A4-F62A093E1968}" dt="2022-02-18T06:19:15.671" v="16" actId="20577"/>
          <ac:spMkLst>
            <pc:docMk/>
            <pc:sldMk cId="1460256132" sldId="376"/>
            <ac:spMk id="2" creationId="{00000000-0000-0000-0000-000000000000}"/>
          </ac:spMkLst>
        </pc:spChg>
      </pc:sldChg>
      <pc:sldChg chg="addCm">
        <pc:chgData name="Divya Krishnakumar" userId="083ee865-650d-4256-9272-f4d91147c45c" providerId="ADAL" clId="{36858952-A957-4DFF-92A4-F62A093E1968}" dt="2022-02-17T21:32:34.359" v="0"/>
        <pc:sldMkLst>
          <pc:docMk/>
          <pc:sldMk cId="3338165092" sldId="378"/>
        </pc:sldMkLst>
      </pc:sldChg>
      <pc:sldChg chg="modSp mod addCm">
        <pc:chgData name="Divya Krishnakumar" userId="083ee865-650d-4256-9272-f4d91147c45c" providerId="ADAL" clId="{36858952-A957-4DFF-92A4-F62A093E1968}" dt="2022-02-18T06:47:44.961" v="29"/>
        <pc:sldMkLst>
          <pc:docMk/>
          <pc:sldMk cId="2365997177" sldId="379"/>
        </pc:sldMkLst>
        <pc:spChg chg="mod">
          <ac:chgData name="Divya Krishnakumar" userId="083ee865-650d-4256-9272-f4d91147c45c" providerId="ADAL" clId="{36858952-A957-4DFF-92A4-F62A093E1968}" dt="2022-02-18T06:46:53.161" v="28" actId="20577"/>
          <ac:spMkLst>
            <pc:docMk/>
            <pc:sldMk cId="2365997177" sldId="379"/>
            <ac:spMk id="3" creationId="{137FD6E0-DE58-42D3-A2D7-3F26486CBD74}"/>
          </ac:spMkLst>
        </pc:spChg>
      </pc:sldChg>
      <pc:sldChg chg="addCm">
        <pc:chgData name="Divya Krishnakumar" userId="083ee865-650d-4256-9272-f4d91147c45c" providerId="ADAL" clId="{36858952-A957-4DFF-92A4-F62A093E1968}" dt="2022-02-17T21:38:05.479" v="5"/>
        <pc:sldMkLst>
          <pc:docMk/>
          <pc:sldMk cId="3130411918" sldId="388"/>
        </pc:sldMkLst>
      </pc:sldChg>
      <pc:sldChg chg="modSp mod addCm">
        <pc:chgData name="Divya Krishnakumar" userId="083ee865-650d-4256-9272-f4d91147c45c" providerId="ADAL" clId="{36858952-A957-4DFF-92A4-F62A093E1968}" dt="2022-02-18T06:25:13.832" v="21"/>
        <pc:sldMkLst>
          <pc:docMk/>
          <pc:sldMk cId="3067707882" sldId="389"/>
        </pc:sldMkLst>
        <pc:spChg chg="mod">
          <ac:chgData name="Divya Krishnakumar" userId="083ee865-650d-4256-9272-f4d91147c45c" providerId="ADAL" clId="{36858952-A957-4DFF-92A4-F62A093E1968}" dt="2022-02-18T06:24:52.298" v="20" actId="108"/>
          <ac:spMkLst>
            <pc:docMk/>
            <pc:sldMk cId="3067707882" sldId="389"/>
            <ac:spMk id="2" creationId="{00000000-0000-0000-0000-000000000000}"/>
          </ac:spMkLst>
        </pc:spChg>
      </pc:sldChg>
      <pc:sldChg chg="modSp mod">
        <pc:chgData name="Divya Krishnakumar" userId="083ee865-650d-4256-9272-f4d91147c45c" providerId="ADAL" clId="{36858952-A957-4DFF-92A4-F62A093E1968}" dt="2022-02-17T21:48:30.428" v="12" actId="20577"/>
        <pc:sldMkLst>
          <pc:docMk/>
          <pc:sldMk cId="406610677" sldId="419"/>
        </pc:sldMkLst>
        <pc:spChg chg="mod">
          <ac:chgData name="Divya Krishnakumar" userId="083ee865-650d-4256-9272-f4d91147c45c" providerId="ADAL" clId="{36858952-A957-4DFF-92A4-F62A093E1968}" dt="2022-02-17T21:48:30.428" v="12" actId="20577"/>
          <ac:spMkLst>
            <pc:docMk/>
            <pc:sldMk cId="406610677" sldId="419"/>
            <ac:spMk id="7" creationId="{DE6AE4C8-3710-4017-AA7B-4B4EC156EFE6}"/>
          </ac:spMkLst>
        </pc:spChg>
      </pc:sldChg>
      <pc:sldChg chg="modSp mod">
        <pc:chgData name="Divya Krishnakumar" userId="083ee865-650d-4256-9272-f4d91147c45c" providerId="ADAL" clId="{36858952-A957-4DFF-92A4-F62A093E1968}" dt="2022-02-18T06:45:55.216" v="23" actId="108"/>
        <pc:sldMkLst>
          <pc:docMk/>
          <pc:sldMk cId="1269539225" sldId="422"/>
        </pc:sldMkLst>
        <pc:spChg chg="mod">
          <ac:chgData name="Divya Krishnakumar" userId="083ee865-650d-4256-9272-f4d91147c45c" providerId="ADAL" clId="{36858952-A957-4DFF-92A4-F62A093E1968}" dt="2022-02-18T06:45:55.216" v="23" actId="108"/>
          <ac:spMkLst>
            <pc:docMk/>
            <pc:sldMk cId="1269539225" sldId="422"/>
            <ac:spMk id="7" creationId="{045CD120-AFFC-4BEA-A617-47DCF0109B5C}"/>
          </ac:spMkLst>
        </pc:spChg>
      </pc:sldChg>
      <pc:sldChg chg="modSp mod">
        <pc:chgData name="Divya Krishnakumar" userId="083ee865-650d-4256-9272-f4d91147c45c" providerId="ADAL" clId="{36858952-A957-4DFF-92A4-F62A093E1968}" dt="2022-02-17T21:42:53.042" v="8" actId="20577"/>
        <pc:sldMkLst>
          <pc:docMk/>
          <pc:sldMk cId="2775247543" sldId="428"/>
        </pc:sldMkLst>
        <pc:spChg chg="mod">
          <ac:chgData name="Divya Krishnakumar" userId="083ee865-650d-4256-9272-f4d91147c45c" providerId="ADAL" clId="{36858952-A957-4DFF-92A4-F62A093E1968}" dt="2022-02-17T21:42:53.042" v="8" actId="20577"/>
          <ac:spMkLst>
            <pc:docMk/>
            <pc:sldMk cId="2775247543" sldId="428"/>
            <ac:spMk id="4" creationId="{5A59F49D-B5B7-4EF9-9FA8-A2AD1A13D9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AA413-85C6-40F2-B867-268CAAA7E377}" type="datetimeFigureOut">
              <a:rPr lang="en-US" smtClean="0"/>
              <a:t>2/23/2022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803E-66EE-42CE-8DFB-98553954E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10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6680D68-05FF-7942-990A-B21BB8E6CE33}" type="datetimeFigureOut">
              <a:rPr lang="en-US"/>
              <a:pPr>
                <a:defRPr/>
              </a:pPr>
              <a:t>2/23/2022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CAE60C-72A0-D14D-8733-C13212F694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67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4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the Knowledge Check questions to periodically pose a question to students during class to gauge how well they can recall the material that was presented.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08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64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Instructions: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Use this activity to solicit student opinions about concepts in the module or to play a game.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Go to kahoot.com, or the platform of your preference, and log in or sign up.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Create the challenge.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 Teacher Tip: Turn off the timer to prioritize accuracy or turn on the nickname generator to avoid inappropriate nicknames.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Invite players by sharing the link or PIN.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This can be done synchronously during class or asynchronously for review or homework.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981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Discussion activity to encourage group conversation about a related topic of interest.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6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15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35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01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11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the Knowledge Check questions to periodically pose a question to students during class to gauge how well they can recall the material that was presented.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088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64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Instructions: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Use this activity to solicit student opinions about concepts in the module or to play a game.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Go to kahoot.com, or the platform of your preference, and log in or sign up.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Create the challenge.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 Teacher Tip: Turn off the timer to prioritize accuracy or turn on the nickname generator to avoid inappropriate nicknames.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Invite players by sharing the link or PIN.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This can be done synchronously during class or asynchronously for review or homework.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66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15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indent="0">
              <a:buFontTx/>
              <a:buNone/>
            </a:pPr>
            <a:r>
              <a:rPr lang="en-US" dirty="0"/>
              <a:t>Use the Self-Assessment question to encourage students to evaluate their progress or goals in the course, as well as determine how they might apply their learning or grow as an individual.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7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1187"/>
            <a:ext cx="10515600" cy="6840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867275" y="3619985"/>
            <a:ext cx="2457450" cy="597477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74574" y="2193424"/>
            <a:ext cx="9642852" cy="618014"/>
          </a:xfrm>
        </p:spPr>
        <p:txBody>
          <a:bodyPr anchor="b">
            <a:noAutofit/>
          </a:bodyPr>
          <a:lstStyle>
            <a:lvl1pPr marL="0" indent="0" algn="ctr">
              <a:buNone/>
              <a:defRPr sz="5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Unit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96122"/>
            <a:ext cx="10515600" cy="672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3817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910" y="3112899"/>
            <a:ext cx="3297426" cy="618014"/>
          </a:xfrm>
        </p:spPr>
        <p:txBody>
          <a:bodyPr anchor="b">
            <a:no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Chapter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910" y="4035474"/>
            <a:ext cx="6402684" cy="67210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6063" y="314482"/>
            <a:ext cx="3343275" cy="431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6177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37326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 </a:t>
            </a:r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 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A08720E-89CF-471D-8467-1907150E3B60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4" y="1290690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40228" y="1737343"/>
            <a:ext cx="10711543" cy="1462674"/>
          </a:xfrm>
        </p:spPr>
        <p:txBody>
          <a:bodyPr>
            <a:no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Clr>
                <a:srgbClr val="000000"/>
              </a:buClr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Sed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3" y="3389727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43572" y="3856204"/>
            <a:ext cx="10711543" cy="1462674"/>
          </a:xfrm>
        </p:spPr>
        <p:txBody>
          <a:bodyPr>
            <a:noAutofit/>
          </a:bodyPr>
          <a:lstStyle>
            <a:lvl1pPr marL="0" indent="0" algn="l"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</a:t>
            </a:r>
          </a:p>
        </p:txBody>
      </p:sp>
      <p:sp>
        <p:nvSpPr>
          <p:cNvPr id="12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7936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43576" y="1579015"/>
            <a:ext cx="5084468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2202774"/>
            <a:ext cx="5084468" cy="3953578"/>
          </a:xfrm>
        </p:spPr>
        <p:txBody>
          <a:bodyPr>
            <a:normAutofit/>
          </a:bodyPr>
          <a:lstStyle>
            <a:lvl1pPr marL="0" indent="0">
              <a:buClr>
                <a:srgbClr val="004A78"/>
              </a:buClr>
              <a:buFont typeface="Arial" charset="0"/>
              <a:buNone/>
              <a:defRPr sz="1800">
                <a:solidFill>
                  <a:srgbClr val="000000"/>
                </a:solidFill>
              </a:defRPr>
            </a:lvl1pPr>
            <a:lvl2pPr marL="457200" indent="0">
              <a:buClr>
                <a:srgbClr val="004A78"/>
              </a:buClr>
              <a:buFont typeface="Arial" charset="0"/>
              <a:buNone/>
              <a:defRPr sz="1800">
                <a:solidFill>
                  <a:srgbClr val="000000"/>
                </a:solidFill>
              </a:defRPr>
            </a:lvl2pPr>
            <a:lvl3pPr marL="11430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3pPr>
            <a:lvl4pPr marL="16002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4pPr>
            <a:lvl5pPr marL="20574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 Massa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velit</a:t>
            </a:r>
            <a:r>
              <a:rPr lang="en-US"/>
              <a:t>.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.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nisi porta lorem. </a:t>
            </a:r>
            <a:r>
              <a:rPr lang="en-US" err="1"/>
              <a:t>Fermentum</a:t>
            </a:r>
            <a:r>
              <a:rPr lang="en-US"/>
              <a:t> et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dui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id </a:t>
            </a:r>
            <a:r>
              <a:rPr lang="en-US" err="1"/>
              <a:t>venenatis</a:t>
            </a:r>
            <a:r>
              <a:rPr lang="en-US"/>
              <a:t> a </a:t>
            </a:r>
            <a:r>
              <a:rPr lang="en-US" err="1"/>
              <a:t>condimentum</a:t>
            </a:r>
            <a:r>
              <a:rPr lang="en-US"/>
              <a:t>. Non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vel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6370651" y="1579015"/>
            <a:ext cx="5084468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370651" y="2202774"/>
            <a:ext cx="5084468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Clr>
                <a:srgbClr val="004A78"/>
              </a:buClr>
              <a:buFontTx/>
              <a:buChar char="‒"/>
              <a:defRPr sz="1800">
                <a:solidFill>
                  <a:srgbClr val="000000"/>
                </a:solidFill>
              </a:defRPr>
            </a:lvl2pPr>
            <a:lvl3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3pPr>
            <a:lvl4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4pPr>
            <a:lvl5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 Massa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.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nisi porta lorem. </a:t>
            </a:r>
            <a:r>
              <a:rPr lang="en-US" err="1"/>
              <a:t>Fermentum</a:t>
            </a:r>
            <a:r>
              <a:rPr lang="en-US"/>
              <a:t> et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dui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id </a:t>
            </a:r>
            <a:r>
              <a:rPr lang="en-US" err="1"/>
              <a:t>venenatis</a:t>
            </a:r>
            <a:r>
              <a:rPr lang="en-US"/>
              <a:t> a </a:t>
            </a:r>
            <a:r>
              <a:rPr lang="en-US" err="1"/>
              <a:t>condimentum</a:t>
            </a:r>
            <a:r>
              <a:rPr lang="en-US"/>
              <a:t>. Non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43576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2202774"/>
            <a:ext cx="3300402" cy="3953578"/>
          </a:xfrm>
        </p:spPr>
        <p:txBody>
          <a:bodyPr>
            <a:normAutofit/>
          </a:bodyPr>
          <a:lstStyle>
            <a:lvl1pPr marL="0" indent="0">
              <a:buClr>
                <a:srgbClr val="004A78"/>
              </a:buClr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4445799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445799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8145953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154717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10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275005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 </a:t>
            </a:r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 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40228" y="4846655"/>
            <a:ext cx="10711543" cy="8255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Lorem ipsum dolor sit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sed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do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dolore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magna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47480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33118" y="1619557"/>
            <a:ext cx="6477000" cy="425926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478972" y="4070657"/>
            <a:ext cx="3976406" cy="1808163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Lorem ipsum dolor sit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sed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do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dolore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magna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D3CEFA6-1052-4CB3-8134-501BB4231EC5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2E82F8-8478-47DF-BB49-FCCDE3B171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8972" y="3630961"/>
            <a:ext cx="3707552" cy="262425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0000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F6300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</a:t>
            </a:r>
          </a:p>
          <a:p>
            <a:pPr lvl="0"/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</a:t>
            </a:r>
          </a:p>
          <a:p>
            <a:pPr lvl="0"/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</a:t>
            </a:r>
          </a:p>
          <a:p>
            <a:pPr lvl="0"/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Footer"/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 Antill Wilson, Hands-On Ethical Hacking and Network Defense, 4th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058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457200" indent="-457200">
              <a:buClr>
                <a:srgbClr val="004A78"/>
              </a:buClr>
              <a:buFont typeface="+mj-lt"/>
              <a:buAutoNum type="arabicPeriod"/>
              <a:defRPr sz="2000">
                <a:solidFill>
                  <a:srgbClr val="000000"/>
                </a:solidFill>
              </a:defRPr>
            </a:lvl1pPr>
            <a:lvl2pPr marL="45720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None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</a:t>
            </a:r>
          </a:p>
          <a:p>
            <a:pPr lvl="0"/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</a:t>
            </a:r>
          </a:p>
          <a:p>
            <a:pPr lvl="0"/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</a:t>
            </a:r>
          </a:p>
          <a:p>
            <a:pPr lvl="0"/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</a:t>
            </a:r>
          </a:p>
          <a:p>
            <a:pPr lvl="0"/>
            <a:r>
              <a:rPr lang="en-US"/>
              <a:t>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34264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ourier New" panose="02070309020205020404" pitchFamily="49" charset="0"/>
              <a:buChar char="o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3735F31-4A9D-40F8-9F71-BD376A4D8D2F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1895522" y="2019868"/>
            <a:ext cx="8128000" cy="3380095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79FF5D3-8EDD-4E3F-9076-F1A6AB3D3112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1652337" y="4026568"/>
            <a:ext cx="8507663" cy="2143416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79FF5D3-8EDD-4E3F-9076-F1A6AB3D3112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D354C28-2602-4BD1-852F-6D26EF74A6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577" y="1638300"/>
            <a:ext cx="10610224" cy="2143416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3022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910" y="3112899"/>
            <a:ext cx="3297426" cy="618014"/>
          </a:xfrm>
        </p:spPr>
        <p:txBody>
          <a:bodyPr anchor="b">
            <a:no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Chapter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910" y="4035474"/>
            <a:ext cx="6402684" cy="67210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6063" y="314482"/>
            <a:ext cx="3343275" cy="431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DBF05B8-008A-435C-BEB9-BA347195A6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3890" y="6375089"/>
            <a:ext cx="8843249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6472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843" y="6356350"/>
            <a:ext cx="1579562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2225" y="6356350"/>
            <a:ext cx="9257732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rgbClr val="006298"/>
                </a:solidFill>
                <a:latin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1" r:id="rId2"/>
    <p:sldLayoutId id="2147483722" r:id="rId3"/>
    <p:sldLayoutId id="2147483714" r:id="rId4"/>
    <p:sldLayoutId id="2147483718" r:id="rId5"/>
    <p:sldLayoutId id="2147483715" r:id="rId6"/>
    <p:sldLayoutId id="2147483716" r:id="rId7"/>
    <p:sldLayoutId id="2147483719" r:id="rId8"/>
    <p:sldLayoutId id="2147483720" r:id="rId9"/>
    <p:sldLayoutId id="2147483723" r:id="rId10"/>
    <p:sldLayoutId id="2147483724" r:id="rId11"/>
    <p:sldLayoutId id="2147483713" r:id="rId12"/>
    <p:sldLayoutId id="2147483717" r:id="rId13"/>
    <p:sldLayoutId id="2147483726" r:id="rId14"/>
    <p:sldLayoutId id="2147483725" r:id="rId15"/>
  </p:sldLayoutIdLst>
  <p:hf sldNum="0"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 b="1" i="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None/>
        <a:defRPr sz="28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32437B-505B-437D-B700-DB98649D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00" y="1901952"/>
            <a:ext cx="8037040" cy="1527048"/>
          </a:xfrm>
        </p:spPr>
        <p:txBody>
          <a:bodyPr anchor="ctr"/>
          <a:lstStyle/>
          <a:p>
            <a:pPr algn="ctr"/>
            <a:r>
              <a:rPr lang="en-US" sz="4000" b="0" dirty="0"/>
              <a:t>Hands-On Ethical Hacking and Network Defense,</a:t>
            </a:r>
            <a:br>
              <a:rPr lang="en-US" sz="4000" b="0" dirty="0"/>
            </a:br>
            <a:r>
              <a:rPr lang="en-US" sz="4000" b="0" dirty="0"/>
              <a:t>Edition 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F6995-6A0D-4B55-9749-F555B7DB1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17175" y="3828650"/>
            <a:ext cx="6372223" cy="1116757"/>
          </a:xfrm>
        </p:spPr>
        <p:txBody>
          <a:bodyPr anchor="ctr"/>
          <a:lstStyle/>
          <a:p>
            <a:pPr algn="ctr"/>
            <a:r>
              <a:rPr lang="en-US" b="1" dirty="0"/>
              <a:t>Module 5: </a:t>
            </a:r>
            <a:r>
              <a:rPr lang="en-US" dirty="0"/>
              <a:t>Port Scanning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04689AD-7516-4970-AD66-26CA853AA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23" r="923"/>
          <a:stretch>
            <a:fillRect/>
          </a:stretch>
        </p:blipFill>
        <p:spPr>
          <a:xfrm>
            <a:off x="246063" y="314325"/>
            <a:ext cx="3343275" cy="4318000"/>
          </a:xfr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B1026838-50FD-462D-BFD6-82AA8692D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8694" y="6347068"/>
            <a:ext cx="9058446" cy="441920"/>
          </a:xfrm>
        </p:spPr>
        <p:txBody>
          <a:bodyPr/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</a:t>
            </a:r>
            <a:r>
              <a:rPr lang="en-US" sz="1400" dirty="0">
                <a:solidFill>
                  <a:schemeClr val="bg1"/>
                </a:solidFill>
                <a:latin typeface="arial" charset="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17249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Module Objectives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dirty="0"/>
              <a:t>By the end of this module, you should be able to: </a:t>
            </a:r>
          </a:p>
          <a:p>
            <a:pPr lvl="1"/>
            <a:r>
              <a:rPr lang="en-US" dirty="0"/>
              <a:t>Describe port scanning and types of port scans</a:t>
            </a:r>
          </a:p>
          <a:p>
            <a:pPr lvl="1"/>
            <a:r>
              <a:rPr lang="en-US" dirty="0"/>
              <a:t>Describe port-scanning tools</a:t>
            </a:r>
          </a:p>
          <a:p>
            <a:pPr lvl="1"/>
            <a:r>
              <a:rPr lang="en-US" dirty="0"/>
              <a:t>Explain what ping sweeps are used for</a:t>
            </a:r>
          </a:p>
          <a:p>
            <a:pPr lvl="1"/>
            <a:r>
              <a:rPr lang="en-US" dirty="0"/>
              <a:t>Explain how shell scripting is used to automate security tasks</a:t>
            </a:r>
          </a:p>
        </p:txBody>
      </p:sp>
    </p:spTree>
    <p:extLst>
      <p:ext uri="{BB962C8B-B14F-4D97-AF65-F5344CB8AC3E}">
        <p14:creationId xmlns:p14="http://schemas.microsoft.com/office/powerpoint/2010/main" val="5495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85C-E736-4579-9701-27091A38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Introduction to Port Scanning (1 of 3)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B213-BEFF-48FD-A4A3-34D3E61861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Port scanning</a:t>
            </a:r>
          </a:p>
          <a:p>
            <a:pPr lvl="1" eaLnBrk="1" hangingPunct="1"/>
            <a:r>
              <a:rPr lang="en-US" altLang="en-US" dirty="0"/>
              <a:t>Method of finding which services are offered by a host computer</a:t>
            </a:r>
          </a:p>
          <a:p>
            <a:pPr lvl="1" eaLnBrk="1" hangingPunct="1"/>
            <a:r>
              <a:rPr lang="en-US" altLang="en-US" dirty="0"/>
              <a:t>Identifies vulnerabilities</a:t>
            </a:r>
          </a:p>
          <a:p>
            <a:pPr eaLnBrk="1" hangingPunct="1"/>
            <a:r>
              <a:rPr lang="en-US" altLang="en-US" dirty="0"/>
              <a:t>Port-scanning tools</a:t>
            </a:r>
          </a:p>
          <a:p>
            <a:pPr lvl="1" eaLnBrk="1" hangingPunct="1"/>
            <a:r>
              <a:rPr lang="en-US" altLang="en-US" dirty="0"/>
              <a:t>Identify vulnerable open ports and launch an exploit to attack the system</a:t>
            </a:r>
          </a:p>
          <a:p>
            <a:pPr eaLnBrk="1" hangingPunct="1"/>
            <a:r>
              <a:rPr lang="en-US" altLang="en-US" dirty="0"/>
              <a:t>Security testers must scan all ports when testing</a:t>
            </a:r>
          </a:p>
          <a:p>
            <a:pPr lvl="1" eaLnBrk="1" hangingPunct="1"/>
            <a:r>
              <a:rPr lang="en-US" altLang="en-US" dirty="0"/>
              <a:t>Not just well-known ports</a:t>
            </a:r>
          </a:p>
        </p:txBody>
      </p:sp>
    </p:spTree>
    <p:extLst>
      <p:ext uri="{BB962C8B-B14F-4D97-AF65-F5344CB8AC3E}">
        <p14:creationId xmlns:p14="http://schemas.microsoft.com/office/powerpoint/2010/main" val="191784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85C-E736-4579-9701-27091A38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Port Scanning (2 of 3)</a:t>
            </a:r>
            <a:endParaRPr lang="en-IN" dirty="0"/>
          </a:p>
        </p:txBody>
      </p:sp>
      <p:pic>
        <p:nvPicPr>
          <p:cNvPr id="10" name="Picture Placeholder 9" descr="The Angry I P port scanner with a list of I P addresses and open ports.">
            <a:extLst>
              <a:ext uri="{FF2B5EF4-FFF2-40B4-BE49-F238E27FC236}">
                <a16:creationId xmlns:a16="http://schemas.microsoft.com/office/drawing/2014/main" id="{24A17704-24A0-4909-80D1-D552B2D6AF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5"/>
          <a:stretch/>
        </p:blipFill>
        <p:spPr>
          <a:xfrm>
            <a:off x="548640" y="1590371"/>
            <a:ext cx="7296092" cy="408118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51940D-AA93-46AD-81B5-8C876E73D0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6027421" y="3499748"/>
            <a:ext cx="3707552" cy="262425"/>
          </a:xfrm>
        </p:spPr>
        <p:txBody>
          <a:bodyPr/>
          <a:lstStyle/>
          <a:p>
            <a:r>
              <a:rPr lang="en-IN" dirty="0"/>
              <a:t>Source: Angry IP Scanner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133458-A672-441D-AF91-1F7166D16B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61792" y="5043509"/>
            <a:ext cx="3808288" cy="672104"/>
          </a:xfrm>
        </p:spPr>
        <p:txBody>
          <a:bodyPr/>
          <a:lstStyle/>
          <a:p>
            <a:r>
              <a:rPr lang="en-US" b="1" dirty="0"/>
              <a:t>Figure 5-1 </a:t>
            </a:r>
            <a:r>
              <a:rPr lang="en-US" dirty="0"/>
              <a:t>Angry IP port scanner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61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7F55C4-55CA-414D-8831-F36CFD4E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Port Scanning (3 of 3)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6AE4C8-3710-4017-AA7B-4B4EC156EF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Port-scanning programs report:</a:t>
            </a:r>
          </a:p>
          <a:p>
            <a:pPr lvl="1" eaLnBrk="1" hangingPunct="1"/>
            <a:r>
              <a:rPr lang="en-US" altLang="en-US" b="1" dirty="0"/>
              <a:t>Open ports</a:t>
            </a:r>
          </a:p>
          <a:p>
            <a:pPr lvl="2" eaLnBrk="1" hangingPunct="1"/>
            <a:r>
              <a:rPr lang="en-US" altLang="en-US" dirty="0"/>
              <a:t>Allow access to applications and can be vulnerable to an attack</a:t>
            </a:r>
          </a:p>
          <a:p>
            <a:pPr lvl="1" eaLnBrk="1" hangingPunct="1"/>
            <a:r>
              <a:rPr lang="en-US" altLang="en-US" b="1" dirty="0"/>
              <a:t>Closed ports</a:t>
            </a:r>
          </a:p>
          <a:p>
            <a:pPr lvl="2" eaLnBrk="1" hangingPunct="1"/>
            <a:r>
              <a:rPr lang="en-US" altLang="en-US" dirty="0"/>
              <a:t>Don’t allow entry or access to a service</a:t>
            </a:r>
          </a:p>
          <a:p>
            <a:pPr lvl="1" eaLnBrk="1" hangingPunct="1"/>
            <a:r>
              <a:rPr lang="en-US" altLang="en-US" b="1" dirty="0"/>
              <a:t>Filtered ports</a:t>
            </a:r>
          </a:p>
          <a:p>
            <a:pPr lvl="2" eaLnBrk="1" hangingPunct="1"/>
            <a:r>
              <a:rPr lang="en-US" altLang="en-US" dirty="0"/>
              <a:t>Might indicate that a firewall is being used to allow specified traffic into or out of the network</a:t>
            </a:r>
          </a:p>
        </p:txBody>
      </p:sp>
    </p:spTree>
    <p:extLst>
      <p:ext uri="{BB962C8B-B14F-4D97-AF65-F5344CB8AC3E}">
        <p14:creationId xmlns:p14="http://schemas.microsoft.com/office/powerpoint/2010/main" val="40661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Types of Port Scans (1 of 2)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82330-7DDD-44FE-B24F-B5505B0ED0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dirty="0"/>
              <a:t>SYN scan</a:t>
            </a:r>
          </a:p>
          <a:p>
            <a:pPr lvl="1" eaLnBrk="1" hangingPunct="1"/>
            <a:r>
              <a:rPr lang="en-US" altLang="en-US" dirty="0"/>
              <a:t>Stealthy scan</a:t>
            </a:r>
          </a:p>
          <a:p>
            <a:pPr eaLnBrk="1" hangingPunct="1"/>
            <a:r>
              <a:rPr lang="en-US" altLang="en-US" dirty="0"/>
              <a:t>Connect scan</a:t>
            </a:r>
          </a:p>
          <a:p>
            <a:pPr lvl="1" eaLnBrk="1" hangingPunct="1"/>
            <a:r>
              <a:rPr lang="en-US" altLang="en-US" dirty="0"/>
              <a:t>Completes the three-way handshake</a:t>
            </a:r>
          </a:p>
          <a:p>
            <a:pPr eaLnBrk="1" hangingPunct="1"/>
            <a:r>
              <a:rPr lang="en-US" altLang="en-US" dirty="0"/>
              <a:t>NULL scan</a:t>
            </a:r>
          </a:p>
          <a:p>
            <a:pPr lvl="1" eaLnBrk="1" hangingPunct="1"/>
            <a:r>
              <a:rPr lang="en-US" altLang="en-US" dirty="0"/>
              <a:t>All packet flags are turned off</a:t>
            </a:r>
          </a:p>
          <a:p>
            <a:pPr eaLnBrk="1" hangingPunct="1"/>
            <a:r>
              <a:rPr lang="en-US" altLang="en-US" dirty="0"/>
              <a:t>XMAS scan</a:t>
            </a:r>
          </a:p>
          <a:p>
            <a:pPr lvl="1" eaLnBrk="1" hangingPunct="1"/>
            <a:r>
              <a:rPr lang="en-US" altLang="en-US" dirty="0"/>
              <a:t>FIN, PSH, and URG flags are set</a:t>
            </a:r>
          </a:p>
        </p:txBody>
      </p:sp>
    </p:spTree>
    <p:extLst>
      <p:ext uri="{BB962C8B-B14F-4D97-AF65-F5344CB8AC3E}">
        <p14:creationId xmlns:p14="http://schemas.microsoft.com/office/powerpoint/2010/main" val="32482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Types of Port Scans (2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82330-7DDD-44FE-B24F-B5505B0ED0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dirty="0"/>
              <a:t>ACK scan</a:t>
            </a:r>
          </a:p>
          <a:p>
            <a:pPr lvl="1" eaLnBrk="1" hangingPunct="1"/>
            <a:r>
              <a:rPr lang="en-US" altLang="en-US" dirty="0"/>
              <a:t>Used to get past a firewall or other filtering device</a:t>
            </a:r>
          </a:p>
          <a:p>
            <a:pPr eaLnBrk="1" hangingPunct="1"/>
            <a:r>
              <a:rPr lang="en-US" altLang="en-US" dirty="0"/>
              <a:t>FIN scan</a:t>
            </a:r>
          </a:p>
          <a:p>
            <a:pPr lvl="1" eaLnBrk="1" hangingPunct="1"/>
            <a:r>
              <a:rPr lang="en-US" altLang="en-US" dirty="0"/>
              <a:t>Closed port responds with an RST packet when the FIN packet is sent to the target computer</a:t>
            </a:r>
          </a:p>
          <a:p>
            <a:pPr eaLnBrk="1" hangingPunct="1"/>
            <a:r>
              <a:rPr lang="en-US" altLang="en-US" dirty="0"/>
              <a:t>UDP scan</a:t>
            </a:r>
          </a:p>
          <a:p>
            <a:pPr lvl="1" eaLnBrk="1" hangingPunct="1"/>
            <a:r>
              <a:rPr lang="en-US" altLang="en-US" dirty="0"/>
              <a:t>UDP packet is sent to the target computer</a:t>
            </a:r>
          </a:p>
          <a:p>
            <a:pPr lvl="2"/>
            <a:r>
              <a:rPr lang="en-US" altLang="en-US" dirty="0"/>
              <a:t>If port sends back an ICMP “Port Unreachable” message</a:t>
            </a:r>
          </a:p>
          <a:p>
            <a:pPr lvl="3"/>
            <a:r>
              <a:rPr lang="en-US" altLang="en-US" dirty="0"/>
              <a:t>Implies that the port is closed</a:t>
            </a:r>
          </a:p>
        </p:txBody>
      </p:sp>
    </p:spTree>
    <p:extLst>
      <p:ext uri="{BB962C8B-B14F-4D97-AF65-F5344CB8AC3E}">
        <p14:creationId xmlns:p14="http://schemas.microsoft.com/office/powerpoint/2010/main" val="206407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5-1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Security testers and hackers use which of the following to determine the services running on a host and the vulnerabilities associated with these services?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lphaLcPeriod"/>
            </a:pPr>
            <a:r>
              <a:rPr lang="fr-FR" sz="2000" dirty="0"/>
              <a:t>Zone transfers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000" dirty="0"/>
              <a:t>Zone scanning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000" dirty="0"/>
              <a:t>Encryption algorithms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000" dirty="0"/>
              <a:t>Port scanning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3219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5-1: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Security testers and hackers use which of the following to determine the services running on a host and the vulnerabilities associated with these services?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d. Port scanning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Port scanning is a method of finding out which services a host computer offers. Port-scanning tools can be used to identify vulnerabilities associated with these services.</a:t>
            </a:r>
          </a:p>
        </p:txBody>
      </p:sp>
    </p:spTree>
    <p:extLst>
      <p:ext uri="{BB962C8B-B14F-4D97-AF65-F5344CB8AC3E}">
        <p14:creationId xmlns:p14="http://schemas.microsoft.com/office/powerpoint/2010/main" val="3690386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Activity 5-1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r>
              <a:rPr lang="en-US" sz="2000" dirty="0"/>
              <a:t>A FIN packet sent to a closed port responds with which of the following packets?</a:t>
            </a:r>
          </a:p>
          <a:p>
            <a:endParaRPr lang="en-US" sz="2000" dirty="0"/>
          </a:p>
          <a:p>
            <a:pPr marL="457200" indent="-457200">
              <a:buAutoNum type="alphaLcPeriod"/>
            </a:pPr>
            <a:r>
              <a:rPr lang="en-US" sz="2000" dirty="0"/>
              <a:t>FIN</a:t>
            </a:r>
          </a:p>
          <a:p>
            <a:pPr marL="457200" indent="-457200">
              <a:buAutoNum type="alphaLcPeriod"/>
            </a:pPr>
            <a:r>
              <a:rPr lang="en-US" sz="2000" dirty="0"/>
              <a:t>SYN-ACK</a:t>
            </a:r>
          </a:p>
          <a:p>
            <a:pPr marL="457200" indent="-457200">
              <a:buAutoNum type="alphaLcPeriod"/>
            </a:pPr>
            <a:r>
              <a:rPr lang="en-US" sz="2000" dirty="0"/>
              <a:t>RST</a:t>
            </a:r>
          </a:p>
          <a:p>
            <a:pPr marL="457200" indent="-457200">
              <a:buAutoNum type="alphaLcPeriod"/>
            </a:pPr>
            <a:r>
              <a:rPr lang="en-US" sz="2000" dirty="0"/>
              <a:t>SYN</a:t>
            </a:r>
          </a:p>
        </p:txBody>
      </p:sp>
    </p:spTree>
    <p:extLst>
      <p:ext uri="{BB962C8B-B14F-4D97-AF65-F5344CB8AC3E}">
        <p14:creationId xmlns:p14="http://schemas.microsoft.com/office/powerpoint/2010/main" val="163408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Activity 5-1: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r>
              <a:rPr lang="en-US" sz="2000" dirty="0"/>
              <a:t>A FIN packet sent to a closed port responds with which of the following packets?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c. RST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When a port is closed in a FIN scan, it sends back an RST packet.</a:t>
            </a:r>
          </a:p>
        </p:txBody>
      </p:sp>
    </p:spTree>
    <p:extLst>
      <p:ext uri="{BB962C8B-B14F-4D97-AF65-F5344CB8AC3E}">
        <p14:creationId xmlns:p14="http://schemas.microsoft.com/office/powerpoint/2010/main" val="220971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Activity 5-1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r>
              <a:rPr lang="en-US" sz="2000" dirty="0"/>
              <a:t>A NULL scan requires setting the FIN, ACK, and URG flags. True or false?</a:t>
            </a:r>
          </a:p>
          <a:p>
            <a:endParaRPr lang="en-US" sz="2000" dirty="0"/>
          </a:p>
          <a:p>
            <a:r>
              <a:rPr lang="en-US" sz="2000" dirty="0"/>
              <a:t>Discuss the answer with your classmates.</a:t>
            </a:r>
          </a:p>
        </p:txBody>
      </p:sp>
    </p:spTree>
    <p:extLst>
      <p:ext uri="{BB962C8B-B14F-4D97-AF65-F5344CB8AC3E}">
        <p14:creationId xmlns:p14="http://schemas.microsoft.com/office/powerpoint/2010/main" val="47171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Activity 5-1: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r>
              <a:rPr lang="en-US" sz="2000" dirty="0"/>
              <a:t>A NULL scan requires setting the FIN, ACK, and URG flags. True or false?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False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Explanation: A NULL scan does not require setting the FIN, ACK, and URG flags. The FIN, PSH, and URG flags are set in an XMAS scan.</a:t>
            </a:r>
          </a:p>
        </p:txBody>
      </p:sp>
    </p:spTree>
    <p:extLst>
      <p:ext uri="{BB962C8B-B14F-4D97-AF65-F5344CB8AC3E}">
        <p14:creationId xmlns:p14="http://schemas.microsoft.com/office/powerpoint/2010/main" val="2824604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Using Port-Scanning Tools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82330-7DDD-44FE-B24F-B5505B0ED0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dirty="0"/>
              <a:t>Port-scanning tools</a:t>
            </a:r>
          </a:p>
          <a:p>
            <a:pPr lvl="1" eaLnBrk="1" hangingPunct="1"/>
            <a:r>
              <a:rPr lang="en-US" altLang="en-US" dirty="0"/>
              <a:t>Hundreds are available</a:t>
            </a:r>
          </a:p>
          <a:p>
            <a:pPr lvl="1" eaLnBrk="1" hangingPunct="1"/>
            <a:r>
              <a:rPr lang="en-US" altLang="en-US" dirty="0"/>
              <a:t>Not all are accurate</a:t>
            </a:r>
          </a:p>
          <a:p>
            <a:pPr lvl="2" eaLnBrk="1" hangingPunct="1"/>
            <a:r>
              <a:rPr lang="en-US" altLang="en-US" dirty="0"/>
              <a:t>Be familiar with a variety of tools</a:t>
            </a:r>
          </a:p>
          <a:p>
            <a:pPr lvl="2" eaLnBrk="1" hangingPunct="1"/>
            <a:r>
              <a:rPr lang="en-US" altLang="en-US" dirty="0"/>
              <a:t>Practice often to gain proficiency</a:t>
            </a:r>
          </a:p>
          <a:p>
            <a:pPr lvl="1" eaLnBrk="1" hangingPunct="1"/>
            <a:r>
              <a:rPr lang="en-US" altLang="en-US" dirty="0"/>
              <a:t>Do not use one tool exclusively</a:t>
            </a:r>
          </a:p>
          <a:p>
            <a:pPr eaLnBrk="1" hangingPunct="1"/>
            <a:r>
              <a:rPr lang="en-US" altLang="en-US" dirty="0"/>
              <a:t>Some tools include:</a:t>
            </a:r>
          </a:p>
          <a:p>
            <a:pPr lvl="1" eaLnBrk="1" hangingPunct="1"/>
            <a:r>
              <a:rPr lang="en-US" altLang="en-US" b="1" dirty="0"/>
              <a:t>Nmap</a:t>
            </a:r>
          </a:p>
          <a:p>
            <a:pPr lvl="1" eaLnBrk="1" hangingPunct="1"/>
            <a:r>
              <a:rPr lang="en-US" altLang="en-US" dirty="0"/>
              <a:t>Nessus and OpenVAS</a:t>
            </a:r>
          </a:p>
        </p:txBody>
      </p:sp>
    </p:spTree>
    <p:extLst>
      <p:ext uri="{BB962C8B-B14F-4D97-AF65-F5344CB8AC3E}">
        <p14:creationId xmlns:p14="http://schemas.microsoft.com/office/powerpoint/2010/main" val="3411519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Nmap (1 of 2)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dirty="0"/>
              <a:t>Originally written for </a:t>
            </a:r>
            <a:r>
              <a:rPr lang="en-US" altLang="en-US" i="1" dirty="0"/>
              <a:t>Phrack</a:t>
            </a:r>
            <a:r>
              <a:rPr lang="en-US" altLang="en-US" dirty="0"/>
              <a:t> magazine</a:t>
            </a:r>
          </a:p>
          <a:p>
            <a:pPr lvl="1" eaLnBrk="1" hangingPunct="1"/>
            <a:r>
              <a:rPr lang="en-US" altLang="en-US" dirty="0"/>
              <a:t>One of the most popular port-scanning tools</a:t>
            </a:r>
          </a:p>
          <a:p>
            <a:pPr lvl="1" eaLnBrk="1" hangingPunct="1"/>
            <a:r>
              <a:rPr lang="en-US" altLang="en-US" dirty="0"/>
              <a:t>New features are frequently added</a:t>
            </a:r>
          </a:p>
          <a:p>
            <a:pPr eaLnBrk="1" hangingPunct="1"/>
            <a:r>
              <a:rPr lang="en-US" altLang="en-US" dirty="0"/>
              <a:t>GUI front end</a:t>
            </a:r>
          </a:p>
          <a:p>
            <a:pPr lvl="1" eaLnBrk="1" hangingPunct="1"/>
            <a:r>
              <a:rPr lang="en-US" altLang="en-US" dirty="0"/>
              <a:t>Known as Zenmap</a:t>
            </a:r>
          </a:p>
          <a:p>
            <a:pPr lvl="1" eaLnBrk="1" hangingPunct="1"/>
            <a:r>
              <a:rPr lang="en-US" altLang="en-US" dirty="0"/>
              <a:t>Makes working with complex options easier</a:t>
            </a:r>
          </a:p>
          <a:p>
            <a:pPr eaLnBrk="1" hangingPunct="1"/>
            <a:r>
              <a:rPr lang="en-US" altLang="en-US" dirty="0"/>
              <a:t>Standard port-scanning tool for security professionals</a:t>
            </a:r>
          </a:p>
          <a:p>
            <a:pPr lvl="1"/>
            <a:r>
              <a:rPr lang="en-US" altLang="en-US" dirty="0"/>
              <a:t>Command: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nmap 193.145.85.201 </a:t>
            </a:r>
          </a:p>
          <a:p>
            <a:pPr lvl="2"/>
            <a:r>
              <a:rPr lang="en-US" altLang="en-US" dirty="0"/>
              <a:t>Scans every port on the computer with this IP address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25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Nmap (2 of 2)</a:t>
            </a:r>
            <a:endParaRPr lang="en-US" dirty="0"/>
          </a:p>
        </p:txBody>
      </p:sp>
      <p:pic>
        <p:nvPicPr>
          <p:cNvPr id="10" name="Picture Placeholder 9" descr="Help information displayed for the N map command, showing some N map command-line arguments.">
            <a:extLst>
              <a:ext uri="{FF2B5EF4-FFF2-40B4-BE49-F238E27FC236}">
                <a16:creationId xmlns:a16="http://schemas.microsoft.com/office/drawing/2014/main" id="{26DA9495-75E6-4A3A-AF4F-234BE63783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69" b="-1565"/>
          <a:stretch/>
        </p:blipFill>
        <p:spPr>
          <a:xfrm>
            <a:off x="733118" y="1068484"/>
            <a:ext cx="6862796" cy="511159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849C67-24DD-4E75-B594-F100F48917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5879626" y="3994745"/>
            <a:ext cx="3707552" cy="274976"/>
          </a:xfrm>
        </p:spPr>
        <p:txBody>
          <a:bodyPr/>
          <a:lstStyle/>
          <a:p>
            <a:r>
              <a:rPr lang="en-IN" dirty="0"/>
              <a:t>Source: Kali Linux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C9D85-43E3-444D-A816-C4E0951EC1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4649" y="5313905"/>
            <a:ext cx="3578772" cy="503572"/>
          </a:xfrm>
        </p:spPr>
        <p:txBody>
          <a:bodyPr/>
          <a:lstStyle/>
          <a:p>
            <a:r>
              <a:rPr lang="en-US" b="1" dirty="0">
                <a:solidFill>
                  <a:srgbClr val="004A78"/>
                </a:solidFill>
              </a:rPr>
              <a:t>Figure 5-2 </a:t>
            </a:r>
            <a:r>
              <a:rPr lang="en-US" dirty="0">
                <a:solidFill>
                  <a:srgbClr val="004A78"/>
                </a:solidFill>
              </a:rPr>
              <a:t>Nmap help screen</a:t>
            </a:r>
            <a:endParaRPr lang="en-IN" dirty="0">
              <a:solidFill>
                <a:srgbClr val="004A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513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9F49D-B5B7-4EF9-9FA8-A2AD1A13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Nessus and OpenVAS (or Greenbone Security Assistant) (1 of 4)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4F286-8DF4-49F9-81A5-0E1B45EB6F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b="1" dirty="0"/>
              <a:t>Nessus</a:t>
            </a:r>
          </a:p>
          <a:p>
            <a:pPr lvl="1"/>
            <a:r>
              <a:rPr lang="en-US" altLang="en-US" dirty="0"/>
              <a:t>Vulnerable assessment tool from Tenable</a:t>
            </a:r>
          </a:p>
          <a:p>
            <a:pPr lvl="1"/>
            <a:r>
              <a:rPr lang="en-US" altLang="en-US" dirty="0"/>
              <a:t>Extends NMAP capabilities by analyzing open ports for specific version information</a:t>
            </a:r>
          </a:p>
          <a:p>
            <a:pPr lvl="1"/>
            <a:r>
              <a:rPr lang="en-US" altLang="en-US" dirty="0"/>
              <a:t>Provides detailed vulnerability information on the corresponding service</a:t>
            </a:r>
          </a:p>
          <a:p>
            <a:pPr lvl="1"/>
            <a:r>
              <a:rPr lang="en-US" altLang="en-US" dirty="0"/>
              <a:t>Nessus Professional</a:t>
            </a:r>
          </a:p>
          <a:p>
            <a:pPr lvl="2"/>
            <a:r>
              <a:rPr lang="en-US" altLang="en-US" dirty="0"/>
              <a:t>Product you purchase</a:t>
            </a:r>
          </a:p>
          <a:p>
            <a:pPr lvl="1"/>
            <a:r>
              <a:rPr lang="en-US" altLang="en-US" dirty="0"/>
              <a:t>Nessus Essentials</a:t>
            </a:r>
          </a:p>
          <a:p>
            <a:pPr lvl="2"/>
            <a:r>
              <a:rPr lang="en-US" altLang="en-US" dirty="0"/>
              <a:t>Provides a free version</a:t>
            </a:r>
          </a:p>
        </p:txBody>
      </p:sp>
    </p:spTree>
    <p:extLst>
      <p:ext uri="{BB962C8B-B14F-4D97-AF65-F5344CB8AC3E}">
        <p14:creationId xmlns:p14="http://schemas.microsoft.com/office/powerpoint/2010/main" val="3338165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9F49D-B5B7-4EF9-9FA8-A2AD1A13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Nessus and OpenVAS (or Greenbone Security Assistant) (2 of 4)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4F286-8DF4-49F9-81A5-0E1B45EB6F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b="1" dirty="0"/>
              <a:t>OpenVAS</a:t>
            </a:r>
          </a:p>
          <a:p>
            <a:pPr lvl="1" eaLnBrk="1" hangingPunct="1"/>
            <a:r>
              <a:rPr lang="en-US" altLang="en-US" dirty="0"/>
              <a:t>Open-source fork of Nessus</a:t>
            </a:r>
          </a:p>
          <a:p>
            <a:pPr lvl="1" eaLnBrk="1" hangingPunct="1"/>
            <a:r>
              <a:rPr lang="en-US" altLang="en-US" dirty="0"/>
              <a:t>Now branded as Greenbone Security Assistant</a:t>
            </a:r>
          </a:p>
          <a:p>
            <a:pPr lvl="1" eaLnBrk="1" hangingPunct="1"/>
            <a:r>
              <a:rPr lang="en-US" altLang="en-US" dirty="0"/>
              <a:t>Capable of updating security check plug-ins when they become available</a:t>
            </a:r>
          </a:p>
          <a:p>
            <a:pPr lvl="2"/>
            <a:r>
              <a:rPr lang="en-US" altLang="en-US" dirty="0"/>
              <a:t>Security test program that can be selected from the client interface</a:t>
            </a:r>
          </a:p>
          <a:p>
            <a:pPr lvl="2"/>
            <a:r>
              <a:rPr lang="en-US" altLang="en-US" dirty="0"/>
              <a:t>Leaving the Safe checks enabled in the policy is advisable</a:t>
            </a:r>
          </a:p>
          <a:p>
            <a:pPr lvl="2"/>
            <a:r>
              <a:rPr lang="en-US" altLang="en-US" dirty="0"/>
              <a:t>Can also determine what vulnerabilities are associated with services</a:t>
            </a:r>
          </a:p>
        </p:txBody>
      </p:sp>
    </p:spTree>
    <p:extLst>
      <p:ext uri="{BB962C8B-B14F-4D97-AF65-F5344CB8AC3E}">
        <p14:creationId xmlns:p14="http://schemas.microsoft.com/office/powerpoint/2010/main" val="2775247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 wrap="square" anchor="t">
            <a:noAutofit/>
          </a:bodyPr>
          <a:lstStyle/>
          <a:p>
            <a:r>
              <a:rPr lang="en-US" altLang="en-US" sz="2800" dirty="0"/>
              <a:t>Nessus and OpenVAS (or Greenbone Security Assistant) (3 of 4) </a:t>
            </a:r>
            <a:endParaRPr lang="en-US" sz="2800" dirty="0"/>
          </a:p>
        </p:txBody>
      </p:sp>
      <p:pic>
        <p:nvPicPr>
          <p:cNvPr id="9" name="Picture Placeholder 8" descr="The home screen of the OpenVAS vulnerability scanner, with the Quick start: Immediately scan an I P address input form.">
            <a:extLst>
              <a:ext uri="{FF2B5EF4-FFF2-40B4-BE49-F238E27FC236}">
                <a16:creationId xmlns:a16="http://schemas.microsoft.com/office/drawing/2014/main" id="{8CE30C1B-3400-45A0-8607-661791A410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118" y="1619557"/>
            <a:ext cx="6477000" cy="4513229"/>
          </a:xfrm>
          <a:noFill/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F6881B-5D44-4D79-96D7-C5EFD4F62F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5487556" y="4147797"/>
            <a:ext cx="3707552" cy="262425"/>
          </a:xfrm>
        </p:spPr>
        <p:txBody>
          <a:bodyPr wrap="square" anchor="t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1800" dirty="0"/>
              <a:t>Source: GNU General Public License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C9D85-43E3-444D-A816-C4E0951EC1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99234" y="5221541"/>
            <a:ext cx="3874828" cy="6721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Figure 5-4 </a:t>
            </a:r>
            <a:r>
              <a:rPr lang="en-US" dirty="0"/>
              <a:t>OpenVAS (Greenbone Security Assistant) home screen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151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Nessus and OpenVAS (or Greenbone Security Assistant) (4 of 4) </a:t>
            </a:r>
            <a:endParaRPr lang="en-IN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6DE392-3F6C-43A5-B913-DA3F2761EA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3113" y="5730299"/>
            <a:ext cx="4990463" cy="356936"/>
          </a:xfrm>
        </p:spPr>
        <p:txBody>
          <a:bodyPr/>
          <a:lstStyle/>
          <a:p>
            <a:r>
              <a:rPr lang="en-US" b="1" dirty="0"/>
              <a:t>Figure 5-5 </a:t>
            </a:r>
            <a:r>
              <a:rPr lang="en-US" dirty="0"/>
              <a:t>Vulnerabilities listed in OpenVAS</a:t>
            </a:r>
            <a:endParaRPr lang="en-IN" dirty="0"/>
          </a:p>
        </p:txBody>
      </p:sp>
      <p:pic>
        <p:nvPicPr>
          <p:cNvPr id="8" name="Picture Placeholder 7" descr="OpenVAS listing of some of the 35 vulnerabilities discovered. The most severe is GSA Default Admin Credentials.">
            <a:extLst>
              <a:ext uri="{FF2B5EF4-FFF2-40B4-BE49-F238E27FC236}">
                <a16:creationId xmlns:a16="http://schemas.microsoft.com/office/drawing/2014/main" id="{E3E3849B-19B4-432C-8F78-00FA279252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0483" y="1471036"/>
            <a:ext cx="8671034" cy="4259263"/>
          </a:xfrm>
        </p:spPr>
      </p:pic>
    </p:spTree>
    <p:extLst>
      <p:ext uri="{BB962C8B-B14F-4D97-AF65-F5344CB8AC3E}">
        <p14:creationId xmlns:p14="http://schemas.microsoft.com/office/powerpoint/2010/main" val="2412970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5-2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What is the most widely used port-scanning tool?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Netcat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Netstat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Nmap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Nslookup</a:t>
            </a:r>
          </a:p>
        </p:txBody>
      </p:sp>
    </p:spTree>
    <p:extLst>
      <p:ext uri="{BB962C8B-B14F-4D97-AF65-F5344CB8AC3E}">
        <p14:creationId xmlns:p14="http://schemas.microsoft.com/office/powerpoint/2010/main" val="2226344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5-2: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What is the most widely used port-scanning tool?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c. Nmap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Nmap is currently the standard port-scanning tool for security professionals. Regardless of the other port-scanning tools available, any security tester with a modicum of experience has worked with Nmap. It is one of the most popular port scanners and adds new features constantly.</a:t>
            </a:r>
          </a:p>
        </p:txBody>
      </p:sp>
    </p:spTree>
    <p:extLst>
      <p:ext uri="{BB962C8B-B14F-4D97-AF65-F5344CB8AC3E}">
        <p14:creationId xmlns:p14="http://schemas.microsoft.com/office/powerpoint/2010/main" val="2102487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Polling Activity 5-2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10711543" cy="3732692"/>
          </a:xfrm>
        </p:spPr>
        <p:txBody>
          <a:bodyPr/>
          <a:lstStyle/>
          <a:p>
            <a:r>
              <a:rPr lang="en-US" sz="2000" dirty="0"/>
              <a:t>Which of the following Nmap commands sends a SYN packet to a computer with the IP address 193.145.85.210? (Choose all that apply.)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lphaLcPeriod"/>
            </a:pPr>
            <a:r>
              <a:rPr lang="nn-NO" sz="2000" dirty="0">
                <a:latin typeface="CourierStd"/>
              </a:rPr>
              <a:t>nmap -sS 193.145.85.210</a:t>
            </a:r>
          </a:p>
          <a:p>
            <a:pPr marL="457200" indent="-457200">
              <a:buFont typeface="+mj-lt"/>
              <a:buAutoNum type="alphaLcPeriod"/>
            </a:pPr>
            <a:r>
              <a:rPr lang="nn-NO" sz="2000" dirty="0">
                <a:latin typeface="CourierStd"/>
              </a:rPr>
              <a:t>nmap -v 193.145.85.210</a:t>
            </a:r>
          </a:p>
          <a:p>
            <a:pPr marL="457200" indent="-457200">
              <a:buFont typeface="+mj-lt"/>
              <a:buAutoNum type="alphaLcPeriod"/>
            </a:pPr>
            <a:r>
              <a:rPr lang="nn-NO" sz="2000" dirty="0">
                <a:latin typeface="CourierStd"/>
              </a:rPr>
              <a:t>nmap -sA 193.145.85.210</a:t>
            </a:r>
          </a:p>
          <a:p>
            <a:pPr marL="457200" indent="-457200">
              <a:buFont typeface="+mj-lt"/>
              <a:buAutoNum type="alphaLcPeriod"/>
            </a:pPr>
            <a:r>
              <a:rPr lang="nn-NO" sz="2000" dirty="0">
                <a:latin typeface="CourierStd"/>
              </a:rPr>
              <a:t>nmap -sF 193.145.85.210</a:t>
            </a:r>
            <a:endParaRPr lang="en-US" sz="2000" dirty="0">
              <a:latin typeface="CourierStd"/>
            </a:endParaRPr>
          </a:p>
        </p:txBody>
      </p:sp>
    </p:spTree>
    <p:extLst>
      <p:ext uri="{BB962C8B-B14F-4D97-AF65-F5344CB8AC3E}">
        <p14:creationId xmlns:p14="http://schemas.microsoft.com/office/powerpoint/2010/main" val="3130411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Activity 5-2: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Which of the following Nmap commands sends a SYN packet to a computer with the IP address 193.145.85.210?</a:t>
            </a:r>
          </a:p>
          <a:p>
            <a:endParaRPr lang="en-US" sz="2000" b="1" dirty="0"/>
          </a:p>
          <a:p>
            <a:r>
              <a:rPr lang="en-US" sz="2000" b="1" dirty="0"/>
              <a:t>Answer: a and b</a:t>
            </a:r>
          </a:p>
          <a:p>
            <a:r>
              <a:rPr lang="nn-NO" sz="2000" b="1" dirty="0">
                <a:latin typeface="CourierStd"/>
              </a:rPr>
              <a:t>nmap -sS 193.145.85.210</a:t>
            </a:r>
          </a:p>
          <a:p>
            <a:r>
              <a:rPr lang="nn-NO" sz="2000" b="1" dirty="0">
                <a:latin typeface="CourierStd"/>
              </a:rPr>
              <a:t>nmap -v 193.145.85.210</a:t>
            </a: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To send a SYN packet to a computer with the IP address 193.145.85.210, type </a:t>
            </a:r>
            <a:r>
              <a:rPr lang="nn-NO" sz="2000" b="1" dirty="0">
                <a:latin typeface="CourierStd"/>
              </a:rPr>
              <a:t>nmap -sS 193.145.85.210 or nmap -v 193.145.85.210</a:t>
            </a:r>
            <a:r>
              <a:rPr lang="en-US" sz="2000" b="1" dirty="0">
                <a:latin typeface="CourierStd"/>
              </a:rPr>
              <a:t> </a:t>
            </a:r>
            <a:r>
              <a:rPr lang="en-US" sz="2000" b="1" dirty="0"/>
              <a:t>and press Enter.</a:t>
            </a:r>
          </a:p>
        </p:txBody>
      </p:sp>
    </p:spTree>
    <p:extLst>
      <p:ext uri="{BB962C8B-B14F-4D97-AF65-F5344CB8AC3E}">
        <p14:creationId xmlns:p14="http://schemas.microsoft.com/office/powerpoint/2010/main" val="3067707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Conducting Ping Sweeps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82330-7DDD-44FE-B24F-B5505B0ED0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Ping sweeps</a:t>
            </a:r>
          </a:p>
          <a:p>
            <a:pPr lvl="1" eaLnBrk="1" hangingPunct="1"/>
            <a:r>
              <a:rPr lang="en-US" altLang="en-US" dirty="0"/>
              <a:t>Identify which IP addresses belong to active hosts</a:t>
            </a:r>
          </a:p>
          <a:p>
            <a:pPr lvl="2" eaLnBrk="1" hangingPunct="1"/>
            <a:r>
              <a:rPr lang="en-US" altLang="en-US" dirty="0"/>
              <a:t>Ping a range of IP addresses to see what type of response is returned</a:t>
            </a:r>
          </a:p>
          <a:p>
            <a:pPr eaLnBrk="1" hangingPunct="1"/>
            <a:r>
              <a:rPr lang="en-US" altLang="en-US" dirty="0"/>
              <a:t>Problems</a:t>
            </a:r>
          </a:p>
          <a:p>
            <a:pPr lvl="1" eaLnBrk="1" hangingPunct="1"/>
            <a:r>
              <a:rPr lang="en-US" altLang="en-US" dirty="0"/>
              <a:t>Might shut down computers at the time of the sweep </a:t>
            </a:r>
          </a:p>
          <a:p>
            <a:pPr lvl="2"/>
            <a:r>
              <a:rPr lang="en-US" altLang="en-US" dirty="0"/>
              <a:t>Indicates that the IP address does not belong to a live host</a:t>
            </a:r>
          </a:p>
          <a:p>
            <a:pPr lvl="1" eaLnBrk="1" hangingPunct="1"/>
            <a:r>
              <a:rPr lang="en-US" altLang="en-US" dirty="0"/>
              <a:t>Many network administrators configure nodes to not respond to an ICMP Echo Request (type 8) with an ICMP Echo Reply (type 0)</a:t>
            </a:r>
          </a:p>
          <a:p>
            <a:pPr lvl="1" eaLnBrk="1" hangingPunct="1"/>
            <a:r>
              <a:rPr lang="en-US" altLang="en-US" dirty="0"/>
              <a:t>Firewalls may filter out ICMP traffic</a:t>
            </a:r>
          </a:p>
        </p:txBody>
      </p:sp>
    </p:spTree>
    <p:extLst>
      <p:ext uri="{BB962C8B-B14F-4D97-AF65-F5344CB8AC3E}">
        <p14:creationId xmlns:p14="http://schemas.microsoft.com/office/powerpoint/2010/main" val="272376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B80130-72C9-41FC-8599-88CBF27B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Fping (1 of 4)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60DD7E-8221-45EC-B849-91DC33361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With the </a:t>
            </a:r>
            <a:r>
              <a:rPr lang="en-US" altLang="en-US" b="1" dirty="0"/>
              <a:t>Fping</a:t>
            </a:r>
            <a:r>
              <a:rPr lang="en-US" altLang="en-US" dirty="0"/>
              <a:t> tool, you can ping multiple IP addresses simultaneously</a:t>
            </a:r>
          </a:p>
          <a:p>
            <a:pPr lvl="1" eaLnBrk="1" hangingPunct="1"/>
            <a:r>
              <a:rPr lang="en-US" altLang="en-US" dirty="0"/>
              <a:t>Included with Kali Linux</a:t>
            </a:r>
          </a:p>
          <a:p>
            <a:r>
              <a:rPr lang="en-US" altLang="en-US" dirty="0"/>
              <a:t>Accepts a range of IP addresses </a:t>
            </a:r>
          </a:p>
          <a:p>
            <a:pPr lvl="1"/>
            <a:r>
              <a:rPr lang="en-US" altLang="en-US" dirty="0"/>
              <a:t>Entered at a command prompt</a:t>
            </a:r>
          </a:p>
          <a:p>
            <a:pPr lvl="1"/>
            <a:r>
              <a:rPr lang="en-US" altLang="en-US" dirty="0"/>
              <a:t>You can create a file containing multiple IP addresses</a:t>
            </a:r>
          </a:p>
          <a:p>
            <a:pPr lvl="2"/>
            <a:r>
              <a:rPr lang="en-US" altLang="en-US" dirty="0"/>
              <a:t>Use it as input for the </a:t>
            </a:r>
            <a:r>
              <a:rPr lang="en-IN" b="0" i="0" u="none" strike="noStrike" baseline="0" dirty="0">
                <a:latin typeface="CourierStd"/>
              </a:rPr>
              <a:t>Fping</a:t>
            </a:r>
            <a:r>
              <a:rPr lang="en-IN" sz="1800" b="0" i="0" u="none" strike="noStrike" baseline="0" dirty="0">
                <a:latin typeface="CourierStd"/>
              </a:rPr>
              <a:t> </a:t>
            </a:r>
            <a:r>
              <a:rPr lang="en-IN" dirty="0"/>
              <a:t>command</a:t>
            </a:r>
            <a:endParaRPr lang="en-US" altLang="en-US" dirty="0"/>
          </a:p>
          <a:p>
            <a:r>
              <a:rPr lang="en-US" altLang="en-US" dirty="0"/>
              <a:t>Input file </a:t>
            </a:r>
          </a:p>
          <a:p>
            <a:pPr lvl="1"/>
            <a:r>
              <a:rPr lang="en-US" altLang="en-US" dirty="0"/>
              <a:t>Usually created with a shell-scripting language so that you don’t need to type thousands of IP addresses needed for a ping sweep</a:t>
            </a:r>
          </a:p>
        </p:txBody>
      </p:sp>
    </p:spTree>
    <p:extLst>
      <p:ext uri="{BB962C8B-B14F-4D97-AF65-F5344CB8AC3E}">
        <p14:creationId xmlns:p14="http://schemas.microsoft.com/office/powerpoint/2010/main" val="3831289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65CC4-0709-4DB9-8D13-CA543004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 wrap="square" anchor="t">
            <a:normAutofit/>
          </a:bodyPr>
          <a:lstStyle/>
          <a:p>
            <a:r>
              <a:rPr lang="en-US" altLang="en-US" dirty="0"/>
              <a:t>Fping (2 of 4)</a:t>
            </a:r>
            <a:endParaRPr lang="en-IN" dirty="0"/>
          </a:p>
        </p:txBody>
      </p:sp>
      <p:pic>
        <p:nvPicPr>
          <p:cNvPr id="11" name="Picture Placeholder 10" descr="A listing of some of the parameters f ping accepts, including – f = FILE which tells f ping to read I P addresses from the filename “FILE”.">
            <a:extLst>
              <a:ext uri="{FF2B5EF4-FFF2-40B4-BE49-F238E27FC236}">
                <a16:creationId xmlns:a16="http://schemas.microsoft.com/office/drawing/2014/main" id="{32AC8AAA-635D-47E2-94E3-AA15AF22D9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7"/>
          <a:stretch/>
        </p:blipFill>
        <p:spPr>
          <a:xfrm>
            <a:off x="736622" y="1083830"/>
            <a:ext cx="6477000" cy="5092261"/>
          </a:xfr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8BDD843-9A06-490B-8116-8C23297B87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12675" y="5174244"/>
            <a:ext cx="3541125" cy="390984"/>
          </a:xfrm>
        </p:spPr>
        <p:txBody>
          <a:bodyPr/>
          <a:lstStyle/>
          <a:p>
            <a:r>
              <a:rPr lang="en-US" b="1" dirty="0"/>
              <a:t>Figure 5-6 </a:t>
            </a:r>
            <a:r>
              <a:rPr lang="en-US" dirty="0"/>
              <a:t>Fping parameters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E617B0C-F7A1-4956-9DD8-DAD14290F4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8563" y="6044878"/>
            <a:ext cx="3707552" cy="262425"/>
          </a:xfrm>
        </p:spPr>
        <p:txBody>
          <a:bodyPr/>
          <a:lstStyle/>
          <a:p>
            <a:r>
              <a:rPr lang="en-US" dirty="0"/>
              <a:t>Source: GNU Public License</a:t>
            </a:r>
          </a:p>
        </p:txBody>
      </p:sp>
    </p:spTree>
    <p:extLst>
      <p:ext uri="{BB962C8B-B14F-4D97-AF65-F5344CB8AC3E}">
        <p14:creationId xmlns:p14="http://schemas.microsoft.com/office/powerpoint/2010/main" val="1233463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AD0F13-2FAF-4F1D-A722-A5FDCF9D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Fping (3 of 4)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5CD120-AFFC-4BEA-A617-47DCF0109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ping sweep a range of IP addresses without using an input file, use the command:</a:t>
            </a:r>
          </a:p>
          <a:p>
            <a:pPr lvl="1" eaLnBrk="1" hangingPunct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fping –g BeginningIPaddress EndingIPaddress</a:t>
            </a:r>
          </a:p>
          <a:p>
            <a:pPr lvl="1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–g</a:t>
            </a:r>
            <a:r>
              <a:rPr lang="en-US" altLang="en-US" dirty="0"/>
              <a:t> parameter is used when no input file is available</a:t>
            </a:r>
          </a:p>
          <a:p>
            <a:pPr lvl="1" eaLnBrk="1" hangingPunct="1"/>
            <a:r>
              <a:rPr lang="en-US" altLang="en-US" dirty="0"/>
              <a:t>Example:</a:t>
            </a:r>
          </a:p>
          <a:p>
            <a:pPr lvl="2" eaLnBrk="1" hangingPunct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fping –g 192.168.185.1 192.168.185.5 </a:t>
            </a:r>
            <a:r>
              <a:rPr lang="en-US" altLang="en-US" dirty="0"/>
              <a:t>command returns the results shown on Figure 5-6 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9539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AED451-830F-48E5-B979-FC73981F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Fping (4 of 4)</a:t>
            </a:r>
            <a:endParaRPr lang="en-IN" dirty="0"/>
          </a:p>
        </p:txBody>
      </p:sp>
      <p:pic>
        <p:nvPicPr>
          <p:cNvPr id="10" name="Picture Placeholder 9" descr="A Kali Linux terminal window showing the execution of the f ping command. The first example f pings two I P addresses and the second example f pings a range of addresses.">
            <a:extLst>
              <a:ext uri="{FF2B5EF4-FFF2-40B4-BE49-F238E27FC236}">
                <a16:creationId xmlns:a16="http://schemas.microsoft.com/office/drawing/2014/main" id="{129315B5-9A78-4099-94B5-80D67A36AB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1"/>
          <a:stretch/>
        </p:blipFill>
        <p:spPr>
          <a:xfrm>
            <a:off x="838200" y="1080515"/>
            <a:ext cx="6244221" cy="479092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5ED19-4013-4ED4-8AEB-990DA8918D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0875" y="5871438"/>
            <a:ext cx="3707552" cy="262425"/>
          </a:xfrm>
        </p:spPr>
        <p:txBody>
          <a:bodyPr/>
          <a:lstStyle/>
          <a:p>
            <a:r>
              <a:rPr lang="en-IN" dirty="0"/>
              <a:t>Source: GNU General Public License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1BB5C9-0782-4C38-95AC-4535252CEA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73890" y="5221541"/>
            <a:ext cx="3979910" cy="422514"/>
          </a:xfrm>
        </p:spPr>
        <p:txBody>
          <a:bodyPr/>
          <a:lstStyle/>
          <a:p>
            <a:r>
              <a:rPr lang="en-US" b="1" dirty="0">
                <a:solidFill>
                  <a:srgbClr val="004A78"/>
                </a:solidFill>
              </a:rPr>
              <a:t>Figure 5-7 </a:t>
            </a:r>
            <a:r>
              <a:rPr lang="en-US" dirty="0">
                <a:solidFill>
                  <a:srgbClr val="004A78"/>
                </a:solidFill>
              </a:rPr>
              <a:t>Results of fping commands</a:t>
            </a:r>
            <a:endParaRPr lang="en-IN" dirty="0">
              <a:solidFill>
                <a:srgbClr val="004A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01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E98-384B-4A37-9AC9-ACAAC680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Hping3 (1 of 4)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D6E0-DE58-42D3-A2D7-3F26486CBD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Used to:</a:t>
            </a:r>
          </a:p>
          <a:p>
            <a:pPr lvl="1" eaLnBrk="1" hangingPunct="1"/>
            <a:r>
              <a:rPr lang="en-US" altLang="en-US" dirty="0"/>
              <a:t>Perform ping sweeps</a:t>
            </a:r>
          </a:p>
          <a:p>
            <a:pPr lvl="1" eaLnBrk="1" hangingPunct="1"/>
            <a:r>
              <a:rPr lang="en-US" altLang="en-US" dirty="0"/>
              <a:t>Bypass filtering devices</a:t>
            </a:r>
          </a:p>
          <a:p>
            <a:pPr lvl="2" eaLnBrk="1" hangingPunct="1"/>
            <a:r>
              <a:rPr lang="en-US" altLang="en-US" dirty="0"/>
              <a:t>Allows users to inject modified IP packets</a:t>
            </a:r>
          </a:p>
          <a:p>
            <a:pPr eaLnBrk="1" hangingPunct="1"/>
            <a:r>
              <a:rPr lang="en-US" altLang="en-US" dirty="0"/>
              <a:t>Advanced port-scanning tool</a:t>
            </a:r>
          </a:p>
          <a:p>
            <a:pPr lvl="1" eaLnBrk="1" hangingPunct="1"/>
            <a:r>
              <a:rPr lang="en-US" altLang="en-US" dirty="0"/>
              <a:t>All security testers must be familiar with this tool</a:t>
            </a:r>
          </a:p>
          <a:p>
            <a:pPr lvl="1" eaLnBrk="1" hangingPunct="1"/>
            <a:r>
              <a:rPr lang="en-US" altLang="en-US" dirty="0"/>
              <a:t>Offers a variety of features</a:t>
            </a:r>
          </a:p>
        </p:txBody>
      </p:sp>
    </p:spTree>
    <p:extLst>
      <p:ext uri="{BB962C8B-B14F-4D97-AF65-F5344CB8AC3E}">
        <p14:creationId xmlns:p14="http://schemas.microsoft.com/office/powerpoint/2010/main" val="2365997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4191-73A6-4B61-A568-8087AFB2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Hping3 (2 of 4)</a:t>
            </a:r>
            <a:endParaRPr lang="en-IN" dirty="0"/>
          </a:p>
        </p:txBody>
      </p:sp>
      <p:pic>
        <p:nvPicPr>
          <p:cNvPr id="10" name="Picture Placeholder 9" descr="A Kali Linux terminal window showing the execution of the h ping3 –h command, which displays the optional parameters that h ping3 takes.">
            <a:extLst>
              <a:ext uri="{FF2B5EF4-FFF2-40B4-BE49-F238E27FC236}">
                <a16:creationId xmlns:a16="http://schemas.microsoft.com/office/drawing/2014/main" id="{81EE53C1-6699-447E-9A59-3CD0A4A327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02"/>
          <a:stretch/>
        </p:blipFill>
        <p:spPr>
          <a:xfrm>
            <a:off x="575464" y="1079157"/>
            <a:ext cx="6308415" cy="473831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0B42F-4C29-4EF7-8673-18304764B5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202" y="5841339"/>
            <a:ext cx="3707552" cy="262425"/>
          </a:xfrm>
        </p:spPr>
        <p:txBody>
          <a:bodyPr/>
          <a:lstStyle/>
          <a:p>
            <a:r>
              <a:rPr lang="en-US" dirty="0"/>
              <a:t>Source: GNU General Public License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18720-37EF-44F8-B623-BA5EC8EF3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08264" y="5237306"/>
            <a:ext cx="3201474" cy="343687"/>
          </a:xfrm>
        </p:spPr>
        <p:txBody>
          <a:bodyPr/>
          <a:lstStyle/>
          <a:p>
            <a:r>
              <a:rPr lang="en-US" b="1" dirty="0"/>
              <a:t>Figure 5-8 </a:t>
            </a:r>
            <a:r>
              <a:rPr lang="en-US" dirty="0"/>
              <a:t>Hping3 help page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981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4191-73A6-4B61-A568-8087AFB2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Hping3 (3 of 4)</a:t>
            </a:r>
            <a:endParaRPr lang="en-IN" dirty="0"/>
          </a:p>
        </p:txBody>
      </p:sp>
      <p:pic>
        <p:nvPicPr>
          <p:cNvPr id="8" name="Picture Placeholder 7" descr="A Kali Linux terminal window showing more of the h ping3 optional parameters.">
            <a:extLst>
              <a:ext uri="{FF2B5EF4-FFF2-40B4-BE49-F238E27FC236}">
                <a16:creationId xmlns:a16="http://schemas.microsoft.com/office/drawing/2014/main" id="{9C0D6BD9-F8D8-4A77-ADAF-19DA581478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6" b="-1845"/>
          <a:stretch/>
        </p:blipFill>
        <p:spPr>
          <a:xfrm>
            <a:off x="736622" y="1037230"/>
            <a:ext cx="6186692" cy="4803784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0B42F-4C29-4EF7-8673-18304764B5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5722883"/>
            <a:ext cx="3707552" cy="262425"/>
          </a:xfrm>
        </p:spPr>
        <p:txBody>
          <a:bodyPr/>
          <a:lstStyle/>
          <a:p>
            <a:r>
              <a:rPr lang="en-IN" dirty="0"/>
              <a:t>Source: GNU General Public License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18720-37EF-44F8-B623-BA5EC8EF3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40378" y="5221540"/>
            <a:ext cx="3415000" cy="501343"/>
          </a:xfrm>
        </p:spPr>
        <p:txBody>
          <a:bodyPr/>
          <a:lstStyle/>
          <a:p>
            <a:r>
              <a:rPr lang="en-US" b="1" dirty="0"/>
              <a:t>Figure 5-9 </a:t>
            </a:r>
            <a:r>
              <a:rPr lang="en-US" dirty="0"/>
              <a:t>Hping3 help page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554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4191-73A6-4B61-A568-8087AFB2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Hping3 (4 of 4)</a:t>
            </a:r>
            <a:endParaRPr lang="en-IN" dirty="0"/>
          </a:p>
        </p:txBody>
      </p:sp>
      <p:pic>
        <p:nvPicPr>
          <p:cNvPr id="8" name="Picture Placeholder 7" descr="A Kali Linux terminal window showing the final set of optional command line parameters for the h ping3 command.">
            <a:extLst>
              <a:ext uri="{FF2B5EF4-FFF2-40B4-BE49-F238E27FC236}">
                <a16:creationId xmlns:a16="http://schemas.microsoft.com/office/drawing/2014/main" id="{A3644555-DB42-4252-9AB8-5C7E34C175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6622" y="1155774"/>
            <a:ext cx="6734364" cy="495037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0B42F-4C29-4EF7-8673-18304764B5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9344" y="6106147"/>
            <a:ext cx="3707552" cy="262425"/>
          </a:xfrm>
        </p:spPr>
        <p:txBody>
          <a:bodyPr/>
          <a:lstStyle/>
          <a:p>
            <a:r>
              <a:rPr lang="en-IN" dirty="0"/>
              <a:t>Source: GNU General Public License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18720-37EF-44F8-B623-BA5EC8EF3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7343" y="5442258"/>
            <a:ext cx="3793373" cy="438280"/>
          </a:xfrm>
        </p:spPr>
        <p:txBody>
          <a:bodyPr/>
          <a:lstStyle/>
          <a:p>
            <a:r>
              <a:rPr lang="en-US" b="1" dirty="0"/>
              <a:t>Figure 5-10 </a:t>
            </a:r>
            <a:r>
              <a:rPr lang="en-US" dirty="0"/>
              <a:t>Hping3 help page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934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E98-384B-4A37-9AC9-ACAAC680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Crafting IP Packets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D6E0-DE58-42D3-A2D7-3F26486CBD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eaLnBrk="1" hangingPunct="1"/>
            <a:r>
              <a:rPr lang="en-US" altLang="en-US" dirty="0"/>
              <a:t>Packets contain:</a:t>
            </a:r>
          </a:p>
          <a:p>
            <a:pPr lvl="1"/>
            <a:r>
              <a:rPr lang="en-US" altLang="en-US" dirty="0"/>
              <a:t>Source IP addresses</a:t>
            </a:r>
          </a:p>
          <a:p>
            <a:pPr lvl="1" eaLnBrk="1" hangingPunct="1"/>
            <a:r>
              <a:rPr lang="en-US" altLang="en-US" dirty="0"/>
              <a:t>Destination IP addresses</a:t>
            </a:r>
          </a:p>
          <a:p>
            <a:pPr lvl="1" eaLnBrk="1" hangingPunct="1"/>
            <a:r>
              <a:rPr lang="en-US" altLang="en-US" dirty="0"/>
              <a:t>Information about flags</a:t>
            </a:r>
          </a:p>
          <a:p>
            <a:pPr eaLnBrk="1" hangingPunct="1"/>
            <a:r>
              <a:rPr lang="en-US" altLang="en-US" dirty="0"/>
              <a:t>Helpful tools for crafting IP packets</a:t>
            </a:r>
          </a:p>
          <a:p>
            <a:pPr lvl="1" eaLnBrk="1" hangingPunct="1"/>
            <a:r>
              <a:rPr lang="en-US" altLang="en-US" dirty="0"/>
              <a:t>Hping3</a:t>
            </a:r>
          </a:p>
          <a:p>
            <a:pPr lvl="1" eaLnBrk="1" hangingPunct="1"/>
            <a:r>
              <a:rPr lang="en-US" altLang="en-US" dirty="0"/>
              <a:t>Fping</a:t>
            </a:r>
          </a:p>
        </p:txBody>
      </p:sp>
    </p:spTree>
    <p:extLst>
      <p:ext uri="{BB962C8B-B14F-4D97-AF65-F5344CB8AC3E}">
        <p14:creationId xmlns:p14="http://schemas.microsoft.com/office/powerpoint/2010/main" val="2532773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B80130-72C9-41FC-8599-88CBF27B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Understanding Scripting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60DD7E-8221-45EC-B849-91DC33361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Some tools might need to be modified to better suit your needs as a security tester</a:t>
            </a:r>
          </a:p>
          <a:p>
            <a:r>
              <a:rPr lang="en-US" altLang="en-US" dirty="0"/>
              <a:t>Customized scripts </a:t>
            </a:r>
          </a:p>
          <a:p>
            <a:pPr lvl="1"/>
            <a:r>
              <a:rPr lang="en-US" altLang="en-US" dirty="0"/>
              <a:t>Automates tasks</a:t>
            </a:r>
          </a:p>
          <a:p>
            <a:pPr lvl="1"/>
            <a:r>
              <a:rPr lang="en-US" altLang="en-US" dirty="0"/>
              <a:t>Time-saving</a:t>
            </a:r>
          </a:p>
          <a:p>
            <a:pPr lvl="1"/>
            <a:r>
              <a:rPr lang="en-US" altLang="en-US" dirty="0"/>
              <a:t>Requires basic programming skills</a:t>
            </a:r>
          </a:p>
        </p:txBody>
      </p:sp>
    </p:spTree>
    <p:extLst>
      <p:ext uri="{BB962C8B-B14F-4D97-AF65-F5344CB8AC3E}">
        <p14:creationId xmlns:p14="http://schemas.microsoft.com/office/powerpoint/2010/main" val="670972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AF1C-4ED3-421E-B97C-1B982BD8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sz="3600" dirty="0"/>
              <a:t>Scripting Basics (1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A5D4-1FCB-4994-9FC4-CBCDE449B6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Similar to DOS batch programming</a:t>
            </a:r>
          </a:p>
          <a:p>
            <a:r>
              <a:rPr lang="en-US" altLang="en-US" dirty="0"/>
              <a:t>A script or batch file</a:t>
            </a:r>
          </a:p>
          <a:p>
            <a:pPr lvl="1"/>
            <a:r>
              <a:rPr lang="en-US" altLang="en-US" dirty="0"/>
              <a:t>Text file that contains multiple commands that are usually entered manually at the command prompt</a:t>
            </a:r>
          </a:p>
          <a:p>
            <a:r>
              <a:rPr lang="en-US" altLang="en-US" dirty="0"/>
              <a:t>If you find that you are using repetitive commands to perform the same task, that task is a good candidate for scripting</a:t>
            </a:r>
          </a:p>
          <a:p>
            <a:r>
              <a:rPr lang="en-US" altLang="en-US" dirty="0"/>
              <a:t>Best way to learn how to create a script</a:t>
            </a:r>
          </a:p>
          <a:p>
            <a:pPr lvl="1"/>
            <a:r>
              <a:rPr lang="en-US" altLang="en-US" dirty="0"/>
              <a:t>Create a script by doing it</a:t>
            </a:r>
          </a:p>
        </p:txBody>
      </p:sp>
    </p:spTree>
    <p:extLst>
      <p:ext uri="{BB962C8B-B14F-4D97-AF65-F5344CB8AC3E}">
        <p14:creationId xmlns:p14="http://schemas.microsoft.com/office/powerpoint/2010/main" val="40680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59B474-D479-4D02-8667-7AD1C996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Vim Commands</a:t>
            </a:r>
            <a:endParaRPr lang="en-IN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D5B46F3-557D-4B8C-B33A-795A6DAF245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738650331"/>
              </p:ext>
            </p:extLst>
          </p:nvPr>
        </p:nvGraphicFramePr>
        <p:xfrm>
          <a:off x="1911241" y="1435976"/>
          <a:ext cx="8128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166">
                  <a:extLst>
                    <a:ext uri="{9D8B030D-6E8A-4147-A177-3AD203B41FA5}">
                      <a16:colId xmlns:a16="http://schemas.microsoft.com/office/drawing/2014/main" val="2910772714"/>
                    </a:ext>
                  </a:extLst>
                </a:gridCol>
                <a:gridCol w="5561834">
                  <a:extLst>
                    <a:ext uri="{9D8B030D-6E8A-4147-A177-3AD203B41FA5}">
                      <a16:colId xmlns:a16="http://schemas.microsoft.com/office/drawing/2014/main" val="1595793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vim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1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Appends text after the insertion point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97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Inserts text before the insertion point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70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Delete key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Overwrites the last character when in Insert mode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46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Deletes the current character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59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Deletes the current line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03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Deletes the current word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5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Replaces the previously deleted text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6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Wq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Writes changes and quits the edit session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89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Exits vi and saves all changes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930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319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D905C-F224-4FAF-BDCC-FD2B8066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Scripting Basics (2 of 2)</a:t>
            </a:r>
            <a:endParaRPr lang="en-IN" sz="3200" dirty="0"/>
          </a:p>
        </p:txBody>
      </p:sp>
      <p:pic>
        <p:nvPicPr>
          <p:cNvPr id="10" name="Picture Placeholder 9" descr="A text file open in the Linux g edit program that contains a bash script. ">
            <a:extLst>
              <a:ext uri="{FF2B5EF4-FFF2-40B4-BE49-F238E27FC236}">
                <a16:creationId xmlns:a16="http://schemas.microsoft.com/office/drawing/2014/main" id="{DDEE409A-8791-4200-B252-9ECB61EF73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25"/>
          <a:stretch/>
        </p:blipFill>
        <p:spPr>
          <a:xfrm>
            <a:off x="422151" y="979180"/>
            <a:ext cx="6792460" cy="489964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0912F-F744-474C-BBBA-F7D8FC5614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5206" y="5878820"/>
            <a:ext cx="3707552" cy="262425"/>
          </a:xfrm>
        </p:spPr>
        <p:txBody>
          <a:bodyPr/>
          <a:lstStyle/>
          <a:p>
            <a:r>
              <a:rPr lang="en-IN" dirty="0"/>
              <a:t>Source: Kali Linux gedit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9AD98-FBAA-4677-893B-46CAACFD66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45400" y="5419761"/>
            <a:ext cx="4124449" cy="517109"/>
          </a:xfrm>
        </p:spPr>
        <p:txBody>
          <a:bodyPr/>
          <a:lstStyle/>
          <a:p>
            <a:r>
              <a:rPr lang="en-US" b="1" dirty="0"/>
              <a:t>Figure 5-11 </a:t>
            </a:r>
            <a:r>
              <a:rPr lang="en-IN" sz="1800" b="0" i="0" u="none" strike="noStrike" baseline="0" dirty="0"/>
              <a:t>Shell script with comments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540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2A5D84-1FF2-4C33-A84A-33DDD883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Self-Assessment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9F21C2-453D-4510-8EA7-A6539F1F80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Recall some of the tools used to conduct a ping sweep of a network.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Recall the types of port scans that can be used for port scanning.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16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D604B7-D787-45D7-8D70-002B6C25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424EFC-7EE9-4106-BFDF-39A1F6D991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Now that the lesson has ended, you should be able to:</a:t>
            </a:r>
          </a:p>
          <a:p>
            <a:pPr lvl="1"/>
            <a:r>
              <a:rPr lang="en-US" dirty="0"/>
              <a:t>Describe port scanning and types of port scans</a:t>
            </a:r>
          </a:p>
          <a:p>
            <a:pPr lvl="1"/>
            <a:r>
              <a:rPr lang="en-US" dirty="0"/>
              <a:t>Describe port-scanning tools</a:t>
            </a:r>
          </a:p>
          <a:p>
            <a:pPr lvl="1"/>
            <a:r>
              <a:rPr lang="en-US" dirty="0"/>
              <a:t>Explain what ping sweeps are used for</a:t>
            </a:r>
          </a:p>
          <a:p>
            <a:pPr lvl="1"/>
            <a:r>
              <a:rPr lang="en-US" dirty="0"/>
              <a:t>Explain how shell scripting is used to automate security tasks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88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11892"/>
      </a:hlink>
      <a:folHlink>
        <a:srgbClr val="00206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ccessible_PPT_Cengage.potx" id="{8657E95E-D601-4622-93AD-E122BF442589}" vid="{BBF71559-ED4F-42B5-98FD-480A317797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BD9E0DAEFC3E40A59C31973342194A" ma:contentTypeVersion="" ma:contentTypeDescription="Create a new document." ma:contentTypeScope="" ma:versionID="f864db225ba7641a71a5bcc0ce4d9915">
  <xsd:schema xmlns:xsd="http://www.w3.org/2001/XMLSchema" xmlns:xs="http://www.w3.org/2001/XMLSchema" xmlns:p="http://schemas.microsoft.com/office/2006/metadata/properties" xmlns:ns2="5b47f0fb-e24d-44b9-89a4-ff46b5ce035f" xmlns:ns3="dbac95d4-689a-4a2b-9845-ea50641fb23b" targetNamespace="http://schemas.microsoft.com/office/2006/metadata/properties" ma:root="true" ma:fieldsID="ca0abe68bfd46ce60dddf86ace54f11b" ns2:_="" ns3:_="">
    <xsd:import namespace="5b47f0fb-e24d-44b9-89a4-ff46b5ce035f"/>
    <xsd:import namespace="dbac95d4-689a-4a2b-9845-ea50641fb23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Team_x0020_Members" minOccurs="0"/>
                <xsd:element ref="ns3:test1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47f0fb-e24d-44b9-89a4-ff46b5ce035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c95d4-689a-4a2b-9845-ea50641fb23b" elementFormDefault="qualified">
    <xsd:import namespace="http://schemas.microsoft.com/office/2006/documentManagement/types"/>
    <xsd:import namespace="http://schemas.microsoft.com/office/infopath/2007/PartnerControls"/>
    <xsd:element name="Team_x0020_Members" ma:index="10" nillable="true" ma:displayName="Team Members" ma:SearchPeopleOnly="false" ma:SharePointGroup="0" ma:internalName="Team_x0020_Member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est1" ma:index="11" nillable="true" ma:displayName="test1" ma:internalName="test1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b47f0fb-e24d-44b9-89a4-ff46b5ce035f">
      <UserInfo>
        <DisplayName/>
        <AccountId xsi:nil="true"/>
        <AccountType/>
      </UserInfo>
    </SharedWithUsers>
    <test1 xmlns="dbac95d4-689a-4a2b-9845-ea50641fb23b" xsi:nil="true"/>
    <Team_x0020_Members xmlns="dbac95d4-689a-4a2b-9845-ea50641fb23b">
      <UserInfo>
        <DisplayName/>
        <AccountId xsi:nil="true"/>
        <AccountType/>
      </UserInfo>
    </Team_x0020_Memb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E3CE7F-DB89-4155-88C3-5669EA883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47f0fb-e24d-44b9-89a4-ff46b5ce035f"/>
    <ds:schemaRef ds:uri="dbac95d4-689a-4a2b-9845-ea50641fb2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9BA192-EF86-48DF-982C-2C526A268392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0f302c04-584d-4df5-8948-8b6dd1f3c1a5"/>
    <ds:schemaRef ds:uri="http://schemas.openxmlformats.org/package/2006/metadata/core-properties"/>
    <ds:schemaRef ds:uri="http://schemas.microsoft.com/office/2006/documentManagement/types"/>
    <ds:schemaRef ds:uri="48fa25a7-52b6-4e1f-81c8-80356bf0725f"/>
    <ds:schemaRef ds:uri="http://www.w3.org/XML/1998/namespace"/>
    <ds:schemaRef ds:uri="http://purl.org/dc/dcmitype/"/>
    <ds:schemaRef ds:uri="5b47f0fb-e24d-44b9-89a4-ff46b5ce035f"/>
    <ds:schemaRef ds:uri="dbac95d4-689a-4a2b-9845-ea50641fb23b"/>
  </ds:schemaRefs>
</ds:datastoreItem>
</file>

<file path=customXml/itemProps3.xml><?xml version="1.0" encoding="utf-8"?>
<ds:datastoreItem xmlns:ds="http://schemas.openxmlformats.org/officeDocument/2006/customXml" ds:itemID="{E32CFAA7-E308-4DCB-89CD-C84C20E902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11230</TotalTime>
  <Words>1999</Words>
  <Application>Microsoft Office PowerPoint</Application>
  <PresentationFormat>Widescreen</PresentationFormat>
  <Paragraphs>293</Paragraphs>
  <Slides>40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Arial</vt:lpstr>
      <vt:lpstr>Calibri</vt:lpstr>
      <vt:lpstr>Courier New</vt:lpstr>
      <vt:lpstr>CourierStd</vt:lpstr>
      <vt:lpstr>Helvetica</vt:lpstr>
      <vt:lpstr>Open Sans</vt:lpstr>
      <vt:lpstr>Summer Font</vt:lpstr>
      <vt:lpstr>Office Theme</vt:lpstr>
      <vt:lpstr>Hands-On Ethical Hacking and Network Defense, Edition 4</vt:lpstr>
      <vt:lpstr>Module Objectives</vt:lpstr>
      <vt:lpstr>Introduction to Port Scanning (1 of 3)</vt:lpstr>
      <vt:lpstr>Introduction to Port Scanning (2 of 3)</vt:lpstr>
      <vt:lpstr>Introduction to Port Scanning (3 of 3)</vt:lpstr>
      <vt:lpstr>Types of Port Scans (1 of 2) </vt:lpstr>
      <vt:lpstr>Types of Port Scans (2 of 2)</vt:lpstr>
      <vt:lpstr>Knowledge Check Activity 5-1 </vt:lpstr>
      <vt:lpstr>Knowledge Check Activity 5-1: Answer</vt:lpstr>
      <vt:lpstr>Polling Activity 5-1</vt:lpstr>
      <vt:lpstr>Polling Activity 5-1: Answer</vt:lpstr>
      <vt:lpstr>Discussion Activity 5-1</vt:lpstr>
      <vt:lpstr>Discussion Activity 5-1: Answer</vt:lpstr>
      <vt:lpstr>Using Port-Scanning Tools</vt:lpstr>
      <vt:lpstr>Nmap (1 of 2)</vt:lpstr>
      <vt:lpstr>Nmap (2 of 2)</vt:lpstr>
      <vt:lpstr>Nessus and OpenVAS (or Greenbone Security Assistant) (1 of 4)</vt:lpstr>
      <vt:lpstr>Nessus and OpenVAS (or Greenbone Security Assistant) (2 of 4)</vt:lpstr>
      <vt:lpstr>Nessus and OpenVAS (or Greenbone Security Assistant) (3 of 4) </vt:lpstr>
      <vt:lpstr>Nessus and OpenVAS (or Greenbone Security Assistant) (4 of 4) </vt:lpstr>
      <vt:lpstr>Knowledge Check Activity 5-2 </vt:lpstr>
      <vt:lpstr>Knowledge Check Activity 5-2: Answer</vt:lpstr>
      <vt:lpstr>Polling Activity 5-2</vt:lpstr>
      <vt:lpstr>Polling Activity 5-2: Answer</vt:lpstr>
      <vt:lpstr>Conducting Ping Sweeps</vt:lpstr>
      <vt:lpstr>Fping (1 of 4)</vt:lpstr>
      <vt:lpstr>Fping (2 of 4)</vt:lpstr>
      <vt:lpstr>Fping (3 of 4)</vt:lpstr>
      <vt:lpstr>Fping (4 of 4)</vt:lpstr>
      <vt:lpstr>Hping3 (1 of 4)</vt:lpstr>
      <vt:lpstr>Hping3 (2 of 4)</vt:lpstr>
      <vt:lpstr>Hping3 (3 of 4)</vt:lpstr>
      <vt:lpstr>Hping3 (4 of 4)</vt:lpstr>
      <vt:lpstr>Crafting IP Packets</vt:lpstr>
      <vt:lpstr>Understanding Scripting</vt:lpstr>
      <vt:lpstr>Scripting Basics (1 of 2)</vt:lpstr>
      <vt:lpstr>Summary of Vim Commands</vt:lpstr>
      <vt:lpstr>Scripting Basics (2 of 2)</vt:lpstr>
      <vt:lpstr>Self-Assessment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Constitutional Law</dc:title>
  <dc:creator>Onderdonk, Natalie</dc:creator>
  <cp:lastModifiedBy>ansrsource_17</cp:lastModifiedBy>
  <cp:revision>285</cp:revision>
  <dcterms:created xsi:type="dcterms:W3CDTF">2020-07-27T16:46:05Z</dcterms:created>
  <dcterms:modified xsi:type="dcterms:W3CDTF">2022-02-23T12:40:11Z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0x010100DCBD9E0DAEFC3E40A59C31973342194A</vt:lpwstr>
  </property>
</Properties>
</file>