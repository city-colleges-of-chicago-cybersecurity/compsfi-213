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7"/>
  </p:notesMasterIdLst>
  <p:handoutMasterIdLst>
    <p:handoutMasterId r:id="rId58"/>
  </p:handoutMasterIdLst>
  <p:sldIdLst>
    <p:sldId id="377" r:id="rId5"/>
    <p:sldId id="269" r:id="rId6"/>
    <p:sldId id="301" r:id="rId7"/>
    <p:sldId id="539" r:id="rId8"/>
    <p:sldId id="584" r:id="rId9"/>
    <p:sldId id="585" r:id="rId10"/>
    <p:sldId id="540" r:id="rId11"/>
    <p:sldId id="555" r:id="rId12"/>
    <p:sldId id="586" r:id="rId13"/>
    <p:sldId id="541" r:id="rId14"/>
    <p:sldId id="587" r:id="rId15"/>
    <p:sldId id="543" r:id="rId16"/>
    <p:sldId id="580" r:id="rId17"/>
    <p:sldId id="588" r:id="rId18"/>
    <p:sldId id="589" r:id="rId19"/>
    <p:sldId id="590" r:id="rId20"/>
    <p:sldId id="591" r:id="rId21"/>
    <p:sldId id="592" r:id="rId22"/>
    <p:sldId id="593" r:id="rId23"/>
    <p:sldId id="594" r:id="rId24"/>
    <p:sldId id="595" r:id="rId25"/>
    <p:sldId id="542" r:id="rId26"/>
    <p:sldId id="596" r:id="rId27"/>
    <p:sldId id="602" r:id="rId28"/>
    <p:sldId id="603" r:id="rId29"/>
    <p:sldId id="323" r:id="rId30"/>
    <p:sldId id="324" r:id="rId31"/>
    <p:sldId id="545" r:id="rId32"/>
    <p:sldId id="597" r:id="rId33"/>
    <p:sldId id="458" r:id="rId34"/>
    <p:sldId id="598" r:id="rId35"/>
    <p:sldId id="599" r:id="rId36"/>
    <p:sldId id="600" r:id="rId37"/>
    <p:sldId id="601" r:id="rId38"/>
    <p:sldId id="558" r:id="rId39"/>
    <p:sldId id="546" r:id="rId40"/>
    <p:sldId id="559" r:id="rId41"/>
    <p:sldId id="378" r:id="rId42"/>
    <p:sldId id="562" r:id="rId43"/>
    <p:sldId id="563" r:id="rId44"/>
    <p:sldId id="461" r:id="rId45"/>
    <p:sldId id="307" r:id="rId46"/>
    <p:sldId id="604" r:id="rId47"/>
    <p:sldId id="605" r:id="rId48"/>
    <p:sldId id="326" r:id="rId49"/>
    <p:sldId id="327" r:id="rId50"/>
    <p:sldId id="436" r:id="rId51"/>
    <p:sldId id="357" r:id="rId52"/>
    <p:sldId id="606" r:id="rId53"/>
    <p:sldId id="607" r:id="rId54"/>
    <p:sldId id="292" r:id="rId55"/>
    <p:sldId id="577" r:id="rId5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2A948C-1811-CB48-BB9C-92871E13B267}" name="ansrsource_17" initials="AW" userId="ansrsource_17" providerId="None"/>
  <p188:author id="{F7184EAC-5405-7AC9-6E94-ED9EAE5DEA1D}" name="Binny Alexander" initials="BA" userId="S::binny.alexander@ansrsource.com::ae396039-7e0e-4526-82c1-b2ef28305a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Onderdonk, Natalie" initials="ON" lastIdx="1" clrIdx="1">
    <p:extLst>
      <p:ext uri="{19B8F6BF-5375-455C-9EA6-DF929625EA0E}">
        <p15:presenceInfo xmlns:p15="http://schemas.microsoft.com/office/powerpoint/2012/main" userId="S::Natalie.Onderdonk@cengage.com::794b6c7a-2b12-4b61-8069-5111412068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27" autoAdjust="0"/>
    <p:restoredTop sz="93478" autoAdjust="0"/>
  </p:normalViewPr>
  <p:slideViewPr>
    <p:cSldViewPr snapToGrid="0">
      <p:cViewPr varScale="1">
        <p:scale>
          <a:sx n="61" d="100"/>
          <a:sy n="61" d="100"/>
        </p:scale>
        <p:origin x="486"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ny Alexander" userId="ae396039-7e0e-4526-82c1-b2ef28305aed" providerId="ADAL" clId="{9298E15E-314E-4546-9AE6-FC802EA4B6BB}"/>
    <pc:docChg chg="">
      <pc:chgData name="Binny Alexander" userId="ae396039-7e0e-4526-82c1-b2ef28305aed" providerId="ADAL" clId="{9298E15E-314E-4546-9AE6-FC802EA4B6BB}" dt="2022-02-22T13:42:12.341" v="0" actId="2056"/>
      <pc:docMkLst>
        <pc:docMk/>
      </pc:docMkLst>
      <pc:sldChg chg="modCm">
        <pc:chgData name="Binny Alexander" userId="ae396039-7e0e-4526-82c1-b2ef28305aed" providerId="ADAL" clId="{9298E15E-314E-4546-9AE6-FC802EA4B6BB}" dt="2022-02-22T13:42:12.341" v="0" actId="2056"/>
        <pc:sldMkLst>
          <pc:docMk/>
          <pc:sldMk cId="3677454020" sldId="585"/>
        </pc:sldMkLst>
      </pc:sldChg>
    </pc:docChg>
  </pc:docChgLst>
  <pc:docChgLst>
    <pc:chgData name="Binny Alexander" userId="ae396039-7e0e-4526-82c1-b2ef28305aed" providerId="ADAL" clId="{75CF8306-47E6-4370-8CE8-89E51F3D9E2E}"/>
    <pc:docChg chg="undo custSel modSld">
      <pc:chgData name="Binny Alexander" userId="ae396039-7e0e-4526-82c1-b2ef28305aed" providerId="ADAL" clId="{75CF8306-47E6-4370-8CE8-89E51F3D9E2E}" dt="2022-02-17T09:10:55.503" v="82" actId="2"/>
      <pc:docMkLst>
        <pc:docMk/>
      </pc:docMkLst>
      <pc:sldChg chg="modNotesTx">
        <pc:chgData name="Binny Alexander" userId="ae396039-7e0e-4526-82c1-b2ef28305aed" providerId="ADAL" clId="{75CF8306-47E6-4370-8CE8-89E51F3D9E2E}" dt="2022-02-17T07:38:07.262" v="73" actId="20577"/>
        <pc:sldMkLst>
          <pc:docMk/>
          <pc:sldMk cId="422136421" sldId="292"/>
        </pc:sldMkLst>
      </pc:sldChg>
      <pc:sldChg chg="modSp mod">
        <pc:chgData name="Binny Alexander" userId="ae396039-7e0e-4526-82c1-b2ef28305aed" providerId="ADAL" clId="{75CF8306-47E6-4370-8CE8-89E51F3D9E2E}" dt="2022-02-17T05:25:25.600" v="1" actId="20577"/>
        <pc:sldMkLst>
          <pc:docMk/>
          <pc:sldMk cId="1917845061" sldId="301"/>
        </pc:sldMkLst>
        <pc:spChg chg="mod">
          <ac:chgData name="Binny Alexander" userId="ae396039-7e0e-4526-82c1-b2ef28305aed" providerId="ADAL" clId="{75CF8306-47E6-4370-8CE8-89E51F3D9E2E}" dt="2022-02-17T05:25:25.600" v="1" actId="20577"/>
          <ac:spMkLst>
            <pc:docMk/>
            <pc:sldMk cId="1917845061" sldId="301"/>
            <ac:spMk id="2" creationId="{D330185C-E736-4579-9701-27091A38A9D2}"/>
          </ac:spMkLst>
        </pc:spChg>
      </pc:sldChg>
      <pc:sldChg chg="modSp mod">
        <pc:chgData name="Binny Alexander" userId="ae396039-7e0e-4526-82c1-b2ef28305aed" providerId="ADAL" clId="{75CF8306-47E6-4370-8CE8-89E51F3D9E2E}" dt="2022-02-17T07:13:23.603" v="39" actId="313"/>
        <pc:sldMkLst>
          <pc:docMk/>
          <pc:sldMk cId="3831289291" sldId="307"/>
        </pc:sldMkLst>
        <pc:spChg chg="mod">
          <ac:chgData name="Binny Alexander" userId="ae396039-7e0e-4526-82c1-b2ef28305aed" providerId="ADAL" clId="{75CF8306-47E6-4370-8CE8-89E51F3D9E2E}" dt="2022-02-17T07:13:23.603" v="39" actId="313"/>
          <ac:spMkLst>
            <pc:docMk/>
            <pc:sldMk cId="3831289291" sldId="307"/>
            <ac:spMk id="6" creationId="{1560DD7E-8221-45EC-B849-91DC33361686}"/>
          </ac:spMkLst>
        </pc:spChg>
      </pc:sldChg>
      <pc:sldChg chg="addCm modNotesTx">
        <pc:chgData name="Binny Alexander" userId="ae396039-7e0e-4526-82c1-b2ef28305aed" providerId="ADAL" clId="{75CF8306-47E6-4370-8CE8-89E51F3D9E2E}" dt="2022-02-17T06:17:28.458" v="17"/>
        <pc:sldMkLst>
          <pc:docMk/>
          <pc:sldMk cId="1634089838" sldId="323"/>
        </pc:sldMkLst>
      </pc:sldChg>
      <pc:sldChg chg="modSp mod">
        <pc:chgData name="Binny Alexander" userId="ae396039-7e0e-4526-82c1-b2ef28305aed" providerId="ADAL" clId="{75CF8306-47E6-4370-8CE8-89E51F3D9E2E}" dt="2022-02-17T06:21:04.258" v="25" actId="20577"/>
        <pc:sldMkLst>
          <pc:docMk/>
          <pc:sldMk cId="3976620404" sldId="324"/>
        </pc:sldMkLst>
        <pc:spChg chg="mod">
          <ac:chgData name="Binny Alexander" userId="ae396039-7e0e-4526-82c1-b2ef28305aed" providerId="ADAL" clId="{75CF8306-47E6-4370-8CE8-89E51F3D9E2E}" dt="2022-02-17T06:21:04.258" v="25" actId="20577"/>
          <ac:spMkLst>
            <pc:docMk/>
            <pc:sldMk cId="3976620404" sldId="324"/>
            <ac:spMk id="2" creationId="{00000000-0000-0000-0000-000000000000}"/>
          </ac:spMkLst>
        </pc:spChg>
      </pc:sldChg>
      <pc:sldChg chg="modSp mod">
        <pc:chgData name="Binny Alexander" userId="ae396039-7e0e-4526-82c1-b2ef28305aed" providerId="ADAL" clId="{75CF8306-47E6-4370-8CE8-89E51F3D9E2E}" dt="2022-02-17T07:23:48.723" v="47" actId="20577"/>
        <pc:sldMkLst>
          <pc:docMk/>
          <pc:sldMk cId="471710260" sldId="326"/>
        </pc:sldMkLst>
        <pc:spChg chg="mod">
          <ac:chgData name="Binny Alexander" userId="ae396039-7e0e-4526-82c1-b2ef28305aed" providerId="ADAL" clId="{75CF8306-47E6-4370-8CE8-89E51F3D9E2E}" dt="2022-02-17T07:23:48.723" v="47" actId="20577"/>
          <ac:spMkLst>
            <pc:docMk/>
            <pc:sldMk cId="471710260" sldId="326"/>
            <ac:spMk id="2" creationId="{00000000-0000-0000-0000-000000000000}"/>
          </ac:spMkLst>
        </pc:spChg>
      </pc:sldChg>
      <pc:sldChg chg="modSp mod addCm modCm">
        <pc:chgData name="Binny Alexander" userId="ae396039-7e0e-4526-82c1-b2ef28305aed" providerId="ADAL" clId="{75CF8306-47E6-4370-8CE8-89E51F3D9E2E}" dt="2022-02-17T07:28:32.114" v="52" actId="20577"/>
        <pc:sldMkLst>
          <pc:docMk/>
          <pc:sldMk cId="2824604769" sldId="327"/>
        </pc:sldMkLst>
        <pc:spChg chg="mod">
          <ac:chgData name="Binny Alexander" userId="ae396039-7e0e-4526-82c1-b2ef28305aed" providerId="ADAL" clId="{75CF8306-47E6-4370-8CE8-89E51F3D9E2E}" dt="2022-02-17T07:28:32.114" v="52" actId="20577"/>
          <ac:spMkLst>
            <pc:docMk/>
            <pc:sldMk cId="2824604769" sldId="327"/>
            <ac:spMk id="2" creationId="{00000000-0000-0000-0000-000000000000}"/>
          </ac:spMkLst>
        </pc:spChg>
      </pc:sldChg>
      <pc:sldChg chg="modSp mod">
        <pc:chgData name="Binny Alexander" userId="ae396039-7e0e-4526-82c1-b2ef28305aed" providerId="ADAL" clId="{75CF8306-47E6-4370-8CE8-89E51F3D9E2E}" dt="2022-02-17T07:34:14.969" v="66" actId="20577"/>
        <pc:sldMkLst>
          <pc:docMk/>
          <pc:sldMk cId="288985424" sldId="436"/>
        </pc:sldMkLst>
        <pc:spChg chg="mod">
          <ac:chgData name="Binny Alexander" userId="ae396039-7e0e-4526-82c1-b2ef28305aed" providerId="ADAL" clId="{75CF8306-47E6-4370-8CE8-89E51F3D9E2E}" dt="2022-02-17T07:34:14.969" v="66" actId="20577"/>
          <ac:spMkLst>
            <pc:docMk/>
            <pc:sldMk cId="288985424" sldId="436"/>
            <ac:spMk id="7" creationId="{045CD120-AFFC-4BEA-A617-47DCF0109B5C}"/>
          </ac:spMkLst>
        </pc:spChg>
      </pc:sldChg>
      <pc:sldChg chg="modSp mod">
        <pc:chgData name="Binny Alexander" userId="ae396039-7e0e-4526-82c1-b2ef28305aed" providerId="ADAL" clId="{75CF8306-47E6-4370-8CE8-89E51F3D9E2E}" dt="2022-02-17T07:12:50.443" v="33" actId="20577"/>
        <pc:sldMkLst>
          <pc:docMk/>
          <pc:sldMk cId="1783778714" sldId="461"/>
        </pc:sldMkLst>
        <pc:spChg chg="mod">
          <ac:chgData name="Binny Alexander" userId="ae396039-7e0e-4526-82c1-b2ef28305aed" providerId="ADAL" clId="{75CF8306-47E6-4370-8CE8-89E51F3D9E2E}" dt="2022-02-17T07:12:50.443" v="33" actId="20577"/>
          <ac:spMkLst>
            <pc:docMk/>
            <pc:sldMk cId="1783778714" sldId="461"/>
            <ac:spMk id="5" creationId="{DDD4F286-8DF4-49F9-81A5-0E1B45EB6F4A}"/>
          </ac:spMkLst>
        </pc:spChg>
      </pc:sldChg>
      <pc:sldChg chg="modSp mod">
        <pc:chgData name="Binny Alexander" userId="ae396039-7e0e-4526-82c1-b2ef28305aed" providerId="ADAL" clId="{75CF8306-47E6-4370-8CE8-89E51F3D9E2E}" dt="2022-02-17T09:10:01.298" v="78" actId="2"/>
        <pc:sldMkLst>
          <pc:docMk/>
          <pc:sldMk cId="842610165" sldId="542"/>
        </pc:sldMkLst>
        <pc:spChg chg="mod">
          <ac:chgData name="Binny Alexander" userId="ae396039-7e0e-4526-82c1-b2ef28305aed" providerId="ADAL" clId="{75CF8306-47E6-4370-8CE8-89E51F3D9E2E}" dt="2022-02-17T09:10:01.298" v="78" actId="2"/>
          <ac:spMkLst>
            <pc:docMk/>
            <pc:sldMk cId="842610165" sldId="542"/>
            <ac:spMk id="7" creationId="{A3507EBE-749C-4C56-8102-B908C599F62F}"/>
          </ac:spMkLst>
        </pc:spChg>
      </pc:sldChg>
      <pc:sldChg chg="modSp mod">
        <pc:chgData name="Binny Alexander" userId="ae396039-7e0e-4526-82c1-b2ef28305aed" providerId="ADAL" clId="{75CF8306-47E6-4370-8CE8-89E51F3D9E2E}" dt="2022-02-17T05:56:54.142" v="11" actId="20577"/>
        <pc:sldMkLst>
          <pc:docMk/>
          <pc:sldMk cId="2953884283" sldId="543"/>
        </pc:sldMkLst>
        <pc:spChg chg="mod">
          <ac:chgData name="Binny Alexander" userId="ae396039-7e0e-4526-82c1-b2ef28305aed" providerId="ADAL" clId="{75CF8306-47E6-4370-8CE8-89E51F3D9E2E}" dt="2022-02-17T05:56:54.142" v="11" actId="20577"/>
          <ac:spMkLst>
            <pc:docMk/>
            <pc:sldMk cId="2953884283" sldId="543"/>
            <ac:spMk id="3" creationId="{23E86B04-DF53-4733-A983-09A6D7E30D64}"/>
          </ac:spMkLst>
        </pc:spChg>
      </pc:sldChg>
      <pc:sldChg chg="modSp mod addCm">
        <pc:chgData name="Binny Alexander" userId="ae396039-7e0e-4526-82c1-b2ef28305aed" providerId="ADAL" clId="{75CF8306-47E6-4370-8CE8-89E51F3D9E2E}" dt="2022-02-17T06:40:46.659" v="29"/>
        <pc:sldMkLst>
          <pc:docMk/>
          <pc:sldMk cId="3908484543" sldId="545"/>
        </pc:sldMkLst>
        <pc:spChg chg="mod">
          <ac:chgData name="Binny Alexander" userId="ae396039-7e0e-4526-82c1-b2ef28305aed" providerId="ADAL" clId="{75CF8306-47E6-4370-8CE8-89E51F3D9E2E}" dt="2022-02-17T06:38:08.713" v="28" actId="20577"/>
          <ac:spMkLst>
            <pc:docMk/>
            <pc:sldMk cId="3908484543" sldId="545"/>
            <ac:spMk id="4" creationId="{00000000-0000-0000-0000-000000000000}"/>
          </ac:spMkLst>
        </pc:spChg>
      </pc:sldChg>
      <pc:sldChg chg="modSp mod">
        <pc:chgData name="Binny Alexander" userId="ae396039-7e0e-4526-82c1-b2ef28305aed" providerId="ADAL" clId="{75CF8306-47E6-4370-8CE8-89E51F3D9E2E}" dt="2022-02-17T09:10:43.421" v="81" actId="2"/>
        <pc:sldMkLst>
          <pc:docMk/>
          <pc:sldMk cId="2909413595" sldId="546"/>
        </pc:sldMkLst>
        <pc:spChg chg="mod">
          <ac:chgData name="Binny Alexander" userId="ae396039-7e0e-4526-82c1-b2ef28305aed" providerId="ADAL" clId="{75CF8306-47E6-4370-8CE8-89E51F3D9E2E}" dt="2022-02-17T09:10:43.421" v="81" actId="2"/>
          <ac:spMkLst>
            <pc:docMk/>
            <pc:sldMk cId="2909413595" sldId="546"/>
            <ac:spMk id="4" creationId="{00000000-0000-0000-0000-000000000000}"/>
          </ac:spMkLst>
        </pc:spChg>
      </pc:sldChg>
      <pc:sldChg chg="modSp mod">
        <pc:chgData name="Binny Alexander" userId="ae396039-7e0e-4526-82c1-b2ef28305aed" providerId="ADAL" clId="{75CF8306-47E6-4370-8CE8-89E51F3D9E2E}" dt="2022-02-17T09:10:03.584" v="80" actId="2"/>
        <pc:sldMkLst>
          <pc:docMk/>
          <pc:sldMk cId="697726987" sldId="558"/>
        </pc:sldMkLst>
        <pc:spChg chg="mod">
          <ac:chgData name="Binny Alexander" userId="ae396039-7e0e-4526-82c1-b2ef28305aed" providerId="ADAL" clId="{75CF8306-47E6-4370-8CE8-89E51F3D9E2E}" dt="2022-02-17T09:10:03.584" v="80" actId="2"/>
          <ac:spMkLst>
            <pc:docMk/>
            <pc:sldMk cId="697726987" sldId="558"/>
            <ac:spMk id="4" creationId="{00000000-0000-0000-0000-000000000000}"/>
          </ac:spMkLst>
        </pc:spChg>
      </pc:sldChg>
      <pc:sldChg chg="addCm modCm">
        <pc:chgData name="Binny Alexander" userId="ae396039-7e0e-4526-82c1-b2ef28305aed" providerId="ADAL" clId="{75CF8306-47E6-4370-8CE8-89E51F3D9E2E}" dt="2022-02-17T09:04:41.935" v="74"/>
        <pc:sldMkLst>
          <pc:docMk/>
          <pc:sldMk cId="1403077472" sldId="563"/>
        </pc:sldMkLst>
      </pc:sldChg>
      <pc:sldChg chg="modSp mod">
        <pc:chgData name="Binny Alexander" userId="ae396039-7e0e-4526-82c1-b2ef28305aed" providerId="ADAL" clId="{75CF8306-47E6-4370-8CE8-89E51F3D9E2E}" dt="2022-02-17T05:33:18.156" v="4" actId="313"/>
        <pc:sldMkLst>
          <pc:docMk/>
          <pc:sldMk cId="3709151779" sldId="584"/>
        </pc:sldMkLst>
        <pc:spChg chg="mod">
          <ac:chgData name="Binny Alexander" userId="ae396039-7e0e-4526-82c1-b2ef28305aed" providerId="ADAL" clId="{75CF8306-47E6-4370-8CE8-89E51F3D9E2E}" dt="2022-02-17T05:33:18.156" v="4" actId="313"/>
          <ac:spMkLst>
            <pc:docMk/>
            <pc:sldMk cId="3709151779" sldId="584"/>
            <ac:spMk id="3" creationId="{8B2BB213-BEFF-48FD-A4A3-34D3E6186184}"/>
          </ac:spMkLst>
        </pc:spChg>
      </pc:sldChg>
      <pc:sldChg chg="modSp mod addCm">
        <pc:chgData name="Binny Alexander" userId="ae396039-7e0e-4526-82c1-b2ef28305aed" providerId="ADAL" clId="{75CF8306-47E6-4370-8CE8-89E51F3D9E2E}" dt="2022-02-17T05:39:41.836" v="8" actId="113"/>
        <pc:sldMkLst>
          <pc:docMk/>
          <pc:sldMk cId="3677454020" sldId="585"/>
        </pc:sldMkLst>
        <pc:spChg chg="mod">
          <ac:chgData name="Binny Alexander" userId="ae396039-7e0e-4526-82c1-b2ef28305aed" providerId="ADAL" clId="{75CF8306-47E6-4370-8CE8-89E51F3D9E2E}" dt="2022-02-17T05:39:41.836" v="8" actId="113"/>
          <ac:spMkLst>
            <pc:docMk/>
            <pc:sldMk cId="3677454020" sldId="585"/>
            <ac:spMk id="3" creationId="{8B2BB213-BEFF-48FD-A4A3-34D3E6186184}"/>
          </ac:spMkLst>
        </pc:spChg>
      </pc:sldChg>
      <pc:sldChg chg="modSp mod">
        <pc:chgData name="Binny Alexander" userId="ae396039-7e0e-4526-82c1-b2ef28305aed" providerId="ADAL" clId="{75CF8306-47E6-4370-8CE8-89E51F3D9E2E}" dt="2022-02-17T05:52:08.008" v="10" actId="20577"/>
        <pc:sldMkLst>
          <pc:docMk/>
          <pc:sldMk cId="3242022729" sldId="586"/>
        </pc:sldMkLst>
        <pc:spChg chg="mod">
          <ac:chgData name="Binny Alexander" userId="ae396039-7e0e-4526-82c1-b2ef28305aed" providerId="ADAL" clId="{75CF8306-47E6-4370-8CE8-89E51F3D9E2E}" dt="2022-02-17T05:52:08.008" v="10" actId="20577"/>
          <ac:spMkLst>
            <pc:docMk/>
            <pc:sldMk cId="3242022729" sldId="586"/>
            <ac:spMk id="3" creationId="{8B2BB213-BEFF-48FD-A4A3-34D3E6186184}"/>
          </ac:spMkLst>
        </pc:spChg>
      </pc:sldChg>
      <pc:sldChg chg="modSp mod">
        <pc:chgData name="Binny Alexander" userId="ae396039-7e0e-4526-82c1-b2ef28305aed" providerId="ADAL" clId="{75CF8306-47E6-4370-8CE8-89E51F3D9E2E}" dt="2022-02-17T09:09:55.786" v="75" actId="2"/>
        <pc:sldMkLst>
          <pc:docMk/>
          <pc:sldMk cId="1190384768" sldId="593"/>
        </pc:sldMkLst>
        <pc:spChg chg="mod">
          <ac:chgData name="Binny Alexander" userId="ae396039-7e0e-4526-82c1-b2ef28305aed" providerId="ADAL" clId="{75CF8306-47E6-4370-8CE8-89E51F3D9E2E}" dt="2022-02-17T09:09:55.786" v="75" actId="2"/>
          <ac:spMkLst>
            <pc:docMk/>
            <pc:sldMk cId="1190384768" sldId="593"/>
            <ac:spMk id="5" creationId="{B92F1AB3-791A-4D69-BBBA-6AAC763A7D09}"/>
          </ac:spMkLst>
        </pc:spChg>
      </pc:sldChg>
      <pc:sldChg chg="modSp mod">
        <pc:chgData name="Binny Alexander" userId="ae396039-7e0e-4526-82c1-b2ef28305aed" providerId="ADAL" clId="{75CF8306-47E6-4370-8CE8-89E51F3D9E2E}" dt="2022-02-17T09:09:57.342" v="76" actId="2"/>
        <pc:sldMkLst>
          <pc:docMk/>
          <pc:sldMk cId="2407467777" sldId="594"/>
        </pc:sldMkLst>
        <pc:spChg chg="mod">
          <ac:chgData name="Binny Alexander" userId="ae396039-7e0e-4526-82c1-b2ef28305aed" providerId="ADAL" clId="{75CF8306-47E6-4370-8CE8-89E51F3D9E2E}" dt="2022-02-17T09:09:57.342" v="76" actId="2"/>
          <ac:spMkLst>
            <pc:docMk/>
            <pc:sldMk cId="2407467777" sldId="594"/>
            <ac:spMk id="6" creationId="{6D6E8730-7DB5-4F71-A5FB-483F9ECE772D}"/>
          </ac:spMkLst>
        </pc:spChg>
      </pc:sldChg>
      <pc:sldChg chg="modSp mod addCm">
        <pc:chgData name="Binny Alexander" userId="ae396039-7e0e-4526-82c1-b2ef28305aed" providerId="ADAL" clId="{75CF8306-47E6-4370-8CE8-89E51F3D9E2E}" dt="2022-02-17T09:10:02.550" v="79" actId="2"/>
        <pc:sldMkLst>
          <pc:docMk/>
          <pc:sldMk cId="2339863129" sldId="596"/>
        </pc:sldMkLst>
        <pc:spChg chg="mod">
          <ac:chgData name="Binny Alexander" userId="ae396039-7e0e-4526-82c1-b2ef28305aed" providerId="ADAL" clId="{75CF8306-47E6-4370-8CE8-89E51F3D9E2E}" dt="2022-02-17T09:10:02.550" v="79" actId="2"/>
          <ac:spMkLst>
            <pc:docMk/>
            <pc:sldMk cId="2339863129" sldId="596"/>
            <ac:spMk id="11" creationId="{43B00A8F-96D7-4A1D-B0E6-359B986F1931}"/>
          </ac:spMkLst>
        </pc:spChg>
      </pc:sldChg>
      <pc:sldChg chg="modSp mod">
        <pc:chgData name="Binny Alexander" userId="ae396039-7e0e-4526-82c1-b2ef28305aed" providerId="ADAL" clId="{75CF8306-47E6-4370-8CE8-89E51F3D9E2E}" dt="2022-02-17T06:52:27.905" v="30" actId="20577"/>
        <pc:sldMkLst>
          <pc:docMk/>
          <pc:sldMk cId="2610005313" sldId="600"/>
        </pc:sldMkLst>
        <pc:spChg chg="mod">
          <ac:chgData name="Binny Alexander" userId="ae396039-7e0e-4526-82c1-b2ef28305aed" providerId="ADAL" clId="{75CF8306-47E6-4370-8CE8-89E51F3D9E2E}" dt="2022-02-17T06:52:27.905" v="30" actId="20577"/>
          <ac:spMkLst>
            <pc:docMk/>
            <pc:sldMk cId="2610005313" sldId="600"/>
            <ac:spMk id="2" creationId="{00000000-0000-0000-0000-000000000000}"/>
          </ac:spMkLst>
        </pc:spChg>
      </pc:sldChg>
      <pc:sldChg chg="modSp mod">
        <pc:chgData name="Binny Alexander" userId="ae396039-7e0e-4526-82c1-b2ef28305aed" providerId="ADAL" clId="{75CF8306-47E6-4370-8CE8-89E51F3D9E2E}" dt="2022-02-17T09:10:55.503" v="82" actId="2"/>
        <pc:sldMkLst>
          <pc:docMk/>
          <pc:sldMk cId="992311330" sldId="604"/>
        </pc:sldMkLst>
        <pc:spChg chg="mod">
          <ac:chgData name="Binny Alexander" userId="ae396039-7e0e-4526-82c1-b2ef28305aed" providerId="ADAL" clId="{75CF8306-47E6-4370-8CE8-89E51F3D9E2E}" dt="2022-02-17T09:10:55.503" v="82" actId="2"/>
          <ac:spMkLst>
            <pc:docMk/>
            <pc:sldMk cId="992311330" sldId="604"/>
            <ac:spMk id="2" creationId="{00000000-0000-0000-0000-000000000000}"/>
          </ac:spMkLst>
        </pc:spChg>
      </pc:sldChg>
      <pc:sldChg chg="modSp mod">
        <pc:chgData name="Binny Alexander" userId="ae396039-7e0e-4526-82c1-b2ef28305aed" providerId="ADAL" clId="{75CF8306-47E6-4370-8CE8-89E51F3D9E2E}" dt="2022-02-17T07:15:00.071" v="43" actId="20577"/>
        <pc:sldMkLst>
          <pc:docMk/>
          <pc:sldMk cId="4017021327" sldId="605"/>
        </pc:sldMkLst>
        <pc:spChg chg="mod">
          <ac:chgData name="Binny Alexander" userId="ae396039-7e0e-4526-82c1-b2ef28305aed" providerId="ADAL" clId="{75CF8306-47E6-4370-8CE8-89E51F3D9E2E}" dt="2022-02-17T07:15:00.071" v="43" actId="20577"/>
          <ac:spMkLst>
            <pc:docMk/>
            <pc:sldMk cId="4017021327" sldId="605"/>
            <ac:spMk id="2" creationId="{00000000-0000-0000-0000-000000000000}"/>
          </ac:spMkLst>
        </pc:spChg>
      </pc:sldChg>
      <pc:sldChg chg="modNotesTx">
        <pc:chgData name="Binny Alexander" userId="ae396039-7e0e-4526-82c1-b2ef28305aed" providerId="ADAL" clId="{75CF8306-47E6-4370-8CE8-89E51F3D9E2E}" dt="2022-02-17T07:36:16.176" v="69" actId="20577"/>
        <pc:sldMkLst>
          <pc:docMk/>
          <pc:sldMk cId="2950637998" sldId="60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2/23/2022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9581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2954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1560980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1863258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1886981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334674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2656290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2533436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3268063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900214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268578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1437359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3458551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3288731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1158901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1960866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1560980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44</a:t>
            </a:fld>
            <a:endParaRPr lang="en-US" dirty="0"/>
          </a:p>
        </p:txBody>
      </p:sp>
    </p:spTree>
    <p:extLst>
      <p:ext uri="{BB962C8B-B14F-4D97-AF65-F5344CB8AC3E}">
        <p14:creationId xmlns:p14="http://schemas.microsoft.com/office/powerpoint/2010/main" val="1863258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r>
              <a:rPr lang="en-US" sz="1200" dirty="0">
                <a:effectLst/>
                <a:latin typeface="Calibri" panose="020F0502020204030204" pitchFamily="34" charset="0"/>
                <a:ea typeface="Calibri" panose="020F0502020204030204" pitchFamily="34" charset="0"/>
                <a:cs typeface="Times New Roman" panose="02020603050405020304" pitchFamily="18" charset="0"/>
              </a:rPr>
              <a:t>Use the Discussion activity to encourage group conversation about a related topic of interest.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2480561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37326151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dirty="0"/>
          </a:p>
        </p:txBody>
      </p:sp>
    </p:spTree>
    <p:extLst>
      <p:ext uri="{BB962C8B-B14F-4D97-AF65-F5344CB8AC3E}">
        <p14:creationId xmlns:p14="http://schemas.microsoft.com/office/powerpoint/2010/main" val="1886981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dirty="0"/>
          </a:p>
        </p:txBody>
      </p:sp>
    </p:spTree>
    <p:extLst>
      <p:ext uri="{BB962C8B-B14F-4D97-AF65-F5344CB8AC3E}">
        <p14:creationId xmlns:p14="http://schemas.microsoft.com/office/powerpoint/2010/main" val="334674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indent="0">
              <a:buFontTx/>
              <a:buNone/>
            </a:pPr>
            <a:r>
              <a:rPr lang="en-US" dirty="0"/>
              <a:t>Use the Self-Assessment question to encourage students to evaluate their progress or goals in the course as well as to determine how they might apply their learning or grow as an individual. </a:t>
            </a:r>
          </a:p>
          <a:p>
            <a:pPr marL="0" indent="0">
              <a:buFontTx/>
              <a:buNone/>
            </a:pP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20745235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7" name="Footer">
            <a:extLst>
              <a:ext uri="{FF2B5EF4-FFF2-40B4-BE49-F238E27FC236}">
                <a16:creationId xmlns:a16="http://schemas.microsoft.com/office/drawing/2014/main" id="{1A08720E-89CF-471D-8467-1907150E3B60}"/>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Picture Placeholder 5">
            <a:extLst>
              <a:ext uri="{FF2B5EF4-FFF2-40B4-BE49-F238E27FC236}">
                <a16:creationId xmlns:a16="http://schemas.microsoft.com/office/drawing/2014/main" id="{20C78AC8-E1A0-4975-919B-DC886A739CA8}"/>
              </a:ext>
            </a:extLst>
          </p:cNvPr>
          <p:cNvSpPr>
            <a:spLocks noGrp="1"/>
          </p:cNvSpPr>
          <p:nvPr>
            <p:ph type="pic" sz="quarter" idx="10"/>
          </p:nvPr>
        </p:nvSpPr>
        <p:spPr>
          <a:xfrm>
            <a:off x="743577" y="4029075"/>
            <a:ext cx="7982257" cy="1835457"/>
          </a:xfrm>
        </p:spPr>
        <p:txBody>
          <a:bodyPr/>
          <a:lstStyle/>
          <a:p>
            <a:r>
              <a:rPr lang="en-US" dirty="0"/>
              <a:t>Click icon to add picture</a:t>
            </a:r>
          </a:p>
        </p:txBody>
      </p:sp>
      <p:sp>
        <p:nvSpPr>
          <p:cNvPr id="7" name="Text Placeholder 11">
            <a:extLst>
              <a:ext uri="{FF2B5EF4-FFF2-40B4-BE49-F238E27FC236}">
                <a16:creationId xmlns:a16="http://schemas.microsoft.com/office/drawing/2014/main" id="{623BC119-C238-4C36-BBED-7F10BDC9AEA8}"/>
              </a:ext>
            </a:extLst>
          </p:cNvPr>
          <p:cNvSpPr>
            <a:spLocks noGrp="1"/>
          </p:cNvSpPr>
          <p:nvPr>
            <p:ph type="body" sz="quarter" idx="17" hasCustomPrompt="1"/>
          </p:nvPr>
        </p:nvSpPr>
        <p:spPr>
          <a:xfrm>
            <a:off x="743576" y="1638300"/>
            <a:ext cx="10857874" cy="1936791"/>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9">
            <a:extLst>
              <a:ext uri="{FF2B5EF4-FFF2-40B4-BE49-F238E27FC236}">
                <a16:creationId xmlns:a16="http://schemas.microsoft.com/office/drawing/2014/main" id="{8B98B54F-6FA9-4905-8BDA-434E60C09DC4}"/>
              </a:ext>
            </a:extLst>
          </p:cNvPr>
          <p:cNvSpPr>
            <a:spLocks noGrp="1"/>
          </p:cNvSpPr>
          <p:nvPr>
            <p:ph type="body" sz="quarter" idx="12"/>
          </p:nvPr>
        </p:nvSpPr>
        <p:spPr>
          <a:xfrm>
            <a:off x="7893898" y="5562460"/>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444911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7" name="Text Placeholder 11">
            <a:extLst>
              <a:ext uri="{FF2B5EF4-FFF2-40B4-BE49-F238E27FC236}">
                <a16:creationId xmlns:a16="http://schemas.microsoft.com/office/drawing/2014/main" id="{623BC119-C238-4C36-BBED-7F10BDC9AEA8}"/>
              </a:ext>
            </a:extLst>
          </p:cNvPr>
          <p:cNvSpPr>
            <a:spLocks noGrp="1"/>
          </p:cNvSpPr>
          <p:nvPr>
            <p:ph type="body" sz="quarter" idx="17" hasCustomPrompt="1"/>
          </p:nvPr>
        </p:nvSpPr>
        <p:spPr>
          <a:xfrm>
            <a:off x="743576" y="1638300"/>
            <a:ext cx="10857874" cy="1936791"/>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9">
            <a:extLst>
              <a:ext uri="{FF2B5EF4-FFF2-40B4-BE49-F238E27FC236}">
                <a16:creationId xmlns:a16="http://schemas.microsoft.com/office/drawing/2014/main" id="{8B98B54F-6FA9-4905-8BDA-434E60C09DC4}"/>
              </a:ext>
            </a:extLst>
          </p:cNvPr>
          <p:cNvSpPr>
            <a:spLocks noGrp="1"/>
          </p:cNvSpPr>
          <p:nvPr>
            <p:ph type="body" sz="quarter" idx="12"/>
          </p:nvPr>
        </p:nvSpPr>
        <p:spPr>
          <a:xfrm>
            <a:off x="7893898" y="5562460"/>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4" name="Table Placeholder 3">
            <a:extLst>
              <a:ext uri="{FF2B5EF4-FFF2-40B4-BE49-F238E27FC236}">
                <a16:creationId xmlns:a16="http://schemas.microsoft.com/office/drawing/2014/main" id="{D1DF692E-72DC-47BE-9648-D62DDED49EB4}"/>
              </a:ext>
            </a:extLst>
          </p:cNvPr>
          <p:cNvSpPr>
            <a:spLocks noGrp="1"/>
          </p:cNvSpPr>
          <p:nvPr>
            <p:ph type="tbl" sz="quarter" idx="18"/>
          </p:nvPr>
        </p:nvSpPr>
        <p:spPr>
          <a:xfrm>
            <a:off x="1014413" y="3914775"/>
            <a:ext cx="10587037" cy="2228850"/>
          </a:xfrm>
        </p:spPr>
        <p:txBody>
          <a:bodyPr/>
          <a:lstStyle/>
          <a:p>
            <a:endParaRPr lang="en-IN" dirty="0"/>
          </a:p>
        </p:txBody>
      </p:sp>
    </p:spTree>
    <p:extLst>
      <p:ext uri="{BB962C8B-B14F-4D97-AF65-F5344CB8AC3E}">
        <p14:creationId xmlns:p14="http://schemas.microsoft.com/office/powerpoint/2010/main" val="1070350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8" name="Text Placeholder 9">
            <a:extLst>
              <a:ext uri="{FF2B5EF4-FFF2-40B4-BE49-F238E27FC236}">
                <a16:creationId xmlns:a16="http://schemas.microsoft.com/office/drawing/2014/main" id="{4D2E82F8-8478-47DF-BB49-FCCDE3B17108}"/>
              </a:ext>
            </a:extLst>
          </p:cNvPr>
          <p:cNvSpPr>
            <a:spLocks noGrp="1"/>
          </p:cNvSpPr>
          <p:nvPr>
            <p:ph type="body" sz="quarter" idx="12"/>
          </p:nvPr>
        </p:nvSpPr>
        <p:spPr>
          <a:xfrm>
            <a:off x="7478972" y="3630961"/>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87119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6622" y="3893386"/>
            <a:ext cx="6473496" cy="1985434"/>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8" name="Text Placeholder 9">
            <a:extLst>
              <a:ext uri="{FF2B5EF4-FFF2-40B4-BE49-F238E27FC236}">
                <a16:creationId xmlns:a16="http://schemas.microsoft.com/office/drawing/2014/main" id="{4D2E82F8-8478-47DF-BB49-FCCDE3B17108}"/>
              </a:ext>
            </a:extLst>
          </p:cNvPr>
          <p:cNvSpPr>
            <a:spLocks noGrp="1"/>
          </p:cNvSpPr>
          <p:nvPr>
            <p:ph type="body" sz="quarter" idx="12"/>
          </p:nvPr>
        </p:nvSpPr>
        <p:spPr>
          <a:xfrm>
            <a:off x="7478972" y="3630961"/>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9" name="Picture Placeholder 5">
            <a:extLst>
              <a:ext uri="{FF2B5EF4-FFF2-40B4-BE49-F238E27FC236}">
                <a16:creationId xmlns:a16="http://schemas.microsoft.com/office/drawing/2014/main" id="{EE70209A-D171-42AE-920B-79D73F857E7B}"/>
              </a:ext>
            </a:extLst>
          </p:cNvPr>
          <p:cNvSpPr>
            <a:spLocks noGrp="1"/>
          </p:cNvSpPr>
          <p:nvPr>
            <p:ph type="pic" sz="quarter" idx="13"/>
          </p:nvPr>
        </p:nvSpPr>
        <p:spPr>
          <a:xfrm>
            <a:off x="788702" y="1536499"/>
            <a:ext cx="6473496" cy="1985434"/>
          </a:xfrm>
        </p:spPr>
        <p:txBody>
          <a:bodyPr/>
          <a:lstStyle/>
          <a:p>
            <a:r>
              <a:rPr lang="en-US" dirty="0"/>
              <a:t>Click icon to add picture</a:t>
            </a:r>
          </a:p>
        </p:txBody>
      </p:sp>
      <p:sp>
        <p:nvSpPr>
          <p:cNvPr id="11" name="Text Placeholder 9">
            <a:extLst>
              <a:ext uri="{FF2B5EF4-FFF2-40B4-BE49-F238E27FC236}">
                <a16:creationId xmlns:a16="http://schemas.microsoft.com/office/drawing/2014/main" id="{FF632C9B-8AAD-4865-8203-B4A9ECD7547E}"/>
              </a:ext>
            </a:extLst>
          </p:cNvPr>
          <p:cNvSpPr>
            <a:spLocks noGrp="1"/>
          </p:cNvSpPr>
          <p:nvPr>
            <p:ph type="body" sz="quarter" idx="14" hasCustomPrompt="1"/>
          </p:nvPr>
        </p:nvSpPr>
        <p:spPr>
          <a:xfrm>
            <a:off x="7631372" y="1708449"/>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E37DCD09-290D-416F-9B8B-6D2A4BF16399}"/>
              </a:ext>
            </a:extLst>
          </p:cNvPr>
          <p:cNvSpPr>
            <a:spLocks noGrp="1"/>
          </p:cNvSpPr>
          <p:nvPr>
            <p:ph type="body" sz="quarter" idx="15"/>
          </p:nvPr>
        </p:nvSpPr>
        <p:spPr>
          <a:xfrm>
            <a:off x="7631372" y="1268753"/>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277743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ourier New" panose="02070309020205020404" pitchFamily="49" charset="0"/>
              <a:buChar char="o"/>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a:extLst>
              <a:ext uri="{FF2B5EF4-FFF2-40B4-BE49-F238E27FC236}">
                <a16:creationId xmlns:a16="http://schemas.microsoft.com/office/drawing/2014/main" id="{83735F31-4A9D-40F8-9F71-BD376A4D8D2F}"/>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990599" y="3553820"/>
            <a:ext cx="10515599" cy="1814513"/>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able Placeholder 4">
            <a:extLst>
              <a:ext uri="{FF2B5EF4-FFF2-40B4-BE49-F238E27FC236}">
                <a16:creationId xmlns:a16="http://schemas.microsoft.com/office/drawing/2014/main" id="{A14F7248-79C8-4906-81B9-90D9166C1489}"/>
              </a:ext>
            </a:extLst>
          </p:cNvPr>
          <p:cNvSpPr>
            <a:spLocks noGrp="1"/>
          </p:cNvSpPr>
          <p:nvPr>
            <p:ph type="tbl" sz="quarter" idx="11"/>
          </p:nvPr>
        </p:nvSpPr>
        <p:spPr>
          <a:xfrm>
            <a:off x="990599" y="1409700"/>
            <a:ext cx="10515599" cy="1814513"/>
          </a:xfrm>
        </p:spPr>
        <p:txBody>
          <a:bodyPr/>
          <a:lstStyle/>
          <a:p>
            <a:r>
              <a:rPr lang="en-US" dirty="0"/>
              <a:t>Click icon to add table</a:t>
            </a:r>
          </a:p>
        </p:txBody>
      </p:sp>
    </p:spTree>
    <p:extLst>
      <p:ext uri="{BB962C8B-B14F-4D97-AF65-F5344CB8AC3E}">
        <p14:creationId xmlns:p14="http://schemas.microsoft.com/office/powerpoint/2010/main" val="3832598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652337" y="4026568"/>
            <a:ext cx="8507663" cy="2143416"/>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ext Placeholder 11">
            <a:extLst>
              <a:ext uri="{FF2B5EF4-FFF2-40B4-BE49-F238E27FC236}">
                <a16:creationId xmlns:a16="http://schemas.microsoft.com/office/drawing/2014/main" id="{2D354C28-2602-4BD1-852F-6D26EF74A6E0}"/>
              </a:ext>
            </a:extLst>
          </p:cNvPr>
          <p:cNvSpPr>
            <a:spLocks noGrp="1"/>
          </p:cNvSpPr>
          <p:nvPr>
            <p:ph type="body" sz="quarter" idx="17" hasCustomPrompt="1"/>
          </p:nvPr>
        </p:nvSpPr>
        <p:spPr>
          <a:xfrm>
            <a:off x="743577" y="1638300"/>
            <a:ext cx="10610224" cy="2143416"/>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302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4">
            <a:extLst>
              <a:ext uri="{FF2B5EF4-FFF2-40B4-BE49-F238E27FC236}">
                <a16:creationId xmlns:a16="http://schemas.microsoft.com/office/drawing/2014/main" id="{FDBF05B8-008A-435C-BEB9-BA347195A6D4}"/>
              </a:ext>
            </a:extLst>
          </p:cNvPr>
          <p:cNvSpPr>
            <a:spLocks noGrp="1"/>
          </p:cNvSpPr>
          <p:nvPr>
            <p:ph type="body" sz="quarter" idx="13" hasCustomPrompt="1"/>
          </p:nvPr>
        </p:nvSpPr>
        <p:spPr>
          <a:xfrm>
            <a:off x="2923890" y="6375089"/>
            <a:ext cx="8843249" cy="365125"/>
          </a:xfrm>
        </p:spPr>
        <p:txBody>
          <a:bodyPr/>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6472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62225" y="6356350"/>
            <a:ext cx="9257732" cy="354013"/>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7" r:id="rId9"/>
    <p:sldLayoutId id="2147483728" r:id="rId10"/>
    <p:sldLayoutId id="2147483720" r:id="rId11"/>
    <p:sldLayoutId id="2147483730" r:id="rId12"/>
    <p:sldLayoutId id="2147483723" r:id="rId13"/>
    <p:sldLayoutId id="2147483724" r:id="rId14"/>
    <p:sldLayoutId id="2147483713" r:id="rId15"/>
    <p:sldLayoutId id="2147483717" r:id="rId16"/>
    <p:sldLayoutId id="2147483729" r:id="rId17"/>
    <p:sldLayoutId id="2147483726" r:id="rId18"/>
    <p:sldLayoutId id="2147483725" r:id="rId19"/>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hyperlink" Target="https://www.kali.org/get-kali/#kali-virtual-machines" TargetMode="Externa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hyperlink" Target="https://information.rapid7.com/download-metasploitable-2017.html" TargetMode="Externa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hyperlink" Target="https://nvd.nist.gov/vuln/search" TargetMode="External"/><Relationship Id="rId2" Type="http://schemas.openxmlformats.org/officeDocument/2006/relationships/hyperlink" Target="https://cve.mitre.org/" TargetMode="Externa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2437B-505B-437D-B700-DB98649D4ABD}"/>
              </a:ext>
            </a:extLst>
          </p:cNvPr>
          <p:cNvSpPr>
            <a:spLocks noGrp="1"/>
          </p:cNvSpPr>
          <p:nvPr>
            <p:ph type="title"/>
          </p:nvPr>
        </p:nvSpPr>
        <p:spPr>
          <a:xfrm>
            <a:off x="3730100" y="1901952"/>
            <a:ext cx="8037040" cy="1527048"/>
          </a:xfrm>
        </p:spPr>
        <p:txBody>
          <a:bodyPr anchor="ctr"/>
          <a:lstStyle/>
          <a:p>
            <a:pPr algn="ctr"/>
            <a:r>
              <a:rPr lang="en-US" sz="4000" b="0" dirty="0"/>
              <a:t>Hands-On Ethical Hacking and Network Defense,</a:t>
            </a:r>
            <a:br>
              <a:rPr lang="en-US" sz="4000" b="0" dirty="0"/>
            </a:br>
            <a:r>
              <a:rPr lang="en-US" sz="4000" b="0" dirty="0"/>
              <a:t>Edition 4</a:t>
            </a:r>
          </a:p>
        </p:txBody>
      </p:sp>
      <p:sp>
        <p:nvSpPr>
          <p:cNvPr id="2" name="Text Placeholder 1">
            <a:extLst>
              <a:ext uri="{FF2B5EF4-FFF2-40B4-BE49-F238E27FC236}">
                <a16:creationId xmlns:a16="http://schemas.microsoft.com/office/drawing/2014/main" id="{91DF6995-6A0D-4B55-9749-F555B7DB11AB}"/>
              </a:ext>
            </a:extLst>
          </p:cNvPr>
          <p:cNvSpPr>
            <a:spLocks noGrp="1"/>
          </p:cNvSpPr>
          <p:nvPr>
            <p:ph type="body" sz="quarter" idx="11"/>
          </p:nvPr>
        </p:nvSpPr>
        <p:spPr>
          <a:xfrm>
            <a:off x="4817175" y="3828650"/>
            <a:ext cx="6372223" cy="1116757"/>
          </a:xfrm>
        </p:spPr>
        <p:txBody>
          <a:bodyPr anchor="ctr"/>
          <a:lstStyle/>
          <a:p>
            <a:pPr algn="ctr"/>
            <a:r>
              <a:rPr lang="en-US" b="1" dirty="0"/>
              <a:t>Module 14: </a:t>
            </a:r>
            <a:r>
              <a:rPr lang="en-US" dirty="0"/>
              <a:t>Hands-On Ethical Hacking Final Project</a:t>
            </a:r>
          </a:p>
        </p:txBody>
      </p:sp>
      <p:pic>
        <p:nvPicPr>
          <p:cNvPr id="8" name="Picture Placeholder 7">
            <a:extLst>
              <a:ext uri="{FF2B5EF4-FFF2-40B4-BE49-F238E27FC236}">
                <a16:creationId xmlns:a16="http://schemas.microsoft.com/office/drawing/2014/main" id="{F8064D10-9291-4C19-AD81-7AC9AC58068A}"/>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923" r="923"/>
          <a:stretch>
            <a:fillRect/>
          </a:stretch>
        </p:blipFill>
        <p:spPr>
          <a:xfrm>
            <a:off x="246063" y="314325"/>
            <a:ext cx="3343275" cy="4318000"/>
          </a:xfrm>
        </p:spPr>
      </p:pic>
      <p:sp>
        <p:nvSpPr>
          <p:cNvPr id="7" name="Footer">
            <a:extLst>
              <a:ext uri="{FF2B5EF4-FFF2-40B4-BE49-F238E27FC236}">
                <a16:creationId xmlns:a16="http://schemas.microsoft.com/office/drawing/2014/main" id="{B1026838-50FD-462D-BFD6-82AA8692D3A8}"/>
              </a:ext>
            </a:extLst>
          </p:cNvPr>
          <p:cNvSpPr>
            <a:spLocks noGrp="1"/>
          </p:cNvSpPr>
          <p:nvPr>
            <p:ph type="body" sz="quarter" idx="13"/>
          </p:nvPr>
        </p:nvSpPr>
        <p:spPr>
          <a:xfrm>
            <a:off x="2708694" y="6347068"/>
            <a:ext cx="9058446" cy="441920"/>
          </a:xfrm>
        </p:spPr>
        <p:txBody>
          <a:bodyPr/>
          <a:lstStyle/>
          <a:p>
            <a:r>
              <a:rPr kumimoji="0" lang="en-US" sz="1400" b="0" i="0" u="none" strike="noStrike" kern="1200" cap="none" spc="0" normalizeH="0" baseline="0" noProof="0" dirty="0">
                <a:ln>
                  <a:noFill/>
                </a:ln>
                <a:solidFill>
                  <a:schemeClr val="bg1"/>
                </a:solidFill>
                <a:effectLst/>
                <a:uLnTx/>
                <a:uFillTx/>
                <a:latin typeface="arial" charset="0"/>
                <a:ea typeface="+mn-ea"/>
                <a:cs typeface="+mn-cs"/>
              </a:rPr>
              <a:t>Simpson, Antill</a:t>
            </a:r>
            <a:r>
              <a:rPr lang="en-US" sz="1400" dirty="0">
                <a:solidFill>
                  <a:schemeClr val="bg1"/>
                </a:solidFill>
                <a:latin typeface="arial" charset="0"/>
              </a:rPr>
              <a:t>, </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Wilson, Hands-On Ethical Hacking and Network Defense, 4</a:t>
            </a:r>
            <a:r>
              <a:rPr kumimoji="0" lang="en-US" sz="1400" b="0" i="0" u="none" strike="noStrike" kern="1200" cap="none" spc="0" normalizeH="0" baseline="30000" noProof="0" dirty="0">
                <a:ln>
                  <a:noFill/>
                </a:ln>
                <a:solidFill>
                  <a:schemeClr val="bg1"/>
                </a:solidFill>
                <a:effectLst/>
                <a:uLnTx/>
                <a:uFillTx/>
                <a:latin typeface="arial" charset="0"/>
                <a:ea typeface="+mn-ea"/>
                <a:cs typeface="+mn-cs"/>
              </a:rPr>
              <a:t>th</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7249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dirty="0"/>
              <a:t>Module Objectives</a:t>
            </a:r>
          </a:p>
        </p:txBody>
      </p:sp>
      <p:sp>
        <p:nvSpPr>
          <p:cNvPr id="2" name="Text Placeholder 1"/>
          <p:cNvSpPr>
            <a:spLocks noGrp="1"/>
          </p:cNvSpPr>
          <p:nvPr>
            <p:ph type="body" sz="quarter" idx="17"/>
          </p:nvPr>
        </p:nvSpPr>
        <p:spPr>
          <a:xfrm>
            <a:off x="743576" y="1638300"/>
            <a:ext cx="10711543" cy="4394200"/>
          </a:xfrm>
        </p:spPr>
        <p:txBody>
          <a:bodyPr/>
          <a:lstStyle/>
          <a:p>
            <a:r>
              <a:rPr lang="en-US" dirty="0"/>
              <a:t>By the end of this module, you should be able to: </a:t>
            </a:r>
          </a:p>
          <a:p>
            <a:pPr lvl="1">
              <a:defRPr/>
            </a:pPr>
            <a:r>
              <a:rPr lang="en-US" dirty="0"/>
              <a:t>Set up a penetration testing lab of virtual machines for use in penetration testing activities and practice</a:t>
            </a:r>
          </a:p>
          <a:p>
            <a:pPr lvl="1">
              <a:defRPr/>
            </a:pPr>
            <a:r>
              <a:rPr lang="en-US" dirty="0"/>
              <a:t>Perform penetration testing and vulnerability analysis using tools previously discussed in this course</a:t>
            </a:r>
          </a:p>
          <a:p>
            <a:pPr lvl="1">
              <a:defRPr/>
            </a:pPr>
            <a:r>
              <a:rPr lang="en-US" dirty="0"/>
              <a:t>Create a penetration testing report document to capture and communicate information regarding the vulnerabilities discovered during your penetration testing</a:t>
            </a:r>
          </a:p>
        </p:txBody>
      </p:sp>
    </p:spTree>
    <p:extLst>
      <p:ext uri="{BB962C8B-B14F-4D97-AF65-F5344CB8AC3E}">
        <p14:creationId xmlns:p14="http://schemas.microsoft.com/office/powerpoint/2010/main" val="54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Setting Up the Penetration Testing Lab</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p:txBody>
          <a:bodyPr/>
          <a:lstStyle/>
          <a:p>
            <a:r>
              <a:rPr lang="en-US" altLang="en-US" dirty="0"/>
              <a:t>The penetration testing lab </a:t>
            </a:r>
          </a:p>
          <a:p>
            <a:pPr lvl="1"/>
            <a:r>
              <a:rPr lang="en-US" altLang="en-US" dirty="0"/>
              <a:t>Will consist of a number of virtual machines (VMs) running inside of Oracle VirtualBox</a:t>
            </a:r>
          </a:p>
          <a:p>
            <a:pPr lvl="1"/>
            <a:r>
              <a:rPr lang="en-US" altLang="en-US" dirty="0"/>
              <a:t>You will connect the new VMs using a host-only adapter network in VirtualBox </a:t>
            </a:r>
          </a:p>
          <a:p>
            <a:pPr lvl="2"/>
            <a:r>
              <a:rPr lang="en-US" altLang="en-US" dirty="0"/>
              <a:t>Will ensure that the testing environment is isolated from other devices on any real network you are connected to</a:t>
            </a:r>
          </a:p>
          <a:p>
            <a:r>
              <a:rPr lang="en-US" altLang="en-US" dirty="0"/>
              <a:t>You will use the following VMs:</a:t>
            </a:r>
          </a:p>
          <a:p>
            <a:pPr lvl="1"/>
            <a:r>
              <a:rPr lang="en-US" altLang="en-US" dirty="0"/>
              <a:t>Axigen mail server</a:t>
            </a:r>
          </a:p>
          <a:p>
            <a:pPr lvl="1"/>
            <a:r>
              <a:rPr lang="it-IT" altLang="en-US" dirty="0"/>
              <a:t>Kali Linux 2021 Oracle Virtual Appliance (O V A)</a:t>
            </a:r>
          </a:p>
          <a:p>
            <a:pPr lvl="1"/>
            <a:r>
              <a:rPr lang="it-IT" altLang="en-US" dirty="0"/>
              <a:t>Metasploitable2 O V A</a:t>
            </a:r>
          </a:p>
          <a:p>
            <a:r>
              <a:rPr lang="en-US" altLang="en-US" dirty="0"/>
              <a:t>The computer you use to host the lab environment needs at least 8 GB of memory</a:t>
            </a:r>
            <a:endParaRPr lang="it-IT" altLang="en-US" dirty="0"/>
          </a:p>
        </p:txBody>
      </p:sp>
    </p:spTree>
    <p:extLst>
      <p:ext uri="{BB962C8B-B14F-4D97-AF65-F5344CB8AC3E}">
        <p14:creationId xmlns:p14="http://schemas.microsoft.com/office/powerpoint/2010/main" val="191784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Configuring VirtualBox (1 of 3)</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If you no longer have VirtualBox and Axigen installed:</a:t>
            </a:r>
          </a:p>
          <a:p>
            <a:pPr lvl="1"/>
            <a:r>
              <a:rPr lang="en-US" altLang="en-US" dirty="0"/>
              <a:t>Return to Activity 2-2 and follow the instructions</a:t>
            </a:r>
          </a:p>
          <a:p>
            <a:r>
              <a:rPr lang="en-US" altLang="en-US" dirty="0"/>
              <a:t>If you have Microsoft Hyper-V virtualization running on your computer:</a:t>
            </a:r>
          </a:p>
          <a:p>
            <a:pPr lvl="1"/>
            <a:r>
              <a:rPr lang="en-US" altLang="en-US" dirty="0"/>
              <a:t>You must disable the Hyper-V service in order for VirtualBox to work</a:t>
            </a:r>
          </a:p>
        </p:txBody>
      </p:sp>
    </p:spTree>
    <p:extLst>
      <p:ext uri="{BB962C8B-B14F-4D97-AF65-F5344CB8AC3E}">
        <p14:creationId xmlns:p14="http://schemas.microsoft.com/office/powerpoint/2010/main" val="261404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Configuring VirtualBox (2 of 3) </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VirtualBox</a:t>
            </a:r>
          </a:p>
          <a:p>
            <a:pPr lvl="1"/>
            <a:r>
              <a:rPr lang="en-US" altLang="en-US" dirty="0"/>
              <a:t>Will host the collection of lab VMs that will serve as targets for your penetration testing</a:t>
            </a:r>
          </a:p>
          <a:p>
            <a:pPr lvl="1"/>
            <a:r>
              <a:rPr lang="en-US" altLang="en-US" dirty="0"/>
              <a:t>Provides the networking option that allows your VMs to communicate with all devices on your network</a:t>
            </a:r>
          </a:p>
          <a:p>
            <a:r>
              <a:rPr lang="en-US" altLang="en-US" dirty="0"/>
              <a:t>In this module, don’t scan everything on the network</a:t>
            </a:r>
          </a:p>
          <a:p>
            <a:pPr lvl="1"/>
            <a:r>
              <a:rPr lang="en-US" altLang="en-US" dirty="0"/>
              <a:t>May lead to confusing results or to accessing devices you don’t have permission to scan</a:t>
            </a:r>
          </a:p>
        </p:txBody>
      </p:sp>
    </p:spTree>
    <p:extLst>
      <p:ext uri="{BB962C8B-B14F-4D97-AF65-F5344CB8AC3E}">
        <p14:creationId xmlns:p14="http://schemas.microsoft.com/office/powerpoint/2010/main" val="3709151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Configuring VirtualBox (3 of 3)</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dirty="0"/>
              <a:t>For each VM in VirtualBox that is part of the lab environment, you must change the network settings and connect the VM to the host-only adapter network</a:t>
            </a:r>
          </a:p>
          <a:p>
            <a:pPr lvl="1"/>
            <a:r>
              <a:rPr lang="en-US" altLang="en-US" dirty="0"/>
              <a:t>To change the network setting of a VM:</a:t>
            </a:r>
          </a:p>
          <a:p>
            <a:pPr lvl="2"/>
            <a:r>
              <a:rPr lang="en-US" altLang="en-US" dirty="0"/>
              <a:t>In the right pane of VirtualBox, right-click the VM</a:t>
            </a:r>
          </a:p>
          <a:p>
            <a:pPr lvl="2"/>
            <a:r>
              <a:rPr lang="en-US" altLang="en-US" dirty="0"/>
              <a:t>Click </a:t>
            </a:r>
            <a:r>
              <a:rPr lang="en-US" altLang="en-US" b="1" dirty="0"/>
              <a:t>Settings</a:t>
            </a:r>
            <a:r>
              <a:rPr lang="en-US" altLang="en-US" dirty="0"/>
              <a:t> on the shortcut menu</a:t>
            </a:r>
          </a:p>
          <a:p>
            <a:pPr lvl="2"/>
            <a:r>
              <a:rPr lang="en-US" altLang="en-US" dirty="0"/>
              <a:t>In the left pane of the Settings window, click </a:t>
            </a:r>
            <a:r>
              <a:rPr lang="en-US" altLang="en-US" b="1" dirty="0"/>
              <a:t>Network</a:t>
            </a:r>
            <a:endParaRPr lang="en-US" altLang="en-US" dirty="0"/>
          </a:p>
          <a:p>
            <a:pPr lvl="2"/>
            <a:r>
              <a:rPr lang="en-US" altLang="en-US" dirty="0"/>
              <a:t>In the Network form, click the </a:t>
            </a:r>
            <a:r>
              <a:rPr lang="en-US" altLang="en-US" b="1" dirty="0"/>
              <a:t>Attached to </a:t>
            </a:r>
            <a:r>
              <a:rPr lang="en-US" altLang="en-US" dirty="0"/>
              <a:t>button, and then click </a:t>
            </a:r>
            <a:r>
              <a:rPr lang="en-US" altLang="en-US" b="1" dirty="0"/>
              <a:t>Host-only Adapter</a:t>
            </a:r>
          </a:p>
          <a:p>
            <a:pPr lvl="2"/>
            <a:r>
              <a:rPr lang="en-US" altLang="en-US" dirty="0"/>
              <a:t>Click the </a:t>
            </a:r>
            <a:r>
              <a:rPr lang="en-US" altLang="en-US" b="1" dirty="0"/>
              <a:t>Name</a:t>
            </a:r>
            <a:r>
              <a:rPr lang="en-US" altLang="en-US" dirty="0"/>
              <a:t> button</a:t>
            </a:r>
          </a:p>
          <a:p>
            <a:pPr lvl="3"/>
            <a:r>
              <a:rPr lang="en-US" altLang="en-US" dirty="0"/>
              <a:t>Then click the name of your host-only adapter network, such as VirtualBox Host-Only Ethernet Adapter</a:t>
            </a:r>
          </a:p>
        </p:txBody>
      </p:sp>
    </p:spTree>
    <p:extLst>
      <p:ext uri="{BB962C8B-B14F-4D97-AF65-F5344CB8AC3E}">
        <p14:creationId xmlns:p14="http://schemas.microsoft.com/office/powerpoint/2010/main" val="367745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dirty="0"/>
              <a:t>Configuring Axigen</a:t>
            </a:r>
            <a:endParaRPr lang="en-IN" dirty="0"/>
          </a:p>
        </p:txBody>
      </p:sp>
      <p:sp>
        <p:nvSpPr>
          <p:cNvPr id="5" name="Text Placeholder 4">
            <a:extLst>
              <a:ext uri="{FF2B5EF4-FFF2-40B4-BE49-F238E27FC236}">
                <a16:creationId xmlns:a16="http://schemas.microsoft.com/office/drawing/2014/main" id="{504BFFE1-4F59-495A-B58E-9B0B58FFA99A}"/>
              </a:ext>
            </a:extLst>
          </p:cNvPr>
          <p:cNvSpPr>
            <a:spLocks noGrp="1"/>
          </p:cNvSpPr>
          <p:nvPr>
            <p:ph type="body" sz="quarter" idx="17"/>
          </p:nvPr>
        </p:nvSpPr>
        <p:spPr>
          <a:xfrm>
            <a:off x="743576" y="1638300"/>
            <a:ext cx="4181350" cy="3924160"/>
          </a:xfrm>
        </p:spPr>
        <p:txBody>
          <a:bodyPr/>
          <a:lstStyle/>
          <a:p>
            <a:r>
              <a:rPr lang="en-US" altLang="en-US" dirty="0"/>
              <a:t>You installed the Axigen Mail Server in Activity 2-2</a:t>
            </a:r>
          </a:p>
          <a:p>
            <a:pPr lvl="1"/>
            <a:r>
              <a:rPr lang="en-US" altLang="en-US" dirty="0"/>
              <a:t>Return to Activity 2-2 if you no longer have it installed</a:t>
            </a:r>
          </a:p>
          <a:p>
            <a:pPr lvl="1"/>
            <a:r>
              <a:rPr lang="en-US" altLang="en-US" dirty="0"/>
              <a:t>Change the Axigen network settings so that it connects to the host-only adapter network</a:t>
            </a:r>
          </a:p>
        </p:txBody>
      </p:sp>
      <p:pic>
        <p:nvPicPr>
          <p:cNvPr id="7" name="Picture Placeholder 6" descr="The Network Settings window of VirtualBox showing that the Kali Linux Virtual Machine is connected to the VirtualBox Host-Only Ethernet Adapter">
            <a:extLst>
              <a:ext uri="{FF2B5EF4-FFF2-40B4-BE49-F238E27FC236}">
                <a16:creationId xmlns:a16="http://schemas.microsoft.com/office/drawing/2014/main" id="{AFFC9829-9247-4E9F-9533-EFC1BD3BF37F}"/>
              </a:ext>
            </a:extLst>
          </p:cNvPr>
          <p:cNvPicPr>
            <a:picLocks noGrp="1" noChangeAspect="1"/>
          </p:cNvPicPr>
          <p:nvPr>
            <p:ph type="pic" sz="quarter" idx="10"/>
          </p:nvPr>
        </p:nvPicPr>
        <p:blipFill rotWithShape="1">
          <a:blip r:embed="rId2"/>
          <a:srcRect t="1086" b="176"/>
          <a:stretch/>
        </p:blipFill>
        <p:spPr>
          <a:xfrm>
            <a:off x="5358063" y="1334514"/>
            <a:ext cx="6090362" cy="4896158"/>
          </a:xfrm>
        </p:spPr>
      </p:pic>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2"/>
          </p:nvPr>
        </p:nvSpPr>
        <p:spPr>
          <a:xfrm rot="16200000">
            <a:off x="9725861" y="4101304"/>
            <a:ext cx="3707552" cy="262425"/>
          </a:xfrm>
        </p:spPr>
        <p:txBody>
          <a:bodyPr/>
          <a:lstStyle/>
          <a:p>
            <a:r>
              <a:rPr lang="en-US" altLang="en-US" dirty="0"/>
              <a:t>Source: Oracle VirtualBox</a:t>
            </a:r>
          </a:p>
        </p:txBody>
      </p:sp>
    </p:spTree>
    <p:extLst>
      <p:ext uri="{BB962C8B-B14F-4D97-AF65-F5344CB8AC3E}">
        <p14:creationId xmlns:p14="http://schemas.microsoft.com/office/powerpoint/2010/main" val="2140204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sz="3000" dirty="0"/>
              <a:t>Installing and Configuring Kali Linux 2021 O V A (1 of 5)</a:t>
            </a:r>
            <a:endParaRPr lang="en-IN" sz="3000"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p:txBody>
          <a:bodyPr/>
          <a:lstStyle/>
          <a:p>
            <a:r>
              <a:rPr lang="en-US" altLang="en-US" dirty="0"/>
              <a:t>The Kali Linux instance must be contained in VirtualBox</a:t>
            </a:r>
          </a:p>
          <a:p>
            <a:pPr lvl="1"/>
            <a:r>
              <a:rPr lang="en-US" altLang="en-US" dirty="0"/>
              <a:t>If you already have Kali Linux installed in VirtualBox, you can use your existing VM as long as you change its network settings</a:t>
            </a:r>
          </a:p>
          <a:p>
            <a:pPr lvl="2"/>
            <a:r>
              <a:rPr lang="en-US" altLang="en-US" dirty="0"/>
              <a:t>To connect it to the Host-only Adapter network</a:t>
            </a:r>
          </a:p>
          <a:p>
            <a:r>
              <a:rPr lang="en-US" altLang="en-US" dirty="0"/>
              <a:t>O V A stands for Oracle Virtual Appliance</a:t>
            </a:r>
          </a:p>
          <a:p>
            <a:pPr lvl="1"/>
            <a:r>
              <a:rPr lang="en-US" altLang="en-US" dirty="0"/>
              <a:t>Virtual appliance</a:t>
            </a:r>
          </a:p>
          <a:p>
            <a:pPr lvl="2"/>
            <a:r>
              <a:rPr lang="en-US" altLang="en-US" dirty="0"/>
              <a:t>A virtual machine that has already been installed on virtual hardware</a:t>
            </a:r>
          </a:p>
          <a:p>
            <a:pPr lvl="1"/>
            <a:r>
              <a:rPr lang="en-US" altLang="en-US" dirty="0"/>
              <a:t>Importing an O V A is more convenient than building a virtual machine from scratch</a:t>
            </a:r>
          </a:p>
        </p:txBody>
      </p:sp>
    </p:spTree>
    <p:extLst>
      <p:ext uri="{BB962C8B-B14F-4D97-AF65-F5344CB8AC3E}">
        <p14:creationId xmlns:p14="http://schemas.microsoft.com/office/powerpoint/2010/main" val="431077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p:txBody>
          <a:bodyPr/>
          <a:lstStyle/>
          <a:p>
            <a:r>
              <a:rPr lang="en-US" altLang="en-US" sz="3000" dirty="0"/>
              <a:t>Installing and Configuring Kali Linux 2021 O V A (2 of 5)</a:t>
            </a:r>
            <a:endParaRPr lang="en-IN" sz="3000"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p:txBody>
          <a:bodyPr/>
          <a:lstStyle/>
          <a:p>
            <a:r>
              <a:rPr lang="en-US" altLang="en-US" dirty="0"/>
              <a:t>To install the Kali Linux O V A:</a:t>
            </a:r>
          </a:p>
          <a:p>
            <a:pPr lvl="1"/>
            <a:r>
              <a:rPr lang="en-US" altLang="en-US" dirty="0"/>
              <a:t>Use a browser to go to </a:t>
            </a:r>
            <a:r>
              <a:rPr lang="en-US" altLang="en-US" dirty="0">
                <a:hlinkClick r:id="rId2"/>
              </a:rPr>
              <a:t>Kali Virtual Machines website</a:t>
            </a:r>
            <a:endParaRPr lang="en-US" altLang="en-US" dirty="0"/>
          </a:p>
          <a:p>
            <a:pPr lvl="2"/>
            <a:r>
              <a:rPr lang="en-US" altLang="en-US" dirty="0"/>
              <a:t>Download the O V A file</a:t>
            </a:r>
          </a:p>
          <a:p>
            <a:pPr lvl="2"/>
            <a:r>
              <a:rPr lang="en-US" altLang="en-US" dirty="0"/>
              <a:t>Choose the VirtualBox 64-bit version</a:t>
            </a:r>
          </a:p>
          <a:p>
            <a:pPr lvl="1"/>
            <a:r>
              <a:rPr lang="en-US" altLang="en-US" dirty="0"/>
              <a:t>In VirtualBox, click </a:t>
            </a:r>
            <a:r>
              <a:rPr lang="en-US" altLang="en-US" b="1" dirty="0"/>
              <a:t>File</a:t>
            </a:r>
            <a:r>
              <a:rPr lang="en-US" altLang="en-US" dirty="0"/>
              <a:t> on the menu bar, and then click </a:t>
            </a:r>
            <a:r>
              <a:rPr lang="en-US" altLang="en-US" b="1" dirty="0"/>
              <a:t>Import Appliance</a:t>
            </a:r>
          </a:p>
        </p:txBody>
      </p:sp>
    </p:spTree>
    <p:extLst>
      <p:ext uri="{BB962C8B-B14F-4D97-AF65-F5344CB8AC3E}">
        <p14:creationId xmlns:p14="http://schemas.microsoft.com/office/powerpoint/2010/main" val="3242022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sz="3000" dirty="0"/>
              <a:t>Installing and Configuring Kali Linux 2021 O V A (3 of 5)</a:t>
            </a:r>
            <a:endParaRPr lang="en-IN" sz="3000" dirty="0"/>
          </a:p>
        </p:txBody>
      </p:sp>
      <p:pic>
        <p:nvPicPr>
          <p:cNvPr id="5" name="Picture Placeholder 4" descr="The virtual box manager window is open, and the Import Appliance function is selected on the File menu.">
            <a:extLst>
              <a:ext uri="{FF2B5EF4-FFF2-40B4-BE49-F238E27FC236}">
                <a16:creationId xmlns:a16="http://schemas.microsoft.com/office/drawing/2014/main" id="{503CEF5A-3E22-416D-A0F1-500CAAFC18A9}"/>
              </a:ext>
            </a:extLst>
          </p:cNvPr>
          <p:cNvPicPr>
            <a:picLocks noGrp="1" noChangeAspect="1"/>
          </p:cNvPicPr>
          <p:nvPr>
            <p:ph type="pic" sz="quarter" idx="10"/>
          </p:nvPr>
        </p:nvPicPr>
        <p:blipFill rotWithShape="1">
          <a:blip r:embed="rId2"/>
          <a:srcRect t="7" b="-1518"/>
          <a:stretch/>
        </p:blipFill>
        <p:spPr>
          <a:xfrm>
            <a:off x="415329" y="1283368"/>
            <a:ext cx="7012633" cy="4812632"/>
          </a:xfrm>
        </p:spPr>
      </p:pic>
      <p:sp>
        <p:nvSpPr>
          <p:cNvPr id="10" name="Text Placeholder 9">
            <a:extLst>
              <a:ext uri="{FF2B5EF4-FFF2-40B4-BE49-F238E27FC236}">
                <a16:creationId xmlns:a16="http://schemas.microsoft.com/office/drawing/2014/main" id="{312E4F1C-C81A-4167-8A17-161D55A7DE9A}"/>
              </a:ext>
            </a:extLst>
          </p:cNvPr>
          <p:cNvSpPr>
            <a:spLocks noGrp="1"/>
          </p:cNvSpPr>
          <p:nvPr>
            <p:ph type="body" sz="quarter" idx="12"/>
          </p:nvPr>
        </p:nvSpPr>
        <p:spPr>
          <a:xfrm rot="16200000">
            <a:off x="5705400" y="3974264"/>
            <a:ext cx="3707552" cy="262425"/>
          </a:xfrm>
        </p:spPr>
        <p:txBody>
          <a:bodyPr/>
          <a:lstStyle/>
          <a:p>
            <a:r>
              <a:rPr lang="en-IN" dirty="0"/>
              <a:t>Oracle VirtualBox</a:t>
            </a:r>
          </a:p>
        </p:txBody>
      </p:sp>
      <p:sp>
        <p:nvSpPr>
          <p:cNvPr id="9" name="Text Placeholder 8">
            <a:extLst>
              <a:ext uri="{FF2B5EF4-FFF2-40B4-BE49-F238E27FC236}">
                <a16:creationId xmlns:a16="http://schemas.microsoft.com/office/drawing/2014/main" id="{5D206FA8-96BC-4B82-8D2E-A6732DE964D4}"/>
              </a:ext>
            </a:extLst>
          </p:cNvPr>
          <p:cNvSpPr>
            <a:spLocks noGrp="1"/>
          </p:cNvSpPr>
          <p:nvPr>
            <p:ph type="body" sz="quarter" idx="11"/>
          </p:nvPr>
        </p:nvSpPr>
        <p:spPr>
          <a:xfrm>
            <a:off x="8024402" y="5153110"/>
            <a:ext cx="3894882" cy="672105"/>
          </a:xfrm>
        </p:spPr>
        <p:txBody>
          <a:bodyPr/>
          <a:lstStyle/>
          <a:p>
            <a:r>
              <a:rPr lang="en-US" b="1" dirty="0"/>
              <a:t>Figure 14-3 </a:t>
            </a:r>
            <a:r>
              <a:rPr lang="en-US" dirty="0"/>
              <a:t>Importing a virtual appliance</a:t>
            </a:r>
            <a:endParaRPr lang="en-IN" dirty="0"/>
          </a:p>
        </p:txBody>
      </p:sp>
    </p:spTree>
    <p:extLst>
      <p:ext uri="{BB962C8B-B14F-4D97-AF65-F5344CB8AC3E}">
        <p14:creationId xmlns:p14="http://schemas.microsoft.com/office/powerpoint/2010/main" val="3877498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sz="3000" dirty="0"/>
              <a:t>Installing and Configuring Kali Linux 2021 O V A (4 of 5)</a:t>
            </a:r>
            <a:endParaRPr lang="en-IN" sz="3000" dirty="0"/>
          </a:p>
        </p:txBody>
      </p:sp>
      <p:pic>
        <p:nvPicPr>
          <p:cNvPr id="6" name="Picture Placeholder 5" descr="The Import Virtual Appliance window is open showing the O V A file that has been selected for import.">
            <a:extLst>
              <a:ext uri="{FF2B5EF4-FFF2-40B4-BE49-F238E27FC236}">
                <a16:creationId xmlns:a16="http://schemas.microsoft.com/office/drawing/2014/main" id="{643D81BC-A5E8-435F-9C68-C755E1563C80}"/>
              </a:ext>
            </a:extLst>
          </p:cNvPr>
          <p:cNvPicPr>
            <a:picLocks noGrp="1" noChangeAspect="1"/>
          </p:cNvPicPr>
          <p:nvPr>
            <p:ph type="pic" sz="quarter" idx="10"/>
          </p:nvPr>
        </p:nvPicPr>
        <p:blipFill rotWithShape="1">
          <a:blip r:embed="rId2"/>
          <a:srcRect t="277" b="-1608"/>
          <a:stretch/>
        </p:blipFill>
        <p:spPr>
          <a:xfrm>
            <a:off x="928700" y="961087"/>
            <a:ext cx="5696689" cy="5368645"/>
          </a:xfrm>
        </p:spPr>
      </p:pic>
      <p:sp>
        <p:nvSpPr>
          <p:cNvPr id="10" name="Text Placeholder 9">
            <a:extLst>
              <a:ext uri="{FF2B5EF4-FFF2-40B4-BE49-F238E27FC236}">
                <a16:creationId xmlns:a16="http://schemas.microsoft.com/office/drawing/2014/main" id="{312E4F1C-C81A-4167-8A17-161D55A7DE9A}"/>
              </a:ext>
            </a:extLst>
          </p:cNvPr>
          <p:cNvSpPr>
            <a:spLocks noGrp="1"/>
          </p:cNvSpPr>
          <p:nvPr>
            <p:ph type="body" sz="quarter" idx="12"/>
          </p:nvPr>
        </p:nvSpPr>
        <p:spPr>
          <a:xfrm rot="16200000">
            <a:off x="4945201" y="4198853"/>
            <a:ext cx="3707552" cy="262425"/>
          </a:xfrm>
        </p:spPr>
        <p:txBody>
          <a:bodyPr/>
          <a:lstStyle/>
          <a:p>
            <a:r>
              <a:rPr lang="en-IN" dirty="0"/>
              <a:t>Oracle VirtualBox</a:t>
            </a:r>
          </a:p>
        </p:txBody>
      </p:sp>
      <p:sp>
        <p:nvSpPr>
          <p:cNvPr id="9" name="Text Placeholder 8">
            <a:extLst>
              <a:ext uri="{FF2B5EF4-FFF2-40B4-BE49-F238E27FC236}">
                <a16:creationId xmlns:a16="http://schemas.microsoft.com/office/drawing/2014/main" id="{5D206FA8-96BC-4B82-8D2E-A6732DE964D4}"/>
              </a:ext>
            </a:extLst>
          </p:cNvPr>
          <p:cNvSpPr>
            <a:spLocks noGrp="1"/>
          </p:cNvSpPr>
          <p:nvPr>
            <p:ph type="body" sz="quarter" idx="11"/>
          </p:nvPr>
        </p:nvSpPr>
        <p:spPr>
          <a:xfrm>
            <a:off x="7458918" y="5217279"/>
            <a:ext cx="3894882" cy="672105"/>
          </a:xfrm>
        </p:spPr>
        <p:txBody>
          <a:bodyPr/>
          <a:lstStyle/>
          <a:p>
            <a:r>
              <a:rPr lang="en-US" b="1" dirty="0"/>
              <a:t>Figure 14-4 </a:t>
            </a:r>
            <a:r>
              <a:rPr lang="en-US" dirty="0"/>
              <a:t>Import Virtual Appliance file selection</a:t>
            </a:r>
            <a:endParaRPr lang="en-IN" dirty="0"/>
          </a:p>
        </p:txBody>
      </p:sp>
    </p:spTree>
    <p:extLst>
      <p:ext uri="{BB962C8B-B14F-4D97-AF65-F5344CB8AC3E}">
        <p14:creationId xmlns:p14="http://schemas.microsoft.com/office/powerpoint/2010/main" val="2006986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a:lstStyle/>
          <a:p>
            <a:r>
              <a:rPr lang="en-US" altLang="en-US" sz="3000" dirty="0"/>
              <a:t>Installing and Configuring Kali Linux 2021 O V A (5 of 5)</a:t>
            </a:r>
            <a:endParaRPr lang="en-IN" sz="3000" dirty="0"/>
          </a:p>
        </p:txBody>
      </p:sp>
      <p:sp>
        <p:nvSpPr>
          <p:cNvPr id="3" name="Text Placeholder 2">
            <a:extLst>
              <a:ext uri="{FF2B5EF4-FFF2-40B4-BE49-F238E27FC236}">
                <a16:creationId xmlns:a16="http://schemas.microsoft.com/office/drawing/2014/main" id="{23E86B04-DF53-4733-A983-09A6D7E30D64}"/>
              </a:ext>
            </a:extLst>
          </p:cNvPr>
          <p:cNvSpPr>
            <a:spLocks noGrp="1"/>
          </p:cNvSpPr>
          <p:nvPr>
            <p:ph type="body" sz="quarter" idx="17"/>
          </p:nvPr>
        </p:nvSpPr>
        <p:spPr/>
        <p:txBody>
          <a:bodyPr/>
          <a:lstStyle/>
          <a:p>
            <a:r>
              <a:rPr lang="en-US" altLang="en-US" dirty="0"/>
              <a:t>To install the Kali Linux O V A (continued):</a:t>
            </a:r>
          </a:p>
          <a:p>
            <a:pPr lvl="1"/>
            <a:r>
              <a:rPr lang="en-US" altLang="en-US" dirty="0"/>
              <a:t>With the O V A file selected, click </a:t>
            </a:r>
            <a:r>
              <a:rPr lang="en-US" altLang="en-US" b="1" dirty="0"/>
              <a:t>Next</a:t>
            </a:r>
            <a:endParaRPr lang="en-US" altLang="en-US" dirty="0"/>
          </a:p>
          <a:p>
            <a:pPr lvl="1"/>
            <a:r>
              <a:rPr lang="en-US" altLang="en-US" dirty="0"/>
              <a:t>Review the Appliance Settings and then click </a:t>
            </a:r>
            <a:r>
              <a:rPr lang="en-US" altLang="en-US" b="1" dirty="0"/>
              <a:t>Import</a:t>
            </a:r>
            <a:r>
              <a:rPr lang="en-US" altLang="en-US" dirty="0"/>
              <a:t> to begin the import</a:t>
            </a:r>
          </a:p>
          <a:p>
            <a:pPr lvl="1"/>
            <a:r>
              <a:rPr lang="en-US" altLang="en-US" dirty="0"/>
              <a:t>When a Software License Agreement window opens, click </a:t>
            </a:r>
            <a:r>
              <a:rPr lang="en-US" altLang="en-US" b="1" dirty="0"/>
              <a:t>Agree</a:t>
            </a:r>
            <a:r>
              <a:rPr lang="en-US" altLang="en-US" dirty="0"/>
              <a:t> to continue</a:t>
            </a:r>
          </a:p>
          <a:p>
            <a:pPr lvl="1"/>
            <a:r>
              <a:rPr lang="en-US" altLang="en-US" dirty="0"/>
              <a:t>After the import is complete, right-click the </a:t>
            </a:r>
            <a:r>
              <a:rPr lang="en-US" altLang="en-US" b="1" dirty="0"/>
              <a:t>Kali VM</a:t>
            </a:r>
          </a:p>
          <a:p>
            <a:pPr lvl="2"/>
            <a:r>
              <a:rPr lang="en-US" altLang="en-US" dirty="0"/>
              <a:t>Click Settings on the shortcut menu</a:t>
            </a:r>
          </a:p>
          <a:p>
            <a:pPr lvl="2"/>
            <a:r>
              <a:rPr lang="en-US" altLang="en-US" dirty="0"/>
              <a:t>Change the Network Settings so that the Kali VM is on the same network as the other VMs</a:t>
            </a:r>
          </a:p>
        </p:txBody>
      </p:sp>
    </p:spTree>
    <p:extLst>
      <p:ext uri="{BB962C8B-B14F-4D97-AF65-F5344CB8AC3E}">
        <p14:creationId xmlns:p14="http://schemas.microsoft.com/office/powerpoint/2010/main" val="2953884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(1 of 11) </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altLang="en-US" dirty="0"/>
              <a:t>Metasploitable2 </a:t>
            </a:r>
          </a:p>
          <a:p>
            <a:pPr lvl="1"/>
            <a:r>
              <a:rPr lang="en-US" altLang="en-US" dirty="0"/>
              <a:t>Has been purposefully constructed to be vulnerable to attack </a:t>
            </a:r>
          </a:p>
          <a:p>
            <a:pPr lvl="1"/>
            <a:r>
              <a:rPr lang="en-US" altLang="en-US" dirty="0"/>
              <a:t>Designed to provide pen-testers with a target containing security flaws that can be used to practice pen-testing</a:t>
            </a:r>
          </a:p>
          <a:p>
            <a:r>
              <a:rPr lang="en-US" dirty="0"/>
              <a:t>Downloading Metasploitable2, provided by Rapid7, will be shown using figures in the next few slides</a:t>
            </a:r>
            <a:endParaRPr lang="en-IN" dirty="0"/>
          </a:p>
        </p:txBody>
      </p:sp>
    </p:spTree>
    <p:extLst>
      <p:ext uri="{BB962C8B-B14F-4D97-AF65-F5344CB8AC3E}">
        <p14:creationId xmlns:p14="http://schemas.microsoft.com/office/powerpoint/2010/main" val="1249423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(2 of 11)</a:t>
            </a:r>
            <a:endParaRPr lang="en-IN" dirty="0"/>
          </a:p>
        </p:txBody>
      </p:sp>
      <p:sp>
        <p:nvSpPr>
          <p:cNvPr id="3" name="Text Placeholder 2">
            <a:extLst>
              <a:ext uri="{FF2B5EF4-FFF2-40B4-BE49-F238E27FC236}">
                <a16:creationId xmlns:a16="http://schemas.microsoft.com/office/drawing/2014/main" id="{C89CD84D-2CBE-4D6D-B24D-138FD12F58A5}"/>
              </a:ext>
            </a:extLst>
          </p:cNvPr>
          <p:cNvSpPr>
            <a:spLocks noGrp="1"/>
          </p:cNvSpPr>
          <p:nvPr>
            <p:ph type="body" sz="quarter" idx="17"/>
          </p:nvPr>
        </p:nvSpPr>
        <p:spPr/>
        <p:txBody>
          <a:bodyPr/>
          <a:lstStyle/>
          <a:p>
            <a:r>
              <a:rPr lang="en-US" dirty="0"/>
              <a:t>To create the Metasploitable2 VirtualBox VM:</a:t>
            </a:r>
          </a:p>
          <a:p>
            <a:pPr lvl="1"/>
            <a:r>
              <a:rPr lang="en-US" dirty="0"/>
              <a:t>Use a browser to go to </a:t>
            </a:r>
            <a:r>
              <a:rPr lang="en-US" dirty="0">
                <a:hlinkClick r:id="rId2"/>
              </a:rPr>
              <a:t>Metasploitable Virtual Machine Test website</a:t>
            </a:r>
            <a:endParaRPr lang="en-US" dirty="0"/>
          </a:p>
          <a:p>
            <a:pPr lvl="1"/>
            <a:r>
              <a:rPr lang="en-US" dirty="0"/>
              <a:t>Click the DOWNLOAD METASPLOITABLE NOW button to download Metasploitable2</a:t>
            </a:r>
          </a:p>
          <a:p>
            <a:pPr lvl="1"/>
            <a:r>
              <a:rPr lang="en-US" dirty="0"/>
              <a:t>If the download doesn’t start, right-click the button, copy the link address, open a new tab in your browser, and then paste the address in the address bar</a:t>
            </a:r>
          </a:p>
          <a:p>
            <a:pPr lvl="1"/>
            <a:r>
              <a:rPr lang="en-US" dirty="0"/>
              <a:t>You may be requested to fill in a form and provide information such as your </a:t>
            </a:r>
            <a:r>
              <a:rPr lang="en-IN" dirty="0"/>
              <a:t>email address</a:t>
            </a:r>
          </a:p>
        </p:txBody>
      </p:sp>
    </p:spTree>
    <p:extLst>
      <p:ext uri="{BB962C8B-B14F-4D97-AF65-F5344CB8AC3E}">
        <p14:creationId xmlns:p14="http://schemas.microsoft.com/office/powerpoint/2010/main" val="1594097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(3 of 11)</a:t>
            </a:r>
            <a:endParaRPr lang="en-IN" dirty="0"/>
          </a:p>
        </p:txBody>
      </p:sp>
      <p:pic>
        <p:nvPicPr>
          <p:cNvPr id="7" name="Picture Placeholder 6" descr="File browser showing the Metasploitable2 zip file and the folder it contains which has the need files for creating the Metasploitable2 V M">
            <a:extLst>
              <a:ext uri="{FF2B5EF4-FFF2-40B4-BE49-F238E27FC236}">
                <a16:creationId xmlns:a16="http://schemas.microsoft.com/office/drawing/2014/main" id="{30CF6FC6-AA4C-4722-9A73-130433A2638D}"/>
              </a:ext>
            </a:extLst>
          </p:cNvPr>
          <p:cNvPicPr>
            <a:picLocks noGrp="1" noChangeAspect="1"/>
          </p:cNvPicPr>
          <p:nvPr>
            <p:ph type="pic" sz="quarter" idx="10"/>
          </p:nvPr>
        </p:nvPicPr>
        <p:blipFill rotWithShape="1">
          <a:blip r:embed="rId2"/>
          <a:srcRect t="622" b="-1471"/>
          <a:stretch/>
        </p:blipFill>
        <p:spPr>
          <a:xfrm>
            <a:off x="2476125" y="2138813"/>
            <a:ext cx="7982257" cy="4074695"/>
          </a:xfrm>
        </p:spPr>
      </p:pic>
      <p:sp>
        <p:nvSpPr>
          <p:cNvPr id="5" name="Text Placeholder 4">
            <a:extLst>
              <a:ext uri="{FF2B5EF4-FFF2-40B4-BE49-F238E27FC236}">
                <a16:creationId xmlns:a16="http://schemas.microsoft.com/office/drawing/2014/main" id="{B92F1AB3-791A-4D69-BBBA-6AAC763A7D09}"/>
              </a:ext>
            </a:extLst>
          </p:cNvPr>
          <p:cNvSpPr>
            <a:spLocks noGrp="1"/>
          </p:cNvSpPr>
          <p:nvPr>
            <p:ph type="body" sz="quarter" idx="17"/>
          </p:nvPr>
        </p:nvSpPr>
        <p:spPr/>
        <p:txBody>
          <a:bodyPr/>
          <a:lstStyle/>
          <a:p>
            <a:r>
              <a:rPr lang="en-US" dirty="0"/>
              <a:t>Use the </a:t>
            </a:r>
            <a:r>
              <a:rPr lang="en-US" b="1" dirty="0"/>
              <a:t>Extract All </a:t>
            </a:r>
            <a:r>
              <a:rPr lang="en-US" dirty="0"/>
              <a:t>command to extract the installation files from the compressed file you downloaded</a:t>
            </a:r>
            <a:endParaRPr lang="en-IN" dirty="0"/>
          </a:p>
        </p:txBody>
      </p:sp>
    </p:spTree>
    <p:extLst>
      <p:ext uri="{BB962C8B-B14F-4D97-AF65-F5344CB8AC3E}">
        <p14:creationId xmlns:p14="http://schemas.microsoft.com/office/powerpoint/2010/main" val="2602563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(4 of 11) </a:t>
            </a:r>
            <a:endParaRPr lang="en-IN" dirty="0"/>
          </a:p>
        </p:txBody>
      </p:sp>
      <p:pic>
        <p:nvPicPr>
          <p:cNvPr id="10" name="Picture Placeholder 9" descr="File browser showing the contents of the Metasploitable2-Linux folder.">
            <a:extLst>
              <a:ext uri="{FF2B5EF4-FFF2-40B4-BE49-F238E27FC236}">
                <a16:creationId xmlns:a16="http://schemas.microsoft.com/office/drawing/2014/main" id="{D78E0BB7-7AC9-4731-AF97-B2EF706BB33D}"/>
              </a:ext>
            </a:extLst>
          </p:cNvPr>
          <p:cNvPicPr>
            <a:picLocks noGrp="1" noChangeAspect="1"/>
          </p:cNvPicPr>
          <p:nvPr>
            <p:ph type="pic" sz="quarter" idx="10"/>
          </p:nvPr>
        </p:nvPicPr>
        <p:blipFill rotWithShape="1">
          <a:blip r:embed="rId2"/>
          <a:srcRect l="1330" t="1994" r="2119"/>
          <a:stretch/>
        </p:blipFill>
        <p:spPr>
          <a:xfrm>
            <a:off x="2029325" y="1341840"/>
            <a:ext cx="8133347" cy="4174319"/>
          </a:xfrm>
        </p:spPr>
      </p:pic>
      <p:sp>
        <p:nvSpPr>
          <p:cNvPr id="6" name="Text Placeholder 5">
            <a:extLst>
              <a:ext uri="{FF2B5EF4-FFF2-40B4-BE49-F238E27FC236}">
                <a16:creationId xmlns:a16="http://schemas.microsoft.com/office/drawing/2014/main" id="{6D6E8730-7DB5-4F71-A5FB-483F9ECE772D}"/>
              </a:ext>
            </a:extLst>
          </p:cNvPr>
          <p:cNvSpPr>
            <a:spLocks noGrp="1"/>
          </p:cNvSpPr>
          <p:nvPr>
            <p:ph type="body" sz="quarter" idx="11"/>
          </p:nvPr>
        </p:nvSpPr>
        <p:spPr>
          <a:xfrm>
            <a:off x="3956054" y="5607573"/>
            <a:ext cx="4279891" cy="469259"/>
          </a:xfrm>
        </p:spPr>
        <p:txBody>
          <a:bodyPr/>
          <a:lstStyle/>
          <a:p>
            <a:r>
              <a:rPr lang="en-US" b="1" dirty="0"/>
              <a:t>Figure 14-6 </a:t>
            </a:r>
            <a:r>
              <a:rPr lang="en-US" dirty="0"/>
              <a:t>Metasploitable extracted files</a:t>
            </a:r>
            <a:endParaRPr lang="en-IN" dirty="0"/>
          </a:p>
        </p:txBody>
      </p:sp>
      <p:sp>
        <p:nvSpPr>
          <p:cNvPr id="14" name="Text Placeholder 13">
            <a:extLst>
              <a:ext uri="{FF2B5EF4-FFF2-40B4-BE49-F238E27FC236}">
                <a16:creationId xmlns:a16="http://schemas.microsoft.com/office/drawing/2014/main" id="{A2413EDA-03A7-4C51-9AFF-CB03340495FE}"/>
              </a:ext>
            </a:extLst>
          </p:cNvPr>
          <p:cNvSpPr>
            <a:spLocks noGrp="1"/>
          </p:cNvSpPr>
          <p:nvPr>
            <p:ph type="body" sz="quarter" idx="12"/>
          </p:nvPr>
        </p:nvSpPr>
        <p:spPr>
          <a:xfrm rot="16200000">
            <a:off x="8440109" y="3531170"/>
            <a:ext cx="3707552" cy="262425"/>
          </a:xfrm>
        </p:spPr>
        <p:txBody>
          <a:bodyPr/>
          <a:lstStyle/>
          <a:p>
            <a:r>
              <a:rPr lang="en-IN" dirty="0"/>
              <a:t>Microsoft Windows</a:t>
            </a:r>
          </a:p>
        </p:txBody>
      </p:sp>
    </p:spTree>
    <p:extLst>
      <p:ext uri="{BB962C8B-B14F-4D97-AF65-F5344CB8AC3E}">
        <p14:creationId xmlns:p14="http://schemas.microsoft.com/office/powerpoint/2010/main" val="1447491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(5 of 11)</a:t>
            </a:r>
            <a:endParaRPr lang="en-IN" dirty="0"/>
          </a:p>
        </p:txBody>
      </p:sp>
      <p:pic>
        <p:nvPicPr>
          <p:cNvPr id="5" name="Picture Placeholder 4" descr="VirtualBox Create Virtual Machine window showing details for the creation of the Metasploitable2 VM.">
            <a:extLst>
              <a:ext uri="{FF2B5EF4-FFF2-40B4-BE49-F238E27FC236}">
                <a16:creationId xmlns:a16="http://schemas.microsoft.com/office/drawing/2014/main" id="{C7653EEA-D16B-46BA-B4BA-90E539CEEF0D}"/>
              </a:ext>
            </a:extLst>
          </p:cNvPr>
          <p:cNvPicPr>
            <a:picLocks noGrp="1" noChangeAspect="1"/>
          </p:cNvPicPr>
          <p:nvPr>
            <p:ph type="pic" sz="quarter" idx="10"/>
          </p:nvPr>
        </p:nvPicPr>
        <p:blipFill rotWithShape="1">
          <a:blip r:embed="rId2"/>
          <a:srcRect t="-221" b="-951"/>
          <a:stretch/>
        </p:blipFill>
        <p:spPr>
          <a:xfrm>
            <a:off x="943776" y="1037230"/>
            <a:ext cx="5828461" cy="5168023"/>
          </a:xfrm>
        </p:spPr>
      </p:pic>
      <p:sp>
        <p:nvSpPr>
          <p:cNvPr id="11" name="Text Placeholder 10">
            <a:extLst>
              <a:ext uri="{FF2B5EF4-FFF2-40B4-BE49-F238E27FC236}">
                <a16:creationId xmlns:a16="http://schemas.microsoft.com/office/drawing/2014/main" id="{43B00A8F-96D7-4A1D-B0E6-359B986F1931}"/>
              </a:ext>
            </a:extLst>
          </p:cNvPr>
          <p:cNvSpPr>
            <a:spLocks noGrp="1"/>
          </p:cNvSpPr>
          <p:nvPr>
            <p:ph type="body" sz="quarter" idx="12"/>
          </p:nvPr>
        </p:nvSpPr>
        <p:spPr>
          <a:xfrm rot="16200000">
            <a:off x="5024038" y="4135209"/>
            <a:ext cx="3707552" cy="262425"/>
          </a:xfrm>
        </p:spPr>
        <p:txBody>
          <a:bodyPr/>
          <a:lstStyle/>
          <a:p>
            <a:r>
              <a:rPr lang="en-IN" dirty="0"/>
              <a:t>Oracle VirtualBox</a:t>
            </a:r>
          </a:p>
        </p:txBody>
      </p:sp>
      <p:sp>
        <p:nvSpPr>
          <p:cNvPr id="6" name="Text Placeholder 5">
            <a:extLst>
              <a:ext uri="{FF2B5EF4-FFF2-40B4-BE49-F238E27FC236}">
                <a16:creationId xmlns:a16="http://schemas.microsoft.com/office/drawing/2014/main" id="{6D6E8730-7DB5-4F71-A5FB-483F9ECE772D}"/>
              </a:ext>
            </a:extLst>
          </p:cNvPr>
          <p:cNvSpPr>
            <a:spLocks noGrp="1"/>
          </p:cNvSpPr>
          <p:nvPr>
            <p:ph type="body" sz="quarter" idx="11"/>
          </p:nvPr>
        </p:nvSpPr>
        <p:spPr>
          <a:xfrm>
            <a:off x="7523087" y="5064460"/>
            <a:ext cx="4200647" cy="672105"/>
          </a:xfrm>
        </p:spPr>
        <p:txBody>
          <a:bodyPr/>
          <a:lstStyle/>
          <a:p>
            <a:r>
              <a:rPr lang="en-US" b="1" dirty="0"/>
              <a:t>Figure 14-7 </a:t>
            </a:r>
            <a:r>
              <a:rPr lang="it-IT" dirty="0"/>
              <a:t>Create Virtual Machine dialog box</a:t>
            </a:r>
            <a:endParaRPr lang="en-IN" dirty="0"/>
          </a:p>
        </p:txBody>
      </p:sp>
    </p:spTree>
    <p:extLst>
      <p:ext uri="{BB962C8B-B14F-4D97-AF65-F5344CB8AC3E}">
        <p14:creationId xmlns:p14="http://schemas.microsoft.com/office/powerpoint/2010/main" val="4125112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(6 of 11)</a:t>
            </a:r>
            <a:endParaRPr lang="en-IN" dirty="0"/>
          </a:p>
        </p:txBody>
      </p:sp>
      <p:pic>
        <p:nvPicPr>
          <p:cNvPr id="7" name="Picture Placeholder 6" descr="The Hard Disk Selector window being used to add the Metasploitable v m d k file.">
            <a:extLst>
              <a:ext uri="{FF2B5EF4-FFF2-40B4-BE49-F238E27FC236}">
                <a16:creationId xmlns:a16="http://schemas.microsoft.com/office/drawing/2014/main" id="{460D9570-2B33-4F14-A68A-D9509365614A}"/>
              </a:ext>
            </a:extLst>
          </p:cNvPr>
          <p:cNvPicPr>
            <a:picLocks noGrp="1" noChangeAspect="1"/>
          </p:cNvPicPr>
          <p:nvPr>
            <p:ph type="pic" sz="quarter" idx="10"/>
          </p:nvPr>
        </p:nvPicPr>
        <p:blipFill rotWithShape="1">
          <a:blip r:embed="rId2"/>
          <a:srcRect l="-313" r="-1012"/>
          <a:stretch/>
        </p:blipFill>
        <p:spPr>
          <a:xfrm>
            <a:off x="432977" y="1477302"/>
            <a:ext cx="7055481" cy="4259263"/>
          </a:xfrm>
        </p:spPr>
      </p:pic>
      <p:sp>
        <p:nvSpPr>
          <p:cNvPr id="11" name="Text Placeholder 10">
            <a:extLst>
              <a:ext uri="{FF2B5EF4-FFF2-40B4-BE49-F238E27FC236}">
                <a16:creationId xmlns:a16="http://schemas.microsoft.com/office/drawing/2014/main" id="{43B00A8F-96D7-4A1D-B0E6-359B986F1931}"/>
              </a:ext>
            </a:extLst>
          </p:cNvPr>
          <p:cNvSpPr>
            <a:spLocks noGrp="1"/>
          </p:cNvSpPr>
          <p:nvPr>
            <p:ph type="body" sz="quarter" idx="12"/>
          </p:nvPr>
        </p:nvSpPr>
        <p:spPr>
          <a:xfrm rot="16200000">
            <a:off x="5765896" y="3636142"/>
            <a:ext cx="3707552" cy="262425"/>
          </a:xfrm>
        </p:spPr>
        <p:txBody>
          <a:bodyPr/>
          <a:lstStyle/>
          <a:p>
            <a:r>
              <a:rPr lang="en-IN" dirty="0"/>
              <a:t>Oracle VirtualBox</a:t>
            </a:r>
          </a:p>
        </p:txBody>
      </p:sp>
      <p:sp>
        <p:nvSpPr>
          <p:cNvPr id="6" name="Text Placeholder 5">
            <a:extLst>
              <a:ext uri="{FF2B5EF4-FFF2-40B4-BE49-F238E27FC236}">
                <a16:creationId xmlns:a16="http://schemas.microsoft.com/office/drawing/2014/main" id="{6D6E8730-7DB5-4F71-A5FB-483F9ECE772D}"/>
              </a:ext>
            </a:extLst>
          </p:cNvPr>
          <p:cNvSpPr>
            <a:spLocks noGrp="1"/>
          </p:cNvSpPr>
          <p:nvPr>
            <p:ph type="body" sz="quarter" idx="11"/>
          </p:nvPr>
        </p:nvSpPr>
        <p:spPr>
          <a:xfrm>
            <a:off x="7859972" y="5064460"/>
            <a:ext cx="4200647" cy="672105"/>
          </a:xfrm>
        </p:spPr>
        <p:txBody>
          <a:bodyPr/>
          <a:lstStyle/>
          <a:p>
            <a:r>
              <a:rPr lang="en-US" b="1" dirty="0"/>
              <a:t>Figure 14-8 </a:t>
            </a:r>
            <a:r>
              <a:rPr lang="it-IT" dirty="0"/>
              <a:t>Hard Disk Selector window</a:t>
            </a:r>
            <a:endParaRPr lang="en-IN" dirty="0"/>
          </a:p>
        </p:txBody>
      </p:sp>
    </p:spTree>
    <p:extLst>
      <p:ext uri="{BB962C8B-B14F-4D97-AF65-F5344CB8AC3E}">
        <p14:creationId xmlns:p14="http://schemas.microsoft.com/office/powerpoint/2010/main" val="4101717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(7 of 11)</a:t>
            </a:r>
            <a:endParaRPr lang="en-IN" dirty="0"/>
          </a:p>
        </p:txBody>
      </p:sp>
      <p:sp>
        <p:nvSpPr>
          <p:cNvPr id="5" name="Text Placeholder 4">
            <a:extLst>
              <a:ext uri="{FF2B5EF4-FFF2-40B4-BE49-F238E27FC236}">
                <a16:creationId xmlns:a16="http://schemas.microsoft.com/office/drawing/2014/main" id="{B92F1AB3-791A-4D69-BBBA-6AAC763A7D09}"/>
              </a:ext>
            </a:extLst>
          </p:cNvPr>
          <p:cNvSpPr>
            <a:spLocks noGrp="1"/>
          </p:cNvSpPr>
          <p:nvPr>
            <p:ph type="body" sz="quarter" idx="17"/>
          </p:nvPr>
        </p:nvSpPr>
        <p:spPr>
          <a:xfrm>
            <a:off x="743575" y="1638301"/>
            <a:ext cx="10919035" cy="800100"/>
          </a:xfrm>
        </p:spPr>
        <p:txBody>
          <a:bodyPr/>
          <a:lstStyle/>
          <a:p>
            <a:r>
              <a:rPr lang="en-US" dirty="0"/>
              <a:t>Click the </a:t>
            </a:r>
            <a:r>
              <a:rPr lang="en-US" b="1" dirty="0"/>
              <a:t>Add </a:t>
            </a:r>
            <a:r>
              <a:rPr lang="en-US" dirty="0"/>
              <a:t>button and navigate to the extracted folder to find the Metasploitable.vmdk file</a:t>
            </a:r>
          </a:p>
          <a:p>
            <a:pPr lvl="1"/>
            <a:r>
              <a:rPr lang="en-US" dirty="0"/>
              <a:t>Add this file to the list of hard disks to use it with the Metasploitable2 VM</a:t>
            </a:r>
            <a:endParaRPr lang="en-IN" dirty="0"/>
          </a:p>
        </p:txBody>
      </p:sp>
      <p:pic>
        <p:nvPicPr>
          <p:cNvPr id="6" name="Picture Placeholder 5" descr="File browser in VirtualBox hard disk selector showing the metasploitable v m d k file being selected for addition.">
            <a:extLst>
              <a:ext uri="{FF2B5EF4-FFF2-40B4-BE49-F238E27FC236}">
                <a16:creationId xmlns:a16="http://schemas.microsoft.com/office/drawing/2014/main" id="{2D8AB5CF-5298-4DD7-BB9D-CC2D807A2ECE}"/>
              </a:ext>
            </a:extLst>
          </p:cNvPr>
          <p:cNvPicPr>
            <a:picLocks noGrp="1" noChangeAspect="1"/>
          </p:cNvPicPr>
          <p:nvPr>
            <p:ph type="pic" sz="quarter" idx="10"/>
          </p:nvPr>
        </p:nvPicPr>
        <p:blipFill rotWithShape="1">
          <a:blip r:embed="rId2"/>
          <a:srcRect t="298" b="-1861"/>
          <a:stretch/>
        </p:blipFill>
        <p:spPr>
          <a:xfrm>
            <a:off x="2375909" y="2438401"/>
            <a:ext cx="7440182" cy="3708266"/>
          </a:xfrm>
        </p:spPr>
      </p:pic>
    </p:spTree>
    <p:extLst>
      <p:ext uri="{BB962C8B-B14F-4D97-AF65-F5344CB8AC3E}">
        <p14:creationId xmlns:p14="http://schemas.microsoft.com/office/powerpoint/2010/main" val="1190384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(8 of 11) </a:t>
            </a:r>
            <a:endParaRPr lang="en-IN" dirty="0"/>
          </a:p>
        </p:txBody>
      </p:sp>
      <p:pic>
        <p:nvPicPr>
          <p:cNvPr id="5" name="Picture Placeholder 4" descr="The VirtualBox hard disk selector window showing that the metasploitable v m d k file has been added to the list and is being chosen for attachement.">
            <a:extLst>
              <a:ext uri="{FF2B5EF4-FFF2-40B4-BE49-F238E27FC236}">
                <a16:creationId xmlns:a16="http://schemas.microsoft.com/office/drawing/2014/main" id="{820766EE-C9CB-4B5D-BE68-37F72A4F1368}"/>
              </a:ext>
            </a:extLst>
          </p:cNvPr>
          <p:cNvPicPr>
            <a:picLocks noGrp="1" noChangeAspect="1"/>
          </p:cNvPicPr>
          <p:nvPr>
            <p:ph type="pic" sz="quarter" idx="10"/>
          </p:nvPr>
        </p:nvPicPr>
        <p:blipFill rotWithShape="1">
          <a:blip r:embed="rId2"/>
          <a:srcRect l="556" r="-753"/>
          <a:stretch/>
        </p:blipFill>
        <p:spPr>
          <a:xfrm>
            <a:off x="393807" y="1223299"/>
            <a:ext cx="7357077" cy="4513266"/>
          </a:xfrm>
        </p:spPr>
      </p:pic>
      <p:sp>
        <p:nvSpPr>
          <p:cNvPr id="11" name="Text Placeholder 10">
            <a:extLst>
              <a:ext uri="{FF2B5EF4-FFF2-40B4-BE49-F238E27FC236}">
                <a16:creationId xmlns:a16="http://schemas.microsoft.com/office/drawing/2014/main" id="{43B00A8F-96D7-4A1D-B0E6-359B986F1931}"/>
              </a:ext>
            </a:extLst>
          </p:cNvPr>
          <p:cNvSpPr>
            <a:spLocks noGrp="1"/>
          </p:cNvSpPr>
          <p:nvPr>
            <p:ph type="body" sz="quarter" idx="12"/>
          </p:nvPr>
        </p:nvSpPr>
        <p:spPr>
          <a:xfrm rot="16200000">
            <a:off x="6006367" y="3751576"/>
            <a:ext cx="3707552" cy="262425"/>
          </a:xfrm>
        </p:spPr>
        <p:txBody>
          <a:bodyPr/>
          <a:lstStyle/>
          <a:p>
            <a:r>
              <a:rPr lang="en-IN" dirty="0"/>
              <a:t>Oracle VirtualBox</a:t>
            </a:r>
          </a:p>
        </p:txBody>
      </p:sp>
      <p:sp>
        <p:nvSpPr>
          <p:cNvPr id="6" name="Text Placeholder 5">
            <a:extLst>
              <a:ext uri="{FF2B5EF4-FFF2-40B4-BE49-F238E27FC236}">
                <a16:creationId xmlns:a16="http://schemas.microsoft.com/office/drawing/2014/main" id="{6D6E8730-7DB5-4F71-A5FB-483F9ECE772D}"/>
              </a:ext>
            </a:extLst>
          </p:cNvPr>
          <p:cNvSpPr>
            <a:spLocks noGrp="1"/>
          </p:cNvSpPr>
          <p:nvPr>
            <p:ph type="body" sz="quarter" idx="11"/>
          </p:nvPr>
        </p:nvSpPr>
        <p:spPr>
          <a:xfrm>
            <a:off x="8264069" y="4945657"/>
            <a:ext cx="3927931" cy="790908"/>
          </a:xfrm>
        </p:spPr>
        <p:txBody>
          <a:bodyPr/>
          <a:lstStyle/>
          <a:p>
            <a:r>
              <a:rPr lang="en-US" b="1" dirty="0"/>
              <a:t>Figure 14-10 </a:t>
            </a:r>
            <a:r>
              <a:rPr lang="en-US" dirty="0"/>
              <a:t>Choose the Metasploitable.vmdk file</a:t>
            </a:r>
            <a:endParaRPr lang="en-IN" dirty="0"/>
          </a:p>
        </p:txBody>
      </p:sp>
    </p:spTree>
    <p:extLst>
      <p:ext uri="{BB962C8B-B14F-4D97-AF65-F5344CB8AC3E}">
        <p14:creationId xmlns:p14="http://schemas.microsoft.com/office/powerpoint/2010/main" val="2407467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dirty="0"/>
              <a:t>Installing and Configuring Metasploitable2 (9 of 11)</a:t>
            </a:r>
            <a:endParaRPr lang="en-IN" dirty="0"/>
          </a:p>
        </p:txBody>
      </p:sp>
      <p:pic>
        <p:nvPicPr>
          <p:cNvPr id="7" name="Picture Placeholder 6" descr="The VirtualBox Create Virtual Machine window showing the metasploitable v m d k has been chosen and the Create button is ready to be clicked">
            <a:extLst>
              <a:ext uri="{FF2B5EF4-FFF2-40B4-BE49-F238E27FC236}">
                <a16:creationId xmlns:a16="http://schemas.microsoft.com/office/drawing/2014/main" id="{FA1530C0-C137-48BF-9E02-0674A769975B}"/>
              </a:ext>
            </a:extLst>
          </p:cNvPr>
          <p:cNvPicPr>
            <a:picLocks noGrp="1" noChangeAspect="1"/>
          </p:cNvPicPr>
          <p:nvPr>
            <p:ph type="pic" sz="quarter" idx="10"/>
          </p:nvPr>
        </p:nvPicPr>
        <p:blipFill rotWithShape="1">
          <a:blip r:embed="rId2"/>
          <a:srcRect t="205" b="-799"/>
          <a:stretch/>
        </p:blipFill>
        <p:spPr>
          <a:xfrm>
            <a:off x="1011587" y="1165280"/>
            <a:ext cx="5491219" cy="4882594"/>
          </a:xfrm>
        </p:spPr>
      </p:pic>
      <p:sp>
        <p:nvSpPr>
          <p:cNvPr id="11" name="Text Placeholder 10">
            <a:extLst>
              <a:ext uri="{FF2B5EF4-FFF2-40B4-BE49-F238E27FC236}">
                <a16:creationId xmlns:a16="http://schemas.microsoft.com/office/drawing/2014/main" id="{43B00A8F-96D7-4A1D-B0E6-359B986F1931}"/>
              </a:ext>
            </a:extLst>
          </p:cNvPr>
          <p:cNvSpPr>
            <a:spLocks noGrp="1"/>
          </p:cNvSpPr>
          <p:nvPr>
            <p:ph type="body" sz="quarter" idx="12"/>
          </p:nvPr>
        </p:nvSpPr>
        <p:spPr>
          <a:xfrm rot="16200000">
            <a:off x="4780244" y="4062885"/>
            <a:ext cx="3707552" cy="262425"/>
          </a:xfrm>
        </p:spPr>
        <p:txBody>
          <a:bodyPr/>
          <a:lstStyle/>
          <a:p>
            <a:r>
              <a:rPr lang="en-IN" dirty="0"/>
              <a:t>Oracle VirtualBox</a:t>
            </a:r>
          </a:p>
        </p:txBody>
      </p:sp>
      <p:sp>
        <p:nvSpPr>
          <p:cNvPr id="6" name="Text Placeholder 5">
            <a:extLst>
              <a:ext uri="{FF2B5EF4-FFF2-40B4-BE49-F238E27FC236}">
                <a16:creationId xmlns:a16="http://schemas.microsoft.com/office/drawing/2014/main" id="{6D6E8730-7DB5-4F71-A5FB-483F9ECE772D}"/>
              </a:ext>
            </a:extLst>
          </p:cNvPr>
          <p:cNvSpPr>
            <a:spLocks noGrp="1"/>
          </p:cNvSpPr>
          <p:nvPr>
            <p:ph type="body" sz="quarter" idx="11"/>
          </p:nvPr>
        </p:nvSpPr>
        <p:spPr>
          <a:xfrm>
            <a:off x="7427494" y="5181600"/>
            <a:ext cx="4395538" cy="672105"/>
          </a:xfrm>
        </p:spPr>
        <p:txBody>
          <a:bodyPr/>
          <a:lstStyle/>
          <a:p>
            <a:r>
              <a:rPr lang="en-US" b="1" dirty="0"/>
              <a:t>Figure 14-11 </a:t>
            </a:r>
            <a:r>
              <a:rPr lang="en-US" dirty="0"/>
              <a:t>Creating the Metasploitable VM</a:t>
            </a:r>
            <a:endParaRPr lang="en-IN" dirty="0"/>
          </a:p>
        </p:txBody>
      </p:sp>
    </p:spTree>
    <p:extLst>
      <p:ext uri="{BB962C8B-B14F-4D97-AF65-F5344CB8AC3E}">
        <p14:creationId xmlns:p14="http://schemas.microsoft.com/office/powerpoint/2010/main" val="3750149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0233A-258F-40F3-9EAC-85EEA62BDB38}"/>
              </a:ext>
            </a:extLst>
          </p:cNvPr>
          <p:cNvSpPr>
            <a:spLocks noGrp="1"/>
          </p:cNvSpPr>
          <p:nvPr>
            <p:ph type="title"/>
          </p:nvPr>
        </p:nvSpPr>
        <p:spPr/>
        <p:txBody>
          <a:bodyPr wrap="square" anchor="t">
            <a:noAutofit/>
          </a:bodyPr>
          <a:lstStyle/>
          <a:p>
            <a:r>
              <a:rPr lang="en-US" altLang="en-US" sz="3200" dirty="0"/>
              <a:t>Installing and Configuring Metasploitable2 (10 of 11)</a:t>
            </a:r>
            <a:endParaRPr lang="en-IN" sz="3200" dirty="0"/>
          </a:p>
        </p:txBody>
      </p:sp>
      <p:sp>
        <p:nvSpPr>
          <p:cNvPr id="7" name="Text Placeholder 6">
            <a:extLst>
              <a:ext uri="{FF2B5EF4-FFF2-40B4-BE49-F238E27FC236}">
                <a16:creationId xmlns:a16="http://schemas.microsoft.com/office/drawing/2014/main" id="{A3507EBE-749C-4C56-8102-B908C599F62F}"/>
              </a:ext>
            </a:extLst>
          </p:cNvPr>
          <p:cNvSpPr>
            <a:spLocks noGrp="1"/>
          </p:cNvSpPr>
          <p:nvPr>
            <p:ph type="body" sz="quarter" idx="17"/>
          </p:nvPr>
        </p:nvSpPr>
        <p:spPr/>
        <p:txBody>
          <a:bodyPr>
            <a:normAutofit/>
          </a:bodyPr>
          <a:lstStyle/>
          <a:p>
            <a:r>
              <a:rPr lang="en-US" altLang="en-US" dirty="0"/>
              <a:t>In VirtualBox, right-click the </a:t>
            </a:r>
            <a:r>
              <a:rPr lang="en-US" altLang="en-US" b="1" dirty="0"/>
              <a:t>Metasploitable VM</a:t>
            </a:r>
            <a:r>
              <a:rPr lang="en-US" altLang="en-US" dirty="0"/>
              <a:t> in the right pane</a:t>
            </a:r>
          </a:p>
          <a:p>
            <a:pPr lvl="1"/>
            <a:r>
              <a:rPr lang="en-US" altLang="en-US" dirty="0"/>
              <a:t>Click </a:t>
            </a:r>
            <a:r>
              <a:rPr lang="en-US" altLang="en-US" b="1" dirty="0"/>
              <a:t>Start</a:t>
            </a:r>
            <a:r>
              <a:rPr lang="en-US" altLang="en-US" dirty="0"/>
              <a:t> on the shortcut menu</a:t>
            </a:r>
          </a:p>
          <a:p>
            <a:pPr lvl="1"/>
            <a:r>
              <a:rPr lang="en-US" altLang="en-US" dirty="0"/>
              <a:t>Then click </a:t>
            </a:r>
            <a:r>
              <a:rPr lang="en-US" altLang="en-US" b="1" dirty="0"/>
              <a:t>Normal Start </a:t>
            </a:r>
            <a:r>
              <a:rPr lang="en-US" altLang="en-US" dirty="0"/>
              <a:t>to start the Metasploitable VM</a:t>
            </a:r>
          </a:p>
          <a:p>
            <a:r>
              <a:rPr lang="en-US" altLang="en-US" dirty="0"/>
              <a:t>Sign in to the Metasploitable VM using </a:t>
            </a:r>
            <a:r>
              <a:rPr lang="en-US" altLang="en-US" b="1" dirty="0"/>
              <a:t>msfadmin</a:t>
            </a:r>
            <a:r>
              <a:rPr lang="en-US" altLang="en-US" dirty="0"/>
              <a:t> as the username and </a:t>
            </a:r>
            <a:r>
              <a:rPr lang="en-US" altLang="en-US" b="1" dirty="0"/>
              <a:t>msfadmin</a:t>
            </a:r>
            <a:r>
              <a:rPr lang="en-US" altLang="en-US" dirty="0"/>
              <a:t> as the password</a:t>
            </a:r>
          </a:p>
          <a:p>
            <a:r>
              <a:rPr lang="en-US" altLang="en-US" dirty="0"/>
              <a:t>Type </a:t>
            </a:r>
            <a:r>
              <a:rPr lang="en-US" altLang="en-US" b="1" dirty="0"/>
              <a:t>ifconfig</a:t>
            </a:r>
            <a:r>
              <a:rPr lang="en-US" altLang="en-US" dirty="0"/>
              <a:t> and press </a:t>
            </a:r>
            <a:r>
              <a:rPr lang="en-US" altLang="en-US" b="1" dirty="0"/>
              <a:t>Enter</a:t>
            </a:r>
          </a:p>
          <a:p>
            <a:r>
              <a:rPr lang="en-US" altLang="en-US" dirty="0"/>
              <a:t>Note the IP address of the eth0 interface</a:t>
            </a:r>
          </a:p>
        </p:txBody>
      </p:sp>
    </p:spTree>
    <p:extLst>
      <p:ext uri="{BB962C8B-B14F-4D97-AF65-F5344CB8AC3E}">
        <p14:creationId xmlns:p14="http://schemas.microsoft.com/office/powerpoint/2010/main" val="842610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7EDB-595B-48ED-AC74-C7B7E20EE623}"/>
              </a:ext>
            </a:extLst>
          </p:cNvPr>
          <p:cNvSpPr>
            <a:spLocks noGrp="1"/>
          </p:cNvSpPr>
          <p:nvPr>
            <p:ph type="title"/>
          </p:nvPr>
        </p:nvSpPr>
        <p:spPr/>
        <p:txBody>
          <a:bodyPr/>
          <a:lstStyle/>
          <a:p>
            <a:r>
              <a:rPr lang="en-US" altLang="en-US" sz="3200" dirty="0"/>
              <a:t>Installing and Configuring Metasploitable2 (11 of 11) </a:t>
            </a:r>
            <a:endParaRPr lang="en-IN" sz="3200" dirty="0"/>
          </a:p>
        </p:txBody>
      </p:sp>
      <p:pic>
        <p:nvPicPr>
          <p:cNvPr id="5" name="Picture Placeholder 4" descr="The ifconfig command has been executed in the metasploitable terminal and shows the I P addresses of the network interfaces.">
            <a:extLst>
              <a:ext uri="{FF2B5EF4-FFF2-40B4-BE49-F238E27FC236}">
                <a16:creationId xmlns:a16="http://schemas.microsoft.com/office/drawing/2014/main" id="{DDB0F967-D253-45D6-9382-B459367EC6CE}"/>
              </a:ext>
            </a:extLst>
          </p:cNvPr>
          <p:cNvPicPr>
            <a:picLocks noGrp="1" noChangeAspect="1"/>
          </p:cNvPicPr>
          <p:nvPr>
            <p:ph type="pic" sz="quarter" idx="10"/>
          </p:nvPr>
        </p:nvPicPr>
        <p:blipFill rotWithShape="1">
          <a:blip r:embed="rId2"/>
          <a:srcRect l="242" r="-365"/>
          <a:stretch/>
        </p:blipFill>
        <p:spPr>
          <a:xfrm>
            <a:off x="657725" y="1299368"/>
            <a:ext cx="7539790" cy="4259263"/>
          </a:xfrm>
        </p:spPr>
      </p:pic>
      <p:sp>
        <p:nvSpPr>
          <p:cNvPr id="11" name="Text Placeholder 10">
            <a:extLst>
              <a:ext uri="{FF2B5EF4-FFF2-40B4-BE49-F238E27FC236}">
                <a16:creationId xmlns:a16="http://schemas.microsoft.com/office/drawing/2014/main" id="{43B00A8F-96D7-4A1D-B0E6-359B986F1931}"/>
              </a:ext>
            </a:extLst>
          </p:cNvPr>
          <p:cNvSpPr>
            <a:spLocks noGrp="1"/>
          </p:cNvSpPr>
          <p:nvPr>
            <p:ph type="body" sz="quarter" idx="12"/>
          </p:nvPr>
        </p:nvSpPr>
        <p:spPr>
          <a:xfrm rot="16200000">
            <a:off x="6474953" y="3458207"/>
            <a:ext cx="3707552" cy="262425"/>
          </a:xfrm>
        </p:spPr>
        <p:txBody>
          <a:bodyPr/>
          <a:lstStyle/>
          <a:p>
            <a:r>
              <a:rPr lang="en-IN" dirty="0"/>
              <a:t>Rapid7 Metasploitable</a:t>
            </a:r>
          </a:p>
        </p:txBody>
      </p:sp>
      <p:sp>
        <p:nvSpPr>
          <p:cNvPr id="6" name="Text Placeholder 5">
            <a:extLst>
              <a:ext uri="{FF2B5EF4-FFF2-40B4-BE49-F238E27FC236}">
                <a16:creationId xmlns:a16="http://schemas.microsoft.com/office/drawing/2014/main" id="{6D6E8730-7DB5-4F71-A5FB-483F9ECE772D}"/>
              </a:ext>
            </a:extLst>
          </p:cNvPr>
          <p:cNvSpPr>
            <a:spLocks noGrp="1"/>
          </p:cNvSpPr>
          <p:nvPr>
            <p:ph type="body" sz="quarter" idx="11"/>
          </p:nvPr>
        </p:nvSpPr>
        <p:spPr>
          <a:xfrm>
            <a:off x="802104" y="5558631"/>
            <a:ext cx="7251032" cy="598190"/>
          </a:xfrm>
        </p:spPr>
        <p:txBody>
          <a:bodyPr/>
          <a:lstStyle/>
          <a:p>
            <a:r>
              <a:rPr lang="en-US" b="1" dirty="0"/>
              <a:t>Figure 14-13 </a:t>
            </a:r>
            <a:r>
              <a:rPr lang="en-US" dirty="0"/>
              <a:t>Using ifconfig to determine the Metasploitable2 VM IP address</a:t>
            </a:r>
            <a:endParaRPr lang="en-IN" dirty="0"/>
          </a:p>
        </p:txBody>
      </p:sp>
    </p:spTree>
    <p:extLst>
      <p:ext uri="{BB962C8B-B14F-4D97-AF65-F5344CB8AC3E}">
        <p14:creationId xmlns:p14="http://schemas.microsoft.com/office/powerpoint/2010/main" val="2339863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14-1</a:t>
            </a:r>
          </a:p>
        </p:txBody>
      </p:sp>
      <p:sp>
        <p:nvSpPr>
          <p:cNvPr id="2" name="Text Placeholder 1"/>
          <p:cNvSpPr>
            <a:spLocks noGrp="1"/>
          </p:cNvSpPr>
          <p:nvPr>
            <p:ph type="body" sz="quarter" idx="15"/>
          </p:nvPr>
        </p:nvSpPr>
        <p:spPr/>
        <p:txBody>
          <a:bodyPr/>
          <a:lstStyle/>
          <a:p>
            <a:r>
              <a:rPr lang="en-US" sz="2000" dirty="0"/>
              <a:t>VirtualBox cannot run VMs unless the Hyper-V service is disabled. True or false? </a:t>
            </a:r>
          </a:p>
          <a:p>
            <a:endParaRPr lang="en-US" sz="2000" dirty="0"/>
          </a:p>
        </p:txBody>
      </p:sp>
    </p:spTree>
    <p:extLst>
      <p:ext uri="{BB962C8B-B14F-4D97-AF65-F5344CB8AC3E}">
        <p14:creationId xmlns:p14="http://schemas.microsoft.com/office/powerpoint/2010/main" val="1610729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14-1: Answer</a:t>
            </a:r>
          </a:p>
        </p:txBody>
      </p:sp>
      <p:sp>
        <p:nvSpPr>
          <p:cNvPr id="2" name="Text Placeholder 1"/>
          <p:cNvSpPr>
            <a:spLocks noGrp="1"/>
          </p:cNvSpPr>
          <p:nvPr>
            <p:ph type="body" sz="quarter" idx="15"/>
          </p:nvPr>
        </p:nvSpPr>
        <p:spPr/>
        <p:txBody>
          <a:bodyPr/>
          <a:lstStyle/>
          <a:p>
            <a:r>
              <a:rPr lang="en-US" sz="2000" dirty="0"/>
              <a:t>VirtualBox cannot run VMs unless the Hyper-V service is disabled. True or false? </a:t>
            </a:r>
          </a:p>
          <a:p>
            <a:endParaRPr lang="en-US" sz="2000" b="1" dirty="0"/>
          </a:p>
          <a:p>
            <a:pPr>
              <a:spcBef>
                <a:spcPts val="600"/>
              </a:spcBef>
              <a:spcAft>
                <a:spcPts val="600"/>
              </a:spcAft>
            </a:pPr>
            <a:r>
              <a:rPr lang="en-US" sz="2000" b="1" dirty="0"/>
              <a:t>Answer: True. </a:t>
            </a:r>
          </a:p>
          <a:p>
            <a:pPr>
              <a:spcBef>
                <a:spcPts val="600"/>
              </a:spcBef>
              <a:spcAft>
                <a:spcPts val="600"/>
              </a:spcAft>
            </a:pPr>
            <a:r>
              <a:rPr lang="en-US" sz="2000" b="1" dirty="0"/>
              <a:t>If Microsoft Hyper-V virtualization is running on your computer, you must disable the Hyper-V service in order for VirtualBox to work.</a:t>
            </a:r>
          </a:p>
        </p:txBody>
      </p:sp>
    </p:spTree>
    <p:extLst>
      <p:ext uri="{BB962C8B-B14F-4D97-AF65-F5344CB8AC3E}">
        <p14:creationId xmlns:p14="http://schemas.microsoft.com/office/powerpoint/2010/main" val="3663896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14-1</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Which type of VirtualBox network adapter allows connectivity between VMs and the host but excludes other devices on the local network?</a:t>
            </a:r>
          </a:p>
          <a:p>
            <a:endParaRPr lang="en-US" sz="2000" dirty="0"/>
          </a:p>
          <a:p>
            <a:pPr marL="457200" indent="-457200">
              <a:buFont typeface="+mj-lt"/>
              <a:buAutoNum type="alphaLcPeriod"/>
            </a:pPr>
            <a:r>
              <a:rPr lang="en-US" sz="2000" dirty="0"/>
              <a:t>Bridged adapter</a:t>
            </a:r>
          </a:p>
          <a:p>
            <a:pPr marL="457200" indent="-457200">
              <a:buFont typeface="+mj-lt"/>
              <a:buAutoNum type="alphaLcPeriod"/>
            </a:pPr>
            <a:r>
              <a:rPr lang="en-US" sz="2000" dirty="0"/>
              <a:t>Host-only adapter</a:t>
            </a:r>
          </a:p>
          <a:p>
            <a:pPr marL="457200" indent="-457200">
              <a:buFont typeface="+mj-lt"/>
              <a:buAutoNum type="alphaLcPeriod"/>
            </a:pPr>
            <a:r>
              <a:rPr lang="en-US" sz="2000" dirty="0"/>
              <a:t>Network Address Translation (N A T)</a:t>
            </a:r>
          </a:p>
          <a:p>
            <a:pPr marL="457200" indent="-457200">
              <a:buFont typeface="+mj-lt"/>
              <a:buAutoNum type="alphaLcPeriod"/>
            </a:pPr>
            <a:r>
              <a:rPr lang="en-US" sz="2000" dirty="0"/>
              <a:t>Internal network</a:t>
            </a:r>
          </a:p>
        </p:txBody>
      </p:sp>
    </p:spTree>
    <p:extLst>
      <p:ext uri="{BB962C8B-B14F-4D97-AF65-F5344CB8AC3E}">
        <p14:creationId xmlns:p14="http://schemas.microsoft.com/office/powerpoint/2010/main" val="1634089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14-1: Answer</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Which type of VirtualBox network adapter allows connectivity between VMs and the host but excludes other devices on the local network?</a:t>
            </a:r>
          </a:p>
          <a:p>
            <a:pPr>
              <a:spcBef>
                <a:spcPts val="600"/>
              </a:spcBef>
              <a:spcAft>
                <a:spcPts val="600"/>
              </a:spcAft>
            </a:pPr>
            <a:endParaRPr lang="en-US" sz="2000" b="1" dirty="0"/>
          </a:p>
          <a:p>
            <a:pPr>
              <a:spcBef>
                <a:spcPts val="600"/>
              </a:spcBef>
              <a:spcAft>
                <a:spcPts val="600"/>
              </a:spcAft>
            </a:pPr>
            <a:r>
              <a:rPr lang="en-US" sz="2000" b="1" dirty="0"/>
              <a:t>Answer: b. Host-only adapter</a:t>
            </a:r>
          </a:p>
          <a:p>
            <a:pPr>
              <a:spcBef>
                <a:spcPts val="600"/>
              </a:spcBef>
              <a:spcAft>
                <a:spcPts val="600"/>
              </a:spcAft>
            </a:pPr>
            <a:r>
              <a:rPr lang="en-US" sz="2000" b="1" dirty="0"/>
              <a:t>A host-only adapter network allows connectivity between the new virtual machines (VMs) and the host. All other devices that you may be connected to on any real network are isolated when you use the host-only adapter network.</a:t>
            </a:r>
          </a:p>
        </p:txBody>
      </p:sp>
    </p:spTree>
    <p:extLst>
      <p:ext uri="{BB962C8B-B14F-4D97-AF65-F5344CB8AC3E}">
        <p14:creationId xmlns:p14="http://schemas.microsoft.com/office/powerpoint/2010/main" val="3976620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Creating a Penetration Testing Report (1 of 7)</a:t>
            </a:r>
            <a:endParaRPr lang="en-US" dirty="0"/>
          </a:p>
        </p:txBody>
      </p:sp>
      <p:sp>
        <p:nvSpPr>
          <p:cNvPr id="2" name="Text Placeholder 1"/>
          <p:cNvSpPr>
            <a:spLocks noGrp="1"/>
          </p:cNvSpPr>
          <p:nvPr>
            <p:ph type="body" sz="quarter" idx="17"/>
          </p:nvPr>
        </p:nvSpPr>
        <p:spPr/>
        <p:txBody>
          <a:bodyPr>
            <a:noAutofit/>
          </a:bodyPr>
          <a:lstStyle/>
          <a:p>
            <a:r>
              <a:rPr lang="en-US" altLang="en-US" dirty="0"/>
              <a:t>A penetration testing document report should contain the following information:</a:t>
            </a:r>
          </a:p>
          <a:p>
            <a:pPr lvl="1"/>
            <a:r>
              <a:rPr lang="en-US" altLang="en-US" dirty="0"/>
              <a:t>Details of your findings</a:t>
            </a:r>
          </a:p>
          <a:p>
            <a:pPr lvl="1"/>
            <a:r>
              <a:rPr lang="en-US" altLang="en-US" dirty="0"/>
              <a:t>Targets you were penetration testing</a:t>
            </a:r>
          </a:p>
          <a:p>
            <a:pPr lvl="1"/>
            <a:r>
              <a:rPr lang="en-US" altLang="en-US" dirty="0"/>
              <a:t>Tests and tools you used</a:t>
            </a:r>
          </a:p>
          <a:p>
            <a:pPr lvl="1"/>
            <a:r>
              <a:rPr lang="en-US" altLang="en-US" dirty="0"/>
              <a:t>Summaries to provide the reader with overview information</a:t>
            </a:r>
          </a:p>
          <a:p>
            <a:pPr lvl="1"/>
            <a:r>
              <a:rPr lang="en-US" altLang="en-US" dirty="0"/>
              <a:t>Recommendations and conclusions that suggest how to mitigate any security issues found</a:t>
            </a:r>
          </a:p>
          <a:p>
            <a:r>
              <a:rPr lang="en-US" altLang="en-US" dirty="0"/>
              <a:t>You are going to use a specific format to create the report in this module</a:t>
            </a:r>
          </a:p>
          <a:p>
            <a:pPr lvl="1"/>
            <a:r>
              <a:rPr lang="en-US" altLang="en-US" dirty="0"/>
              <a:t>But other formats are available</a:t>
            </a:r>
          </a:p>
        </p:txBody>
      </p:sp>
    </p:spTree>
    <p:extLst>
      <p:ext uri="{BB962C8B-B14F-4D97-AF65-F5344CB8AC3E}">
        <p14:creationId xmlns:p14="http://schemas.microsoft.com/office/powerpoint/2010/main" val="3908484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Creating a Penetration Testing Report (2 of 7)</a:t>
            </a:r>
            <a:endParaRPr lang="en-US" dirty="0"/>
          </a:p>
        </p:txBody>
      </p:sp>
      <p:sp>
        <p:nvSpPr>
          <p:cNvPr id="5" name="Text Placeholder 4">
            <a:extLst>
              <a:ext uri="{FF2B5EF4-FFF2-40B4-BE49-F238E27FC236}">
                <a16:creationId xmlns:a16="http://schemas.microsoft.com/office/drawing/2014/main" id="{2D62451B-8997-49B1-909A-0302F405D506}"/>
              </a:ext>
            </a:extLst>
          </p:cNvPr>
          <p:cNvSpPr>
            <a:spLocks noGrp="1"/>
          </p:cNvSpPr>
          <p:nvPr>
            <p:ph type="body" sz="quarter" idx="17"/>
          </p:nvPr>
        </p:nvSpPr>
        <p:spPr>
          <a:xfrm>
            <a:off x="743576" y="1330473"/>
            <a:ext cx="4421982" cy="757724"/>
          </a:xfrm>
        </p:spPr>
        <p:txBody>
          <a:bodyPr/>
          <a:lstStyle/>
          <a:p>
            <a:r>
              <a:rPr lang="en-US" altLang="en-US" dirty="0"/>
              <a:t>Standard technical report format</a:t>
            </a:r>
            <a:r>
              <a:rPr lang="en-IN" altLang="en-US" dirty="0"/>
              <a:t> is used</a:t>
            </a:r>
            <a:endParaRPr lang="en-US" altLang="en-US" dirty="0"/>
          </a:p>
        </p:txBody>
      </p:sp>
      <p:pic>
        <p:nvPicPr>
          <p:cNvPr id="7" name="Picture Placeholder 6" descr="Image showing the table of contents for a penetration testing report">
            <a:extLst>
              <a:ext uri="{FF2B5EF4-FFF2-40B4-BE49-F238E27FC236}">
                <a16:creationId xmlns:a16="http://schemas.microsoft.com/office/drawing/2014/main" id="{DF22DE51-C58C-4B2E-9E0D-D7AF8720FBA4}"/>
              </a:ext>
            </a:extLst>
          </p:cNvPr>
          <p:cNvPicPr>
            <a:picLocks noGrp="1" noChangeAspect="1"/>
          </p:cNvPicPr>
          <p:nvPr>
            <p:ph type="pic" sz="quarter" idx="10"/>
          </p:nvPr>
        </p:nvPicPr>
        <p:blipFill rotWithShape="1">
          <a:blip r:embed="rId3"/>
          <a:srcRect t="-1617" b="141"/>
          <a:stretch/>
        </p:blipFill>
        <p:spPr>
          <a:xfrm>
            <a:off x="5165558" y="1037230"/>
            <a:ext cx="6640362" cy="5177965"/>
          </a:xfrm>
        </p:spPr>
      </p:pic>
    </p:spTree>
    <p:extLst>
      <p:ext uri="{BB962C8B-B14F-4D97-AF65-F5344CB8AC3E}">
        <p14:creationId xmlns:p14="http://schemas.microsoft.com/office/powerpoint/2010/main" val="931711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Creating a Penetration Testing Report (3 of 7)</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The report can be created using Microsoft Word</a:t>
            </a:r>
          </a:p>
          <a:p>
            <a:r>
              <a:rPr lang="en-US" altLang="en-US" dirty="0"/>
              <a:t>Include the following sections and content in your report:</a:t>
            </a:r>
          </a:p>
          <a:p>
            <a:pPr lvl="1"/>
            <a:r>
              <a:rPr lang="en-US" altLang="en-US" dirty="0"/>
              <a:t>Executive summary</a:t>
            </a:r>
          </a:p>
          <a:p>
            <a:pPr lvl="2"/>
            <a:r>
              <a:rPr lang="en-US" altLang="en-US" dirty="0"/>
              <a:t>Summarize the scope of your testing and your findings, recommendations, and conclusions in a few short paragraphs</a:t>
            </a:r>
          </a:p>
          <a:p>
            <a:pPr lvl="1"/>
            <a:r>
              <a:rPr lang="en-US" altLang="en-US" dirty="0"/>
              <a:t>Introduction</a:t>
            </a:r>
          </a:p>
          <a:p>
            <a:pPr lvl="2"/>
            <a:r>
              <a:rPr lang="en-US" altLang="en-US" dirty="0"/>
              <a:t>Introduce the topic of the report and its purpose</a:t>
            </a:r>
          </a:p>
          <a:p>
            <a:pPr lvl="2"/>
            <a:r>
              <a:rPr lang="en-US" altLang="en-US" dirty="0"/>
              <a:t>Discuss the goal of the penetration testing and how you will achieve and demonstrate the goal</a:t>
            </a:r>
          </a:p>
        </p:txBody>
      </p:sp>
    </p:spTree>
    <p:extLst>
      <p:ext uri="{BB962C8B-B14F-4D97-AF65-F5344CB8AC3E}">
        <p14:creationId xmlns:p14="http://schemas.microsoft.com/office/powerpoint/2010/main" val="3692444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Creating a Penetration Testing Report (4 of 7) </a:t>
            </a:r>
            <a:endParaRPr lang="en-US" dirty="0"/>
          </a:p>
        </p:txBody>
      </p:sp>
      <p:sp>
        <p:nvSpPr>
          <p:cNvPr id="2" name="Text Placeholder 1"/>
          <p:cNvSpPr>
            <a:spLocks noGrp="1"/>
          </p:cNvSpPr>
          <p:nvPr>
            <p:ph type="body" sz="quarter" idx="17"/>
          </p:nvPr>
        </p:nvSpPr>
        <p:spPr/>
        <p:txBody>
          <a:bodyPr>
            <a:noAutofit/>
          </a:bodyPr>
          <a:lstStyle/>
          <a:p>
            <a:r>
              <a:rPr lang="en-US" altLang="en-US" dirty="0"/>
              <a:t>Scope</a:t>
            </a:r>
          </a:p>
          <a:p>
            <a:pPr lvl="1"/>
            <a:r>
              <a:rPr lang="en-US" altLang="en-US" dirty="0"/>
              <a:t>Outline the specific set of information that you are targeting in the scope section</a:t>
            </a:r>
          </a:p>
          <a:p>
            <a:pPr lvl="1"/>
            <a:r>
              <a:rPr lang="en-US" altLang="en-US" dirty="0"/>
              <a:t>For penetration testing, scope details include:</a:t>
            </a:r>
          </a:p>
          <a:p>
            <a:pPr lvl="2"/>
            <a:r>
              <a:rPr lang="en-US" altLang="en-US" dirty="0"/>
              <a:t>The targets you are testing </a:t>
            </a:r>
          </a:p>
          <a:p>
            <a:pPr lvl="2"/>
            <a:r>
              <a:rPr lang="en-US" altLang="en-US" dirty="0"/>
              <a:t>The types of tests you are doing</a:t>
            </a:r>
          </a:p>
          <a:p>
            <a:r>
              <a:rPr lang="en-US" altLang="en-US" dirty="0"/>
              <a:t>Details</a:t>
            </a:r>
          </a:p>
          <a:p>
            <a:pPr lvl="1"/>
            <a:r>
              <a:rPr lang="en-US" altLang="en-US" dirty="0"/>
              <a:t>The section where you communicate all your work, discoveries, steps, and results</a:t>
            </a:r>
          </a:p>
          <a:p>
            <a:pPr lvl="1"/>
            <a:r>
              <a:rPr lang="en-US" altLang="en-US" dirty="0"/>
              <a:t>The convention is to organize and divide the details as follows:</a:t>
            </a:r>
          </a:p>
          <a:p>
            <a:pPr lvl="2"/>
            <a:r>
              <a:rPr lang="en-US" altLang="en-US" dirty="0"/>
              <a:t>4.1. Details Section One</a:t>
            </a:r>
          </a:p>
          <a:p>
            <a:pPr lvl="2"/>
            <a:r>
              <a:rPr lang="en-US" altLang="en-US" dirty="0"/>
              <a:t>4.2. Details Section Two</a:t>
            </a:r>
          </a:p>
          <a:p>
            <a:pPr lvl="2"/>
            <a:r>
              <a:rPr lang="en-US" altLang="en-US" dirty="0"/>
              <a:t>4.2.1. Details Section Two – Subsection One</a:t>
            </a:r>
          </a:p>
        </p:txBody>
      </p:sp>
    </p:spTree>
    <p:extLst>
      <p:ext uri="{BB962C8B-B14F-4D97-AF65-F5344CB8AC3E}">
        <p14:creationId xmlns:p14="http://schemas.microsoft.com/office/powerpoint/2010/main" val="2638376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Creating a Penetration Testing Report (5 of 7)</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Summary</a:t>
            </a:r>
          </a:p>
          <a:p>
            <a:pPr lvl="1"/>
            <a:r>
              <a:rPr lang="en-US" altLang="en-US" dirty="0"/>
              <a:t>Summarize your findings and craft an overall message from the information contained in the details section</a:t>
            </a:r>
          </a:p>
          <a:p>
            <a:pPr lvl="2"/>
            <a:r>
              <a:rPr lang="en-US" altLang="en-US" dirty="0"/>
              <a:t>Note that this is not your conclusion</a:t>
            </a:r>
          </a:p>
          <a:p>
            <a:r>
              <a:rPr lang="en-US" altLang="en-US" dirty="0"/>
              <a:t>Recommendations</a:t>
            </a:r>
          </a:p>
          <a:p>
            <a:pPr lvl="1"/>
            <a:r>
              <a:rPr lang="en-US" altLang="en-US" dirty="0"/>
              <a:t>Based on your original goal, details, findings, and summary, make an organized set of recommendations</a:t>
            </a:r>
          </a:p>
          <a:p>
            <a:pPr lvl="1"/>
            <a:r>
              <a:rPr lang="en-US" altLang="en-US" dirty="0"/>
              <a:t>Should include steps to: </a:t>
            </a:r>
          </a:p>
          <a:p>
            <a:pPr lvl="2"/>
            <a:r>
              <a:rPr lang="en-US" altLang="en-US" dirty="0"/>
              <a:t>Solve problems</a:t>
            </a:r>
          </a:p>
          <a:p>
            <a:pPr lvl="2"/>
            <a:r>
              <a:rPr lang="en-US" altLang="en-US" dirty="0"/>
              <a:t>Simplify procedures</a:t>
            </a:r>
          </a:p>
          <a:p>
            <a:pPr lvl="2"/>
            <a:r>
              <a:rPr lang="en-US" altLang="en-US" dirty="0"/>
              <a:t>Improve security </a:t>
            </a:r>
          </a:p>
          <a:p>
            <a:pPr lvl="1"/>
            <a:r>
              <a:rPr lang="en-US" altLang="en-US" dirty="0"/>
              <a:t>In a penetrating testing report, the recommendations should outline steps to fix any vulnerabilities found during the testing</a:t>
            </a:r>
          </a:p>
        </p:txBody>
      </p:sp>
    </p:spTree>
    <p:extLst>
      <p:ext uri="{BB962C8B-B14F-4D97-AF65-F5344CB8AC3E}">
        <p14:creationId xmlns:p14="http://schemas.microsoft.com/office/powerpoint/2010/main" val="28963111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Creating a Penetration Testing Report (6 of 7)</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Conclusion</a:t>
            </a:r>
          </a:p>
          <a:p>
            <a:pPr lvl="1"/>
            <a:r>
              <a:rPr lang="en-US" altLang="en-US" dirty="0"/>
              <a:t>Write one or two paragraphs that tie together what your goal, details, discoveries, and recommendations have revealed</a:t>
            </a:r>
          </a:p>
          <a:p>
            <a:r>
              <a:rPr lang="en-US" altLang="en-US" dirty="0"/>
              <a:t>Annex A – References</a:t>
            </a:r>
          </a:p>
          <a:p>
            <a:pPr lvl="1"/>
            <a:r>
              <a:rPr lang="en-US" altLang="en-US" dirty="0"/>
              <a:t>Include references to external information sources that you have mentioned in your document, such as websites and books</a:t>
            </a:r>
          </a:p>
          <a:p>
            <a:r>
              <a:rPr lang="en-US" altLang="en-US" dirty="0"/>
              <a:t>Annex B – Acronyms</a:t>
            </a:r>
          </a:p>
          <a:p>
            <a:pPr lvl="1"/>
            <a:r>
              <a:rPr lang="en-US" altLang="en-US" dirty="0"/>
              <a:t>Include a list of acronyms and definitions in a separate section if the report uses many of them</a:t>
            </a:r>
          </a:p>
        </p:txBody>
      </p:sp>
    </p:spTree>
    <p:extLst>
      <p:ext uri="{BB962C8B-B14F-4D97-AF65-F5344CB8AC3E}">
        <p14:creationId xmlns:p14="http://schemas.microsoft.com/office/powerpoint/2010/main" val="2610005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Creating a Penetration Testing Report (7 of 7)</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Annex C – Detailed Results from Tools</a:t>
            </a:r>
          </a:p>
          <a:p>
            <a:pPr lvl="1"/>
            <a:r>
              <a:rPr lang="en-US" altLang="en-US" dirty="0"/>
              <a:t>If you are using tools that gather a lot of data as the basis of your report, you can include that data in a separate section for completeness</a:t>
            </a:r>
          </a:p>
          <a:p>
            <a:pPr lvl="1"/>
            <a:r>
              <a:rPr lang="en-US" altLang="en-US" dirty="0"/>
              <a:t>Allows the reader to check your evidence</a:t>
            </a:r>
          </a:p>
          <a:p>
            <a:r>
              <a:rPr lang="en-US" altLang="en-US" dirty="0"/>
              <a:t>Before starting the penetration testing lab work, create the framework of your penetration report document using the structure outlined in this section</a:t>
            </a:r>
          </a:p>
        </p:txBody>
      </p:sp>
    </p:spTree>
    <p:extLst>
      <p:ext uri="{BB962C8B-B14F-4D97-AF65-F5344CB8AC3E}">
        <p14:creationId xmlns:p14="http://schemas.microsoft.com/office/powerpoint/2010/main" val="19154011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Using the nmap Command</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IN" b="0" i="0" u="none" strike="noStrike" baseline="0" dirty="0">
                <a:latin typeface="CourierStd"/>
              </a:rPr>
              <a:t>nmap</a:t>
            </a:r>
          </a:p>
          <a:p>
            <a:pPr lvl="1"/>
            <a:r>
              <a:rPr lang="en-US" altLang="en-US" dirty="0"/>
              <a:t>Useful command-line tool for discovering computing devices and their open ports on a network</a:t>
            </a:r>
          </a:p>
          <a:p>
            <a:pPr lvl="1"/>
            <a:r>
              <a:rPr lang="en-US" altLang="en-US" dirty="0">
                <a:latin typeface="CourierStd"/>
              </a:rPr>
              <a:t>nmap </a:t>
            </a:r>
            <a:r>
              <a:rPr lang="en-US" altLang="en-US" dirty="0"/>
              <a:t>information can be used to target systems with other scanning tools such as Nessus</a:t>
            </a:r>
          </a:p>
        </p:txBody>
      </p:sp>
    </p:spTree>
    <p:extLst>
      <p:ext uri="{BB962C8B-B14F-4D97-AF65-F5344CB8AC3E}">
        <p14:creationId xmlns:p14="http://schemas.microsoft.com/office/powerpoint/2010/main" val="697726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sz="3200" dirty="0"/>
              <a:t>Using the netcat Command (nc) and HTTP Methods</a:t>
            </a:r>
            <a:endParaRPr lang="en-US" sz="3200"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US" altLang="en-US" dirty="0"/>
              <a:t>Useful command-line tools for extracting information from web servers</a:t>
            </a:r>
          </a:p>
          <a:p>
            <a:r>
              <a:rPr lang="en-IN" b="0" i="0" u="none" strike="noStrike" baseline="0" dirty="0">
                <a:latin typeface="CourierStd"/>
              </a:rPr>
              <a:t>netcat </a:t>
            </a:r>
            <a:r>
              <a:rPr lang="en-IN" b="0" i="0" u="none" strike="noStrike" baseline="0" dirty="0">
                <a:latin typeface="CheltenhamStd-Book"/>
              </a:rPr>
              <a:t>(</a:t>
            </a:r>
            <a:r>
              <a:rPr lang="en-IN" b="0" i="0" u="none" strike="noStrike" baseline="0" dirty="0">
                <a:latin typeface="CourierStd"/>
              </a:rPr>
              <a:t>nc</a:t>
            </a:r>
            <a:r>
              <a:rPr lang="en-IN" b="0" i="0" u="none" strike="noStrike" baseline="0" dirty="0">
                <a:latin typeface="CheltenhamStd-Book"/>
              </a:rPr>
              <a:t>) </a:t>
            </a:r>
            <a:r>
              <a:rPr lang="en-IN" dirty="0"/>
              <a:t>command</a:t>
            </a:r>
          </a:p>
          <a:p>
            <a:pPr lvl="1"/>
            <a:r>
              <a:rPr lang="en-IN" altLang="en-US" dirty="0"/>
              <a:t>Information obtained from the command can reveal vulnerabilities</a:t>
            </a:r>
          </a:p>
          <a:p>
            <a:pPr lvl="2"/>
            <a:r>
              <a:rPr lang="en-IN" altLang="en-US" dirty="0"/>
              <a:t>Can be used to target systems with other scanning tools such as Nessus</a:t>
            </a:r>
          </a:p>
          <a:p>
            <a:pPr lvl="1"/>
            <a:r>
              <a:rPr lang="en-IN" altLang="en-US" dirty="0"/>
              <a:t>Netcat reveals information such as the web server software the target is running</a:t>
            </a:r>
          </a:p>
          <a:p>
            <a:pPr lvl="2"/>
            <a:r>
              <a:rPr lang="en-IN" altLang="en-US" dirty="0"/>
              <a:t>May reveal vulnerabilities</a:t>
            </a:r>
            <a:endParaRPr lang="en-US" altLang="en-US" dirty="0"/>
          </a:p>
        </p:txBody>
      </p:sp>
    </p:spTree>
    <p:extLst>
      <p:ext uri="{BB962C8B-B14F-4D97-AF65-F5344CB8AC3E}">
        <p14:creationId xmlns:p14="http://schemas.microsoft.com/office/powerpoint/2010/main" val="29094135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Using the wget Command</a:t>
            </a:r>
            <a:endParaRPr lang="en-US" dirty="0"/>
          </a:p>
        </p:txBody>
      </p:sp>
      <p:sp>
        <p:nvSpPr>
          <p:cNvPr id="2" name="Text Placeholder 1"/>
          <p:cNvSpPr>
            <a:spLocks noGrp="1"/>
          </p:cNvSpPr>
          <p:nvPr>
            <p:ph type="body" sz="quarter" idx="17"/>
          </p:nvPr>
        </p:nvSpPr>
        <p:spPr>
          <a:xfrm>
            <a:off x="743576" y="1638300"/>
            <a:ext cx="10711543" cy="4394200"/>
          </a:xfrm>
        </p:spPr>
        <p:txBody>
          <a:bodyPr>
            <a:noAutofit/>
          </a:bodyPr>
          <a:lstStyle/>
          <a:p>
            <a:r>
              <a:rPr lang="en-IN" b="0" i="0" u="none" strike="noStrike" baseline="0" dirty="0">
                <a:latin typeface="CourierStd"/>
              </a:rPr>
              <a:t>wget</a:t>
            </a:r>
            <a:r>
              <a:rPr lang="en-US" altLang="en-US" dirty="0"/>
              <a:t> command</a:t>
            </a:r>
          </a:p>
          <a:p>
            <a:pPr lvl="1"/>
            <a:r>
              <a:rPr lang="en-US" altLang="en-US" dirty="0"/>
              <a:t>Useful command-line tool for extracting information from web servers</a:t>
            </a:r>
          </a:p>
          <a:p>
            <a:pPr lvl="1"/>
            <a:r>
              <a:rPr lang="en-US" altLang="en-US" dirty="0"/>
              <a:t>Allows you to download files from a web server</a:t>
            </a:r>
          </a:p>
          <a:p>
            <a:pPr lvl="2"/>
            <a:r>
              <a:rPr lang="en-US" altLang="en-US" dirty="0"/>
              <a:t>You can examine those files to find vulnerabilities to target with other pen-testing tools</a:t>
            </a:r>
          </a:p>
        </p:txBody>
      </p:sp>
    </p:spTree>
    <p:extLst>
      <p:ext uri="{BB962C8B-B14F-4D97-AF65-F5344CB8AC3E}">
        <p14:creationId xmlns:p14="http://schemas.microsoft.com/office/powerpoint/2010/main" val="3304937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9F49D-B5B7-4EF9-9FA8-A2AD1A13D95A}"/>
              </a:ext>
            </a:extLst>
          </p:cNvPr>
          <p:cNvSpPr>
            <a:spLocks noGrp="1"/>
          </p:cNvSpPr>
          <p:nvPr>
            <p:ph type="title"/>
          </p:nvPr>
        </p:nvSpPr>
        <p:spPr>
          <a:xfrm>
            <a:off x="838200" y="365125"/>
            <a:ext cx="10515600" cy="672105"/>
          </a:xfrm>
        </p:spPr>
        <p:txBody>
          <a:bodyPr/>
          <a:lstStyle/>
          <a:p>
            <a:r>
              <a:rPr lang="en-US" altLang="en-US" dirty="0"/>
              <a:t>Using the enum4linux Command</a:t>
            </a:r>
            <a:endParaRPr lang="en-IN" dirty="0"/>
          </a:p>
        </p:txBody>
      </p:sp>
      <p:sp>
        <p:nvSpPr>
          <p:cNvPr id="5" name="Text Placeholder 4">
            <a:extLst>
              <a:ext uri="{FF2B5EF4-FFF2-40B4-BE49-F238E27FC236}">
                <a16:creationId xmlns:a16="http://schemas.microsoft.com/office/drawing/2014/main" id="{DDD4F286-8DF4-49F9-81A5-0E1B45EB6F4A}"/>
              </a:ext>
            </a:extLst>
          </p:cNvPr>
          <p:cNvSpPr>
            <a:spLocks noGrp="1"/>
          </p:cNvSpPr>
          <p:nvPr>
            <p:ph type="body" sz="quarter" idx="17"/>
          </p:nvPr>
        </p:nvSpPr>
        <p:spPr>
          <a:xfrm>
            <a:off x="743576" y="1638300"/>
            <a:ext cx="10711543" cy="4394200"/>
          </a:xfrm>
        </p:spPr>
        <p:txBody>
          <a:bodyPr>
            <a:noAutofit/>
          </a:bodyPr>
          <a:lstStyle/>
          <a:p>
            <a:r>
              <a:rPr lang="en-US" altLang="en-US" dirty="0"/>
              <a:t>Useful command-line tool for enumerating Linux systems</a:t>
            </a:r>
          </a:p>
          <a:p>
            <a:r>
              <a:rPr lang="en-US" altLang="en-US" dirty="0"/>
              <a:t>Information obtained from this command can be used to target systems with other pen-testing tools such as Nessus</a:t>
            </a:r>
          </a:p>
        </p:txBody>
      </p:sp>
    </p:spTree>
    <p:extLst>
      <p:ext uri="{BB962C8B-B14F-4D97-AF65-F5344CB8AC3E}">
        <p14:creationId xmlns:p14="http://schemas.microsoft.com/office/powerpoint/2010/main" val="3338165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9F49D-B5B7-4EF9-9FA8-A2AD1A13D95A}"/>
              </a:ext>
            </a:extLst>
          </p:cNvPr>
          <p:cNvSpPr>
            <a:spLocks noGrp="1"/>
          </p:cNvSpPr>
          <p:nvPr>
            <p:ph type="title"/>
          </p:nvPr>
        </p:nvSpPr>
        <p:spPr>
          <a:xfrm>
            <a:off x="838200" y="365125"/>
            <a:ext cx="10515600" cy="672105"/>
          </a:xfrm>
        </p:spPr>
        <p:txBody>
          <a:bodyPr/>
          <a:lstStyle/>
          <a:p>
            <a:r>
              <a:rPr lang="en-US" altLang="en-US" dirty="0"/>
              <a:t>Using Nessus (1 of 2)</a:t>
            </a:r>
            <a:endParaRPr lang="en-IN" dirty="0"/>
          </a:p>
        </p:txBody>
      </p:sp>
      <p:sp>
        <p:nvSpPr>
          <p:cNvPr id="5" name="Text Placeholder 4">
            <a:extLst>
              <a:ext uri="{FF2B5EF4-FFF2-40B4-BE49-F238E27FC236}">
                <a16:creationId xmlns:a16="http://schemas.microsoft.com/office/drawing/2014/main" id="{DDD4F286-8DF4-49F9-81A5-0E1B45EB6F4A}"/>
              </a:ext>
            </a:extLst>
          </p:cNvPr>
          <p:cNvSpPr>
            <a:spLocks noGrp="1"/>
          </p:cNvSpPr>
          <p:nvPr>
            <p:ph type="body" sz="quarter" idx="17"/>
          </p:nvPr>
        </p:nvSpPr>
        <p:spPr>
          <a:xfrm>
            <a:off x="743576" y="1638300"/>
            <a:ext cx="10711543" cy="4394200"/>
          </a:xfrm>
        </p:spPr>
        <p:txBody>
          <a:bodyPr>
            <a:noAutofit/>
          </a:bodyPr>
          <a:lstStyle/>
          <a:p>
            <a:r>
              <a:rPr lang="en-US" altLang="en-US" dirty="0"/>
              <a:t>Using Nessus Essentials to scan all the virtual machines (VMs) in your pen-testing lab environment</a:t>
            </a:r>
          </a:p>
          <a:p>
            <a:pPr lvl="1"/>
            <a:r>
              <a:rPr lang="en-US" altLang="en-US" dirty="0"/>
              <a:t>Step 1</a:t>
            </a:r>
          </a:p>
          <a:p>
            <a:pPr lvl="2"/>
            <a:r>
              <a:rPr lang="en-US" altLang="en-US" dirty="0"/>
              <a:t>Use Nessus to perform a Host Discovery scan on your host-only adapter network</a:t>
            </a:r>
          </a:p>
          <a:p>
            <a:pPr lvl="3"/>
            <a:r>
              <a:rPr lang="en-US" altLang="en-US" dirty="0"/>
              <a:t>See if it detects all the VMs in your pen-test lab environment</a:t>
            </a:r>
          </a:p>
          <a:p>
            <a:pPr lvl="2"/>
            <a:r>
              <a:rPr lang="en-US" altLang="en-US" dirty="0"/>
              <a:t>Target the host-only adapter network (perhaps 192.168.56.0/24) and not your real network</a:t>
            </a:r>
          </a:p>
          <a:p>
            <a:pPr lvl="1"/>
            <a:r>
              <a:rPr lang="en-US" altLang="en-US" dirty="0"/>
              <a:t>Step 2</a:t>
            </a:r>
          </a:p>
          <a:p>
            <a:pPr lvl="2"/>
            <a:r>
              <a:rPr lang="en-US" altLang="en-US" dirty="0"/>
              <a:t>Scan each target VM individually for vulnerabilities</a:t>
            </a:r>
          </a:p>
          <a:p>
            <a:pPr lvl="2"/>
            <a:r>
              <a:rPr lang="en-US" altLang="en-US" dirty="0"/>
              <a:t>Perform a Basic Network scan and possibly a Web Application Test scan of each VM</a:t>
            </a:r>
          </a:p>
          <a:p>
            <a:pPr lvl="3"/>
            <a:r>
              <a:rPr lang="en-US" altLang="en-US" dirty="0"/>
              <a:t>Will reveal sufficient information for your report</a:t>
            </a:r>
          </a:p>
        </p:txBody>
      </p:sp>
    </p:spTree>
    <p:extLst>
      <p:ext uri="{BB962C8B-B14F-4D97-AF65-F5344CB8AC3E}">
        <p14:creationId xmlns:p14="http://schemas.microsoft.com/office/powerpoint/2010/main" val="1473657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9F49D-B5B7-4EF9-9FA8-A2AD1A13D95A}"/>
              </a:ext>
            </a:extLst>
          </p:cNvPr>
          <p:cNvSpPr>
            <a:spLocks noGrp="1"/>
          </p:cNvSpPr>
          <p:nvPr>
            <p:ph type="title"/>
          </p:nvPr>
        </p:nvSpPr>
        <p:spPr/>
        <p:txBody>
          <a:bodyPr/>
          <a:lstStyle/>
          <a:p>
            <a:r>
              <a:rPr lang="en-US" altLang="en-US" dirty="0"/>
              <a:t>Using Nessus (2 of 2)</a:t>
            </a:r>
            <a:endParaRPr lang="en-IN" dirty="0"/>
          </a:p>
        </p:txBody>
      </p:sp>
      <p:pic>
        <p:nvPicPr>
          <p:cNvPr id="8" name="Picture Placeholder 7" descr="Nessus Vulnerabilities windows showing results for the scan Basic Net Scan Mar 5">
            <a:extLst>
              <a:ext uri="{FF2B5EF4-FFF2-40B4-BE49-F238E27FC236}">
                <a16:creationId xmlns:a16="http://schemas.microsoft.com/office/drawing/2014/main" id="{D020D77D-7DA6-49F4-882C-46C18F9A5BFA}"/>
              </a:ext>
            </a:extLst>
          </p:cNvPr>
          <p:cNvPicPr>
            <a:picLocks noGrp="1" noChangeAspect="1"/>
          </p:cNvPicPr>
          <p:nvPr>
            <p:ph type="pic" sz="quarter" idx="10"/>
          </p:nvPr>
        </p:nvPicPr>
        <p:blipFill rotWithShape="1">
          <a:blip r:embed="rId2"/>
          <a:srcRect l="174" r="-549"/>
          <a:stretch/>
        </p:blipFill>
        <p:spPr>
          <a:xfrm>
            <a:off x="1271336" y="1143958"/>
            <a:ext cx="8498305" cy="4233292"/>
          </a:xfrm>
        </p:spPr>
      </p:pic>
      <p:sp>
        <p:nvSpPr>
          <p:cNvPr id="3" name="Text Placeholder 2">
            <a:extLst>
              <a:ext uri="{FF2B5EF4-FFF2-40B4-BE49-F238E27FC236}">
                <a16:creationId xmlns:a16="http://schemas.microsoft.com/office/drawing/2014/main" id="{86562DC9-6CAF-4F9D-A9A6-12AD0419D352}"/>
              </a:ext>
            </a:extLst>
          </p:cNvPr>
          <p:cNvSpPr>
            <a:spLocks noGrp="1"/>
          </p:cNvSpPr>
          <p:nvPr>
            <p:ph type="body" sz="quarter" idx="11"/>
          </p:nvPr>
        </p:nvSpPr>
        <p:spPr>
          <a:xfrm>
            <a:off x="2794675" y="5483978"/>
            <a:ext cx="6128744" cy="501468"/>
          </a:xfrm>
        </p:spPr>
        <p:txBody>
          <a:bodyPr/>
          <a:lstStyle/>
          <a:p>
            <a:r>
              <a:rPr lang="en-US" b="1" dirty="0"/>
              <a:t>Figure 14-15 </a:t>
            </a:r>
            <a:r>
              <a:rPr lang="en-US" dirty="0"/>
              <a:t>Vulnerability information from a Nessus scan</a:t>
            </a:r>
            <a:endParaRPr lang="en-IN" dirty="0"/>
          </a:p>
        </p:txBody>
      </p:sp>
      <p:sp>
        <p:nvSpPr>
          <p:cNvPr id="6" name="Text Placeholder 5">
            <a:extLst>
              <a:ext uri="{FF2B5EF4-FFF2-40B4-BE49-F238E27FC236}">
                <a16:creationId xmlns:a16="http://schemas.microsoft.com/office/drawing/2014/main" id="{1678EFDB-7B23-4D08-99FF-4D87922EB608}"/>
              </a:ext>
            </a:extLst>
          </p:cNvPr>
          <p:cNvSpPr>
            <a:spLocks noGrp="1"/>
          </p:cNvSpPr>
          <p:nvPr>
            <p:ph type="body" sz="quarter" idx="12"/>
          </p:nvPr>
        </p:nvSpPr>
        <p:spPr>
          <a:xfrm rot="16200000">
            <a:off x="8047078" y="3297787"/>
            <a:ext cx="3707552" cy="262425"/>
          </a:xfrm>
        </p:spPr>
        <p:txBody>
          <a:bodyPr/>
          <a:lstStyle/>
          <a:p>
            <a:r>
              <a:rPr lang="en-IN" dirty="0"/>
              <a:t>Tenable Nessus</a:t>
            </a:r>
          </a:p>
        </p:txBody>
      </p:sp>
    </p:spTree>
    <p:extLst>
      <p:ext uri="{BB962C8B-B14F-4D97-AF65-F5344CB8AC3E}">
        <p14:creationId xmlns:p14="http://schemas.microsoft.com/office/powerpoint/2010/main" val="14030774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9F49D-B5B7-4EF9-9FA8-A2AD1A13D95A}"/>
              </a:ext>
            </a:extLst>
          </p:cNvPr>
          <p:cNvSpPr>
            <a:spLocks noGrp="1"/>
          </p:cNvSpPr>
          <p:nvPr>
            <p:ph type="title"/>
          </p:nvPr>
        </p:nvSpPr>
        <p:spPr/>
        <p:txBody>
          <a:bodyPr/>
          <a:lstStyle/>
          <a:p>
            <a:r>
              <a:rPr lang="en-US" altLang="en-US" dirty="0"/>
              <a:t>Researching Vulnerabilities at the CVE Website</a:t>
            </a:r>
            <a:endParaRPr lang="en-IN" dirty="0"/>
          </a:p>
        </p:txBody>
      </p:sp>
      <p:sp>
        <p:nvSpPr>
          <p:cNvPr id="5" name="Text Placeholder 4">
            <a:extLst>
              <a:ext uri="{FF2B5EF4-FFF2-40B4-BE49-F238E27FC236}">
                <a16:creationId xmlns:a16="http://schemas.microsoft.com/office/drawing/2014/main" id="{DDD4F286-8DF4-49F9-81A5-0E1B45EB6F4A}"/>
              </a:ext>
            </a:extLst>
          </p:cNvPr>
          <p:cNvSpPr>
            <a:spLocks noGrp="1"/>
          </p:cNvSpPr>
          <p:nvPr>
            <p:ph type="body" sz="quarter" idx="17"/>
          </p:nvPr>
        </p:nvSpPr>
        <p:spPr/>
        <p:txBody>
          <a:bodyPr>
            <a:noAutofit/>
          </a:bodyPr>
          <a:lstStyle/>
          <a:p>
            <a:pPr eaLnBrk="1" hangingPunct="1"/>
            <a:r>
              <a:rPr lang="en-US" altLang="en-US" dirty="0">
                <a:hlinkClick r:id="rId2"/>
              </a:rPr>
              <a:t>The CVE website </a:t>
            </a:r>
            <a:r>
              <a:rPr lang="en-US" altLang="en-US" dirty="0"/>
              <a:t>is useful for researching vulnerabilities</a:t>
            </a:r>
          </a:p>
          <a:p>
            <a:pPr eaLnBrk="1" hangingPunct="1"/>
            <a:r>
              <a:rPr lang="en-US" altLang="en-US" dirty="0"/>
              <a:t>Visit the Search CVE List page to search for vulnerabilities by specific CVE number or with keywords</a:t>
            </a:r>
          </a:p>
          <a:p>
            <a:pPr eaLnBrk="1" hangingPunct="1"/>
            <a:r>
              <a:rPr lang="en-US" altLang="en-US" dirty="0"/>
              <a:t>Use the NIST national vulnerability database search feature at its </a:t>
            </a:r>
            <a:r>
              <a:rPr lang="en-US" altLang="en-US" dirty="0">
                <a:hlinkClick r:id="rId3"/>
              </a:rPr>
              <a:t>website </a:t>
            </a:r>
            <a:r>
              <a:rPr lang="en-US" altLang="en-US" dirty="0"/>
              <a:t>to conduct vulnerability research</a:t>
            </a:r>
          </a:p>
          <a:p>
            <a:pPr lvl="1"/>
            <a:r>
              <a:rPr lang="en-US" altLang="en-US" dirty="0"/>
              <a:t>Nessus vulnerability report information often contains links to CVE information found in the NIST national vulnerability database</a:t>
            </a:r>
          </a:p>
        </p:txBody>
      </p:sp>
    </p:spTree>
    <p:extLst>
      <p:ext uri="{BB962C8B-B14F-4D97-AF65-F5344CB8AC3E}">
        <p14:creationId xmlns:p14="http://schemas.microsoft.com/office/powerpoint/2010/main" val="17837787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dirty="0"/>
              <a:t>Completing the Report</a:t>
            </a:r>
            <a:endParaRPr lang="en-IN"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noAutofit/>
          </a:bodyPr>
          <a:lstStyle/>
          <a:p>
            <a:r>
              <a:rPr lang="en-US" altLang="en-US" dirty="0"/>
              <a:t>Once the penetration tests are performed, the report needs to be finalized</a:t>
            </a:r>
          </a:p>
          <a:p>
            <a:pPr lvl="1"/>
            <a:r>
              <a:rPr lang="en-US" altLang="en-US" dirty="0"/>
              <a:t>Gather all the information you have collected</a:t>
            </a:r>
          </a:p>
          <a:p>
            <a:pPr lvl="1"/>
            <a:r>
              <a:rPr lang="en-US" altLang="en-US" dirty="0"/>
              <a:t>Add the key findings to the details section of the report</a:t>
            </a:r>
          </a:p>
          <a:p>
            <a:pPr lvl="1"/>
            <a:r>
              <a:rPr lang="en-US" altLang="en-US" dirty="0"/>
              <a:t>Follow the guidelines given in the “Creating a Penetration Testing Report” section of the module</a:t>
            </a:r>
          </a:p>
        </p:txBody>
      </p:sp>
    </p:spTree>
    <p:extLst>
      <p:ext uri="{BB962C8B-B14F-4D97-AF65-F5344CB8AC3E}">
        <p14:creationId xmlns:p14="http://schemas.microsoft.com/office/powerpoint/2010/main" val="3831289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14-2</a:t>
            </a:r>
          </a:p>
        </p:txBody>
      </p:sp>
      <p:sp>
        <p:nvSpPr>
          <p:cNvPr id="2" name="Text Placeholder 1"/>
          <p:cNvSpPr>
            <a:spLocks noGrp="1"/>
          </p:cNvSpPr>
          <p:nvPr>
            <p:ph type="body" sz="quarter" idx="15"/>
          </p:nvPr>
        </p:nvSpPr>
        <p:spPr/>
        <p:txBody>
          <a:bodyPr/>
          <a:lstStyle/>
          <a:p>
            <a:r>
              <a:rPr lang="en-US" sz="2000" dirty="0"/>
              <a:t>Which of the following tools can be used to discover open ports? (Choose two correct answers.)</a:t>
            </a:r>
          </a:p>
          <a:p>
            <a:endParaRPr lang="en-US" sz="2000" dirty="0"/>
          </a:p>
          <a:p>
            <a:pPr marL="457200" indent="-457200">
              <a:buFont typeface="+mj-lt"/>
              <a:buAutoNum type="alphaLcPeriod"/>
            </a:pPr>
            <a:r>
              <a:rPr lang="en-US" sz="2000" dirty="0"/>
              <a:t>nc</a:t>
            </a:r>
          </a:p>
          <a:p>
            <a:pPr marL="457200" indent="-457200">
              <a:buFont typeface="+mj-lt"/>
              <a:buAutoNum type="alphaLcPeriod"/>
            </a:pPr>
            <a:r>
              <a:rPr lang="en-US" sz="2000" dirty="0"/>
              <a:t>nmap</a:t>
            </a:r>
          </a:p>
          <a:p>
            <a:pPr marL="457200" indent="-457200">
              <a:buFont typeface="+mj-lt"/>
              <a:buAutoNum type="alphaLcPeriod"/>
            </a:pPr>
            <a:r>
              <a:rPr lang="en-US" sz="2000" dirty="0"/>
              <a:t>Nessus</a:t>
            </a:r>
          </a:p>
          <a:p>
            <a:pPr marL="457200" indent="-457200">
              <a:buFont typeface="+mj-lt"/>
              <a:buAutoNum type="alphaLcPeriod"/>
            </a:pPr>
            <a:r>
              <a:rPr lang="en-US" sz="2000" dirty="0"/>
              <a:t>Wget</a:t>
            </a:r>
          </a:p>
          <a:p>
            <a:pPr marL="457200" indent="-457200">
              <a:buFont typeface="+mj-lt"/>
              <a:buAutoNum type="alphaLcPeriod"/>
            </a:pPr>
            <a:endParaRPr lang="en-US" sz="2000" dirty="0"/>
          </a:p>
        </p:txBody>
      </p:sp>
    </p:spTree>
    <p:extLst>
      <p:ext uri="{BB962C8B-B14F-4D97-AF65-F5344CB8AC3E}">
        <p14:creationId xmlns:p14="http://schemas.microsoft.com/office/powerpoint/2010/main" val="992311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14-2: Answer</a:t>
            </a:r>
          </a:p>
        </p:txBody>
      </p:sp>
      <p:sp>
        <p:nvSpPr>
          <p:cNvPr id="2" name="Text Placeholder 1"/>
          <p:cNvSpPr>
            <a:spLocks noGrp="1"/>
          </p:cNvSpPr>
          <p:nvPr>
            <p:ph type="body" sz="quarter" idx="15"/>
          </p:nvPr>
        </p:nvSpPr>
        <p:spPr/>
        <p:txBody>
          <a:bodyPr/>
          <a:lstStyle/>
          <a:p>
            <a:r>
              <a:rPr lang="en-US" sz="2000" dirty="0"/>
              <a:t>Which of the following tools can be used to discover open ports?</a:t>
            </a:r>
          </a:p>
          <a:p>
            <a:endParaRPr lang="en-US" sz="2000" b="1" dirty="0"/>
          </a:p>
          <a:p>
            <a:pPr>
              <a:spcBef>
                <a:spcPts val="600"/>
              </a:spcBef>
              <a:spcAft>
                <a:spcPts val="600"/>
              </a:spcAft>
            </a:pPr>
            <a:r>
              <a:rPr lang="en-US" sz="2000" b="1" dirty="0"/>
              <a:t>Answer: b and c. nmap and Nessus</a:t>
            </a:r>
          </a:p>
          <a:p>
            <a:pPr>
              <a:spcBef>
                <a:spcPts val="600"/>
              </a:spcBef>
              <a:spcAft>
                <a:spcPts val="600"/>
              </a:spcAft>
            </a:pPr>
            <a:r>
              <a:rPr lang="en-US" sz="2000" b="1" dirty="0"/>
              <a:t>nmap and Nessus are two tools used to discover open ports. nmap is a useful command-line tool for discovering computing devices and their open ports on a network. You can use the nmap information to target systems with other scanning tools such as Nessus.</a:t>
            </a:r>
          </a:p>
        </p:txBody>
      </p:sp>
    </p:spTree>
    <p:extLst>
      <p:ext uri="{BB962C8B-B14F-4D97-AF65-F5344CB8AC3E}">
        <p14:creationId xmlns:p14="http://schemas.microsoft.com/office/powerpoint/2010/main" val="40170213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14-1</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Discuss the main points that need to be included in the details section when you are creating a penetration testing report. Compare your answers with that of your classmates.</a:t>
            </a:r>
          </a:p>
          <a:p>
            <a:r>
              <a:rPr lang="en-US" sz="2000" dirty="0"/>
              <a:t> </a:t>
            </a:r>
          </a:p>
        </p:txBody>
      </p:sp>
    </p:spTree>
    <p:extLst>
      <p:ext uri="{BB962C8B-B14F-4D97-AF65-F5344CB8AC3E}">
        <p14:creationId xmlns:p14="http://schemas.microsoft.com/office/powerpoint/2010/main" val="4717102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14-1: Answer</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Discuss the main points that need to be included in the details section when you are creating a penetration testing report.</a:t>
            </a:r>
          </a:p>
          <a:p>
            <a:endParaRPr lang="en-US" sz="2000" b="1" dirty="0"/>
          </a:p>
          <a:p>
            <a:pPr>
              <a:spcBef>
                <a:spcPts val="600"/>
              </a:spcBef>
              <a:spcAft>
                <a:spcPts val="600"/>
              </a:spcAft>
            </a:pPr>
            <a:r>
              <a:rPr lang="en-US" sz="2000" b="1" dirty="0"/>
              <a:t>Answer: 4.1 Details Section One, 4.2. Details Section Two, and 4.2.1. Details Section Two – Subsection One</a:t>
            </a:r>
          </a:p>
          <a:p>
            <a:pPr>
              <a:spcBef>
                <a:spcPts val="600"/>
              </a:spcBef>
              <a:spcAft>
                <a:spcPts val="600"/>
              </a:spcAft>
            </a:pPr>
            <a:r>
              <a:rPr lang="en-US" sz="2000" b="1" dirty="0"/>
              <a:t>Explanation: Each details section should summarize results from the tool you used to gather the information. If a single activity impacts many systems, such as an Nmap scan of an entire network, you can capture all those details in one details section and then repeat the results for a specific target in the subsection for that target. Many tools provide summary reports and tables of findings. Extract this information and include it in the appropriate details section. Complete listings of all the information found could later be included in an addendum or provided as a supporting file on storage media.</a:t>
            </a:r>
          </a:p>
        </p:txBody>
      </p:sp>
    </p:spTree>
    <p:extLst>
      <p:ext uri="{BB962C8B-B14F-4D97-AF65-F5344CB8AC3E}">
        <p14:creationId xmlns:p14="http://schemas.microsoft.com/office/powerpoint/2010/main" val="2824604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1AD0F13-2FAF-4F1D-A722-A5FDCF9DAF4D}"/>
              </a:ext>
            </a:extLst>
          </p:cNvPr>
          <p:cNvSpPr>
            <a:spLocks noGrp="1"/>
          </p:cNvSpPr>
          <p:nvPr>
            <p:ph type="title"/>
          </p:nvPr>
        </p:nvSpPr>
        <p:spPr/>
        <p:txBody>
          <a:bodyPr/>
          <a:lstStyle/>
          <a:p>
            <a:r>
              <a:rPr lang="en-US" altLang="en-US" dirty="0"/>
              <a:t>Hands-On Ethically Hacking Revisited (1 of 2)</a:t>
            </a:r>
            <a:endParaRPr lang="en-IN" dirty="0"/>
          </a:p>
        </p:txBody>
      </p:sp>
      <p:sp>
        <p:nvSpPr>
          <p:cNvPr id="7" name="Text Placeholder 6">
            <a:extLst>
              <a:ext uri="{FF2B5EF4-FFF2-40B4-BE49-F238E27FC236}">
                <a16:creationId xmlns:a16="http://schemas.microsoft.com/office/drawing/2014/main" id="{045CD120-AFFC-4BEA-A617-47DCF0109B5C}"/>
              </a:ext>
            </a:extLst>
          </p:cNvPr>
          <p:cNvSpPr>
            <a:spLocks noGrp="1"/>
          </p:cNvSpPr>
          <p:nvPr>
            <p:ph type="body" sz="quarter" idx="17"/>
          </p:nvPr>
        </p:nvSpPr>
        <p:spPr/>
        <p:txBody>
          <a:bodyPr/>
          <a:lstStyle/>
          <a:p>
            <a:r>
              <a:rPr lang="en-US" altLang="en-US" dirty="0"/>
              <a:t>The activities in this module use only a few of the tools and methods previously discussed in this course</a:t>
            </a:r>
          </a:p>
          <a:p>
            <a:r>
              <a:rPr lang="en-US" altLang="en-US" dirty="0"/>
              <a:t>Experiment with some of the other tools and methodologies since you already have a penetration testing lab environment</a:t>
            </a:r>
          </a:p>
          <a:p>
            <a:pPr lvl="1"/>
            <a:r>
              <a:rPr lang="en-US" altLang="en-US" dirty="0"/>
              <a:t>See what they reveal about your lab targets</a:t>
            </a:r>
          </a:p>
          <a:p>
            <a:r>
              <a:rPr lang="en-US" altLang="en-US" dirty="0"/>
              <a:t>You can go back to previous modules</a:t>
            </a:r>
          </a:p>
          <a:p>
            <a:pPr lvl="1"/>
            <a:r>
              <a:rPr lang="en-US" altLang="en-US" dirty="0"/>
              <a:t>Try the tools and methods described in those modules on your penetration testing lab environment</a:t>
            </a:r>
          </a:p>
        </p:txBody>
      </p:sp>
    </p:spTree>
    <p:extLst>
      <p:ext uri="{BB962C8B-B14F-4D97-AF65-F5344CB8AC3E}">
        <p14:creationId xmlns:p14="http://schemas.microsoft.com/office/powerpoint/2010/main" val="288985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a:xfrm>
            <a:off x="838200" y="365125"/>
            <a:ext cx="10515600" cy="672105"/>
          </a:xfrm>
        </p:spPr>
        <p:txBody>
          <a:bodyPr/>
          <a:lstStyle/>
          <a:p>
            <a:r>
              <a:rPr lang="en-US" altLang="en-US" dirty="0"/>
              <a:t>Hands-On Ethically Hacking Revisited (2 of 2)</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a:xfrm>
            <a:off x="743576" y="1638300"/>
            <a:ext cx="10711543" cy="4394200"/>
          </a:xfrm>
        </p:spPr>
        <p:txBody>
          <a:bodyPr/>
          <a:lstStyle/>
          <a:p>
            <a:r>
              <a:rPr lang="en-US" altLang="en-US" dirty="0"/>
              <a:t>You have reached the end of this course</a:t>
            </a:r>
          </a:p>
          <a:p>
            <a:pPr lvl="1"/>
            <a:r>
              <a:rPr lang="en-US" altLang="en-US" dirty="0"/>
              <a:t>Continue to research the topic of hands-on ethical hacking</a:t>
            </a:r>
          </a:p>
          <a:p>
            <a:pPr lvl="1"/>
            <a:r>
              <a:rPr lang="en-US" altLang="en-US" dirty="0"/>
              <a:t>Gather more intelligence on the matter from different viewpoints</a:t>
            </a:r>
          </a:p>
          <a:p>
            <a:pPr lvl="1"/>
            <a:r>
              <a:rPr lang="en-US" altLang="en-US" dirty="0"/>
              <a:t>Search the Internet for various examples of hacking techniques discussed in this course</a:t>
            </a:r>
          </a:p>
          <a:p>
            <a:pPr lvl="2"/>
            <a:r>
              <a:rPr lang="en-US" altLang="en-US" dirty="0"/>
              <a:t>Proceed with caution and avoid downloading any unknown tools or executables</a:t>
            </a:r>
          </a:p>
        </p:txBody>
      </p:sp>
    </p:spTree>
    <p:extLst>
      <p:ext uri="{BB962C8B-B14F-4D97-AF65-F5344CB8AC3E}">
        <p14:creationId xmlns:p14="http://schemas.microsoft.com/office/powerpoint/2010/main" val="2532773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14-2</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What color hat should you wear when exercising your hands-on ethical hacking abilities?</a:t>
            </a:r>
          </a:p>
          <a:p>
            <a:endParaRPr lang="en-US" sz="2000" dirty="0"/>
          </a:p>
          <a:p>
            <a:pPr marL="457200" indent="-457200">
              <a:buFont typeface="+mj-lt"/>
              <a:buAutoNum type="alphaLcPeriod"/>
            </a:pPr>
            <a:r>
              <a:rPr lang="en-US" sz="2000" dirty="0"/>
              <a:t>black</a:t>
            </a:r>
          </a:p>
          <a:p>
            <a:pPr marL="457200" indent="-457200">
              <a:buFont typeface="+mj-lt"/>
              <a:buAutoNum type="alphaLcPeriod"/>
            </a:pPr>
            <a:r>
              <a:rPr lang="en-US" sz="2000" dirty="0"/>
              <a:t>white</a:t>
            </a:r>
          </a:p>
          <a:p>
            <a:pPr marL="457200" indent="-457200">
              <a:buFont typeface="+mj-lt"/>
              <a:buAutoNum type="alphaLcPeriod"/>
            </a:pPr>
            <a:r>
              <a:rPr lang="en-US" sz="2000" dirty="0"/>
              <a:t>gray</a:t>
            </a:r>
          </a:p>
          <a:p>
            <a:pPr marL="457200" indent="-457200">
              <a:buFont typeface="+mj-lt"/>
              <a:buAutoNum type="alphaLcPeriod"/>
            </a:pPr>
            <a:r>
              <a:rPr lang="en-US" sz="2000" dirty="0"/>
              <a:t>multicolored</a:t>
            </a:r>
          </a:p>
        </p:txBody>
      </p:sp>
    </p:spTree>
    <p:extLst>
      <p:ext uri="{BB962C8B-B14F-4D97-AF65-F5344CB8AC3E}">
        <p14:creationId xmlns:p14="http://schemas.microsoft.com/office/powerpoint/2010/main" val="29506379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14-2: Answer</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What color hat should you wear when exercising your hands-on ethical hacking abilities?</a:t>
            </a:r>
          </a:p>
          <a:p>
            <a:pPr>
              <a:spcBef>
                <a:spcPts val="600"/>
              </a:spcBef>
              <a:spcAft>
                <a:spcPts val="600"/>
              </a:spcAft>
            </a:pPr>
            <a:endParaRPr lang="en-US" sz="2000" b="1" dirty="0"/>
          </a:p>
          <a:p>
            <a:pPr>
              <a:spcBef>
                <a:spcPts val="600"/>
              </a:spcBef>
              <a:spcAft>
                <a:spcPts val="600"/>
              </a:spcAft>
            </a:pPr>
            <a:r>
              <a:rPr lang="en-US" sz="2000" b="1" dirty="0"/>
              <a:t>Answer: b. white</a:t>
            </a:r>
          </a:p>
          <a:p>
            <a:pPr>
              <a:spcBef>
                <a:spcPts val="600"/>
              </a:spcBef>
              <a:spcAft>
                <a:spcPts val="600"/>
              </a:spcAft>
            </a:pPr>
            <a:r>
              <a:rPr lang="en-US" sz="2000" b="1" dirty="0"/>
              <a:t>You should always have your white hat on when exercising your newly acquired hands-on ethical hacking abilities.</a:t>
            </a:r>
          </a:p>
        </p:txBody>
      </p:sp>
    </p:spTree>
    <p:extLst>
      <p:ext uri="{BB962C8B-B14F-4D97-AF65-F5344CB8AC3E}">
        <p14:creationId xmlns:p14="http://schemas.microsoft.com/office/powerpoint/2010/main" val="20472636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Self-Assessment</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Recall the items appearing in the table of contents in a penetration testing report.</a:t>
            </a:r>
          </a:p>
          <a:p>
            <a:endParaRPr lang="en-US" sz="2000" dirty="0"/>
          </a:p>
          <a:p>
            <a:r>
              <a:rPr lang="en-US" sz="2000" dirty="0"/>
              <a:t>List the number of virtual machines (VMs) running inside of Oracle VirtualBox.</a:t>
            </a:r>
          </a:p>
        </p:txBody>
      </p:sp>
    </p:spTree>
    <p:extLst>
      <p:ext uri="{BB962C8B-B14F-4D97-AF65-F5344CB8AC3E}">
        <p14:creationId xmlns:p14="http://schemas.microsoft.com/office/powerpoint/2010/main" val="422136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42AD-DDF0-41F9-8D3B-F503518D0C04}"/>
              </a:ext>
            </a:extLst>
          </p:cNvPr>
          <p:cNvSpPr>
            <a:spLocks noGrp="1"/>
          </p:cNvSpPr>
          <p:nvPr>
            <p:ph type="title"/>
          </p:nvPr>
        </p:nvSpPr>
        <p:spPr/>
        <p:txBody>
          <a:bodyPr/>
          <a:lstStyle/>
          <a:p>
            <a:r>
              <a:rPr lang="en-US" altLang="en-US" dirty="0"/>
              <a:t>Summary</a:t>
            </a:r>
            <a:endParaRPr lang="en-IN" dirty="0"/>
          </a:p>
        </p:txBody>
      </p:sp>
      <p:sp>
        <p:nvSpPr>
          <p:cNvPr id="6" name="Text Placeholder 5">
            <a:extLst>
              <a:ext uri="{FF2B5EF4-FFF2-40B4-BE49-F238E27FC236}">
                <a16:creationId xmlns:a16="http://schemas.microsoft.com/office/drawing/2014/main" id="{E56306B4-6735-4A22-8850-DE8193C7B207}"/>
              </a:ext>
            </a:extLst>
          </p:cNvPr>
          <p:cNvSpPr>
            <a:spLocks noGrp="1"/>
          </p:cNvSpPr>
          <p:nvPr>
            <p:ph type="body" sz="quarter" idx="17"/>
          </p:nvPr>
        </p:nvSpPr>
        <p:spPr/>
        <p:txBody>
          <a:bodyPr/>
          <a:lstStyle/>
          <a:p>
            <a:r>
              <a:rPr lang="en-US" altLang="en-US" dirty="0"/>
              <a:t>Now that the lesson has ended, you should be able to:</a:t>
            </a:r>
          </a:p>
          <a:p>
            <a:pPr lvl="1"/>
            <a:r>
              <a:rPr lang="en-US" altLang="en-US" dirty="0"/>
              <a:t>Set up a penetration testing lab of virtual machines for use in penetration testing activities and practice</a:t>
            </a:r>
          </a:p>
          <a:p>
            <a:pPr lvl="1"/>
            <a:r>
              <a:rPr lang="en-US" altLang="en-US" dirty="0"/>
              <a:t>Perform penetration testing and vulnerability analysis using tools previously discussed in this course</a:t>
            </a:r>
          </a:p>
          <a:p>
            <a:pPr lvl="1"/>
            <a:r>
              <a:rPr lang="en-US" altLang="en-US" dirty="0"/>
              <a:t>Create a penetration testing report document to capture and communicate information regarding the vulnerabilities discovered during your penetration testing</a:t>
            </a:r>
          </a:p>
        </p:txBody>
      </p:sp>
    </p:spTree>
    <p:extLst>
      <p:ext uri="{BB962C8B-B14F-4D97-AF65-F5344CB8AC3E}">
        <p14:creationId xmlns:p14="http://schemas.microsoft.com/office/powerpoint/2010/main" val="741750693"/>
      </p:ext>
    </p:extLst>
  </p:cSld>
  <p:clrMapOvr>
    <a:masterClrMapping/>
  </p:clrMapOvr>
</p:sld>
</file>

<file path=ppt/theme/theme1.xml><?xml version="1.0" encoding="utf-8"?>
<a:theme xmlns:a="http://schemas.openxmlformats.org/drawingml/2006/main" name="Office Theme">
  <a:themeElements>
    <a:clrScheme name="Custom 33">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4A78"/>
      </a:hlink>
      <a:folHlink>
        <a:srgbClr val="171616"/>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5b47f0fb-e24d-44b9-89a4-ff46b5ce035f"/>
    <ds:schemaRef ds:uri="http://schemas.microsoft.com/office/infopath/2007/PartnerControls"/>
    <ds:schemaRef ds:uri="dbac95d4-689a-4a2b-9845-ea50641fb23b"/>
    <ds:schemaRef ds:uri="http://www.w3.org/XML/1998/namespace"/>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18724</TotalTime>
  <Words>3137</Words>
  <Application>Microsoft Office PowerPoint</Application>
  <PresentationFormat>Widescreen</PresentationFormat>
  <Paragraphs>327</Paragraphs>
  <Slides>52</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Arial</vt:lpstr>
      <vt:lpstr>Calibri</vt:lpstr>
      <vt:lpstr>CheltenhamStd-Book</vt:lpstr>
      <vt:lpstr>Courier New</vt:lpstr>
      <vt:lpstr>CourierStd</vt:lpstr>
      <vt:lpstr>Helvetica</vt:lpstr>
      <vt:lpstr>Open Sans</vt:lpstr>
      <vt:lpstr>Summer Font</vt:lpstr>
      <vt:lpstr>Office Theme</vt:lpstr>
      <vt:lpstr>Hands-On Ethical Hacking and Network Defense, Edition 4</vt:lpstr>
      <vt:lpstr>Module Objectives</vt:lpstr>
      <vt:lpstr>Setting Up the Penetration Testing Lab</vt:lpstr>
      <vt:lpstr>Configuring VirtualBox (1 of 3)</vt:lpstr>
      <vt:lpstr>Configuring VirtualBox (2 of 3) </vt:lpstr>
      <vt:lpstr>Configuring VirtualBox (3 of 3)</vt:lpstr>
      <vt:lpstr>Configuring Axigen</vt:lpstr>
      <vt:lpstr>Installing and Configuring Kali Linux 2021 O V A (1 of 5)</vt:lpstr>
      <vt:lpstr>Installing and Configuring Kali Linux 2021 O V A (2 of 5)</vt:lpstr>
      <vt:lpstr>Installing and Configuring Kali Linux 2021 O V A (3 of 5)</vt:lpstr>
      <vt:lpstr>Installing and Configuring Kali Linux 2021 O V A (4 of 5)</vt:lpstr>
      <vt:lpstr>Installing and Configuring Kali Linux 2021 O V A (5 of 5)</vt:lpstr>
      <vt:lpstr>Installing and Configuring Metasploitable2 (1 of 11) </vt:lpstr>
      <vt:lpstr>Installing and Configuring Metasploitable2 (2 of 11)</vt:lpstr>
      <vt:lpstr>Installing and Configuring Metasploitable2 (3 of 11)</vt:lpstr>
      <vt:lpstr>Installing and Configuring Metasploitable2 (4 of 11) </vt:lpstr>
      <vt:lpstr>Installing and Configuring Metasploitable2 (5 of 11)</vt:lpstr>
      <vt:lpstr>Installing and Configuring Metasploitable2 (6 of 11)</vt:lpstr>
      <vt:lpstr>Installing and Configuring Metasploitable2 (7 of 11)</vt:lpstr>
      <vt:lpstr>Installing and Configuring Metasploitable2 (8 of 11) </vt:lpstr>
      <vt:lpstr>Installing and Configuring Metasploitable2 (9 of 11)</vt:lpstr>
      <vt:lpstr>Installing and Configuring Metasploitable2 (10 of 11)</vt:lpstr>
      <vt:lpstr>Installing and Configuring Metasploitable2 (11 of 11) </vt:lpstr>
      <vt:lpstr>Knowledge Check Activity 14-1</vt:lpstr>
      <vt:lpstr>Knowledge Check Activity 14-1: Answer</vt:lpstr>
      <vt:lpstr>Polling Activity 14-1</vt:lpstr>
      <vt:lpstr>Polling Activity 14-1: Answer</vt:lpstr>
      <vt:lpstr>Creating a Penetration Testing Report (1 of 7)</vt:lpstr>
      <vt:lpstr>Creating a Penetration Testing Report (2 of 7)</vt:lpstr>
      <vt:lpstr>Creating a Penetration Testing Report (3 of 7)</vt:lpstr>
      <vt:lpstr>Creating a Penetration Testing Report (4 of 7) </vt:lpstr>
      <vt:lpstr>Creating a Penetration Testing Report (5 of 7)</vt:lpstr>
      <vt:lpstr>Creating a Penetration Testing Report (6 of 7)</vt:lpstr>
      <vt:lpstr>Creating a Penetration Testing Report (7 of 7)</vt:lpstr>
      <vt:lpstr>Using the nmap Command</vt:lpstr>
      <vt:lpstr>Using the netcat Command (nc) and HTTP Methods</vt:lpstr>
      <vt:lpstr>Using the wget Command</vt:lpstr>
      <vt:lpstr>Using the enum4linux Command</vt:lpstr>
      <vt:lpstr>Using Nessus (1 of 2)</vt:lpstr>
      <vt:lpstr>Using Nessus (2 of 2)</vt:lpstr>
      <vt:lpstr>Researching Vulnerabilities at the CVE Website</vt:lpstr>
      <vt:lpstr>Completing the Report</vt:lpstr>
      <vt:lpstr>Knowledge Check Activity 14-2</vt:lpstr>
      <vt:lpstr>Knowledge Check Activity 14-2: Answer</vt:lpstr>
      <vt:lpstr>Discussion Activity 14-1</vt:lpstr>
      <vt:lpstr>Discussion Activity 14-1: Answer</vt:lpstr>
      <vt:lpstr>Hands-On Ethically Hacking Revisited (1 of 2)</vt:lpstr>
      <vt:lpstr>Hands-On Ethically Hacking Revisited (2 of 2)</vt:lpstr>
      <vt:lpstr>Polling Activity 14-2</vt:lpstr>
      <vt:lpstr>Polling Activity 14-2: Answer</vt:lpstr>
      <vt:lpstr>Self-Assessment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ansrsource_17</cp:lastModifiedBy>
  <cp:revision>554</cp:revision>
  <dcterms:created xsi:type="dcterms:W3CDTF">2020-07-27T16:46:05Z</dcterms:created>
  <dcterms:modified xsi:type="dcterms:W3CDTF">2022-02-23T13:58:46Z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ies>
</file>