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0"/>
  </p:notesMasterIdLst>
  <p:handoutMasterIdLst>
    <p:handoutMasterId r:id="rId61"/>
  </p:handoutMasterIdLst>
  <p:sldIdLst>
    <p:sldId id="377" r:id="rId5"/>
    <p:sldId id="269" r:id="rId6"/>
    <p:sldId id="301" r:id="rId7"/>
    <p:sldId id="539" r:id="rId8"/>
    <p:sldId id="540" r:id="rId9"/>
    <p:sldId id="612" r:id="rId10"/>
    <p:sldId id="555" r:id="rId11"/>
    <p:sldId id="613" r:id="rId12"/>
    <p:sldId id="584" r:id="rId13"/>
    <p:sldId id="621" r:id="rId14"/>
    <p:sldId id="622" r:id="rId15"/>
    <p:sldId id="585" r:id="rId16"/>
    <p:sldId id="580" r:id="rId17"/>
    <p:sldId id="586" r:id="rId18"/>
    <p:sldId id="341" r:id="rId19"/>
    <p:sldId id="342" r:id="rId20"/>
    <p:sldId id="323" r:id="rId21"/>
    <p:sldId id="324" r:id="rId22"/>
    <p:sldId id="587" r:id="rId23"/>
    <p:sldId id="623" r:id="rId24"/>
    <p:sldId id="589" r:id="rId25"/>
    <p:sldId id="590" r:id="rId26"/>
    <p:sldId id="591" r:id="rId27"/>
    <p:sldId id="592" r:id="rId28"/>
    <p:sldId id="542" r:id="rId29"/>
    <p:sldId id="593" r:id="rId30"/>
    <p:sldId id="594" r:id="rId31"/>
    <p:sldId id="595" r:id="rId32"/>
    <p:sldId id="596" r:id="rId33"/>
    <p:sldId id="597" r:id="rId34"/>
    <p:sldId id="614" r:id="rId35"/>
    <p:sldId id="556" r:id="rId36"/>
    <p:sldId id="376" r:id="rId37"/>
    <p:sldId id="615" r:id="rId38"/>
    <p:sldId id="598" r:id="rId39"/>
    <p:sldId id="616" r:id="rId40"/>
    <p:sldId id="617" r:id="rId41"/>
    <p:sldId id="626" r:id="rId42"/>
    <p:sldId id="627" r:id="rId43"/>
    <p:sldId id="599" r:id="rId44"/>
    <p:sldId id="600" r:id="rId45"/>
    <p:sldId id="618" r:id="rId46"/>
    <p:sldId id="619" r:id="rId47"/>
    <p:sldId id="545" r:id="rId48"/>
    <p:sldId id="458" r:id="rId49"/>
    <p:sldId id="620" r:id="rId50"/>
    <p:sldId id="546" r:id="rId51"/>
    <p:sldId id="624" r:id="rId52"/>
    <p:sldId id="625" r:id="rId53"/>
    <p:sldId id="326" r:id="rId54"/>
    <p:sldId id="327" r:id="rId55"/>
    <p:sldId id="601" r:id="rId56"/>
    <p:sldId id="602" r:id="rId57"/>
    <p:sldId id="292" r:id="rId58"/>
    <p:sldId id="603" r:id="rId5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1FE771-41F4-6810-CD13-2075D3933A41}" name="Navaneeta Harish" initials="NH" userId="S::navaneeta.harish@ansrsource.com::89e3b3cb-27bd-484d-94f4-9fca6c971b96" providerId="AD"/>
  <p188:author id="{BF2A948C-1811-CB48-BB9C-92871E13B267}" name="ansrsource_17" initials="AW" userId="ansrsource_17"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Onderdonk, Natalie" initials="ON" lastIdx="1" clrIdx="1">
    <p:extLst>
      <p:ext uri="{19B8F6BF-5375-455C-9EA6-DF929625EA0E}">
        <p15:presenceInfo xmlns:p15="http://schemas.microsoft.com/office/powerpoint/2012/main" userId="S::Natalie.Onderdonk@cengage.com::794b6c7a-2b12-4b61-8069-51114120681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228" autoAdjust="0"/>
  </p:normalViewPr>
  <p:slideViewPr>
    <p:cSldViewPr snapToGrid="0">
      <p:cViewPr varScale="1">
        <p:scale>
          <a:sx n="61" d="100"/>
          <a:sy n="61" d="100"/>
        </p:scale>
        <p:origin x="1020" y="6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68"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aneeta Harish" userId="89e3b3cb-27bd-484d-94f4-9fca6c971b96" providerId="ADAL" clId="{E9F13E2B-3681-4EC5-A2CD-A97A6ACE6605}"/>
    <pc:docChg chg="undo custSel modSld">
      <pc:chgData name="Navaneeta Harish" userId="89e3b3cb-27bd-484d-94f4-9fca6c971b96" providerId="ADAL" clId="{E9F13E2B-3681-4EC5-A2CD-A97A6ACE6605}" dt="2022-02-17T12:49:32.644" v="158" actId="20577"/>
      <pc:docMkLst>
        <pc:docMk/>
      </pc:docMkLst>
      <pc:sldChg chg="modSp mod">
        <pc:chgData name="Navaneeta Harish" userId="89e3b3cb-27bd-484d-94f4-9fca6c971b96" providerId="ADAL" clId="{E9F13E2B-3681-4EC5-A2CD-A97A6ACE6605}" dt="2022-02-17T12:49:32.644" v="158" actId="20577"/>
        <pc:sldMkLst>
          <pc:docMk/>
          <pc:sldMk cId="422136421" sldId="292"/>
        </pc:sldMkLst>
        <pc:spChg chg="mod">
          <ac:chgData name="Navaneeta Harish" userId="89e3b3cb-27bd-484d-94f4-9fca6c971b96" providerId="ADAL" clId="{E9F13E2B-3681-4EC5-A2CD-A97A6ACE6605}" dt="2022-02-17T12:49:32.644" v="158" actId="20577"/>
          <ac:spMkLst>
            <pc:docMk/>
            <pc:sldMk cId="422136421" sldId="292"/>
            <ac:spMk id="2" creationId="{00000000-0000-0000-0000-000000000000}"/>
          </ac:spMkLst>
        </pc:spChg>
      </pc:sldChg>
      <pc:sldChg chg="modSp mod">
        <pc:chgData name="Navaneeta Harish" userId="89e3b3cb-27bd-484d-94f4-9fca6c971b96" providerId="ADAL" clId="{E9F13E2B-3681-4EC5-A2CD-A97A6ACE6605}" dt="2022-02-17T09:13:20.420" v="23" actId="6549"/>
        <pc:sldMkLst>
          <pc:docMk/>
          <pc:sldMk cId="3976620404" sldId="324"/>
        </pc:sldMkLst>
        <pc:spChg chg="mod">
          <ac:chgData name="Navaneeta Harish" userId="89e3b3cb-27bd-484d-94f4-9fca6c971b96" providerId="ADAL" clId="{E9F13E2B-3681-4EC5-A2CD-A97A6ACE6605}" dt="2022-02-17T09:13:20.420" v="23" actId="6549"/>
          <ac:spMkLst>
            <pc:docMk/>
            <pc:sldMk cId="3976620404" sldId="324"/>
            <ac:spMk id="2" creationId="{00000000-0000-0000-0000-000000000000}"/>
          </ac:spMkLst>
        </pc:spChg>
      </pc:sldChg>
      <pc:sldChg chg="modSp">
        <pc:chgData name="Navaneeta Harish" userId="89e3b3cb-27bd-484d-94f4-9fca6c971b96" providerId="ADAL" clId="{E9F13E2B-3681-4EC5-A2CD-A97A6ACE6605}" dt="2022-02-17T12:46:50.934" v="144"/>
        <pc:sldMkLst>
          <pc:docMk/>
          <pc:sldMk cId="471710260" sldId="326"/>
        </pc:sldMkLst>
        <pc:spChg chg="mod">
          <ac:chgData name="Navaneeta Harish" userId="89e3b3cb-27bd-484d-94f4-9fca6c971b96" providerId="ADAL" clId="{E9F13E2B-3681-4EC5-A2CD-A97A6ACE6605}" dt="2022-02-17T12:46:50.934" v="144"/>
          <ac:spMkLst>
            <pc:docMk/>
            <pc:sldMk cId="471710260" sldId="326"/>
            <ac:spMk id="2" creationId="{00000000-0000-0000-0000-000000000000}"/>
          </ac:spMkLst>
        </pc:spChg>
      </pc:sldChg>
      <pc:sldChg chg="modSp mod">
        <pc:chgData name="Navaneeta Harish" userId="89e3b3cb-27bd-484d-94f4-9fca6c971b96" providerId="ADAL" clId="{E9F13E2B-3681-4EC5-A2CD-A97A6ACE6605}" dt="2022-02-17T12:47:10.714" v="154" actId="20577"/>
        <pc:sldMkLst>
          <pc:docMk/>
          <pc:sldMk cId="2824604769" sldId="327"/>
        </pc:sldMkLst>
        <pc:spChg chg="mod">
          <ac:chgData name="Navaneeta Harish" userId="89e3b3cb-27bd-484d-94f4-9fca6c971b96" providerId="ADAL" clId="{E9F13E2B-3681-4EC5-A2CD-A97A6ACE6605}" dt="2022-02-17T12:47:10.714" v="154" actId="20577"/>
          <ac:spMkLst>
            <pc:docMk/>
            <pc:sldMk cId="2824604769" sldId="327"/>
            <ac:spMk id="2" creationId="{00000000-0000-0000-0000-000000000000}"/>
          </ac:spMkLst>
        </pc:spChg>
      </pc:sldChg>
      <pc:sldChg chg="modSp mod">
        <pc:chgData name="Navaneeta Harish" userId="89e3b3cb-27bd-484d-94f4-9fca6c971b96" providerId="ADAL" clId="{E9F13E2B-3681-4EC5-A2CD-A97A6ACE6605}" dt="2022-02-17T11:30:21.653" v="94" actId="6549"/>
        <pc:sldMkLst>
          <pc:docMk/>
          <pc:sldMk cId="2222742430" sldId="341"/>
        </pc:sldMkLst>
        <pc:spChg chg="mod">
          <ac:chgData name="Navaneeta Harish" userId="89e3b3cb-27bd-484d-94f4-9fca6c971b96" providerId="ADAL" clId="{E9F13E2B-3681-4EC5-A2CD-A97A6ACE6605}" dt="2022-02-17T11:30:21.653" v="94" actId="6549"/>
          <ac:spMkLst>
            <pc:docMk/>
            <pc:sldMk cId="2222742430" sldId="341"/>
            <ac:spMk id="2" creationId="{00000000-0000-0000-0000-000000000000}"/>
          </ac:spMkLst>
        </pc:spChg>
      </pc:sldChg>
      <pc:sldChg chg="modSp mod">
        <pc:chgData name="Navaneeta Harish" userId="89e3b3cb-27bd-484d-94f4-9fca6c971b96" providerId="ADAL" clId="{E9F13E2B-3681-4EC5-A2CD-A97A6ACE6605}" dt="2022-02-17T11:31:05.744" v="98" actId="20577"/>
        <pc:sldMkLst>
          <pc:docMk/>
          <pc:sldMk cId="3959071819" sldId="342"/>
        </pc:sldMkLst>
        <pc:spChg chg="mod">
          <ac:chgData name="Navaneeta Harish" userId="89e3b3cb-27bd-484d-94f4-9fca6c971b96" providerId="ADAL" clId="{E9F13E2B-3681-4EC5-A2CD-A97A6ACE6605}" dt="2022-02-17T11:31:05.744" v="98" actId="20577"/>
          <ac:spMkLst>
            <pc:docMk/>
            <pc:sldMk cId="3959071819" sldId="342"/>
            <ac:spMk id="2" creationId="{00000000-0000-0000-0000-000000000000}"/>
          </ac:spMkLst>
        </pc:spChg>
      </pc:sldChg>
      <pc:sldChg chg="modSp mod">
        <pc:chgData name="Navaneeta Harish" userId="89e3b3cb-27bd-484d-94f4-9fca6c971b96" providerId="ADAL" clId="{E9F13E2B-3681-4EC5-A2CD-A97A6ACE6605}" dt="2022-02-17T11:41:48.458" v="132" actId="6549"/>
        <pc:sldMkLst>
          <pc:docMk/>
          <pc:sldMk cId="1460256132" sldId="376"/>
        </pc:sldMkLst>
        <pc:spChg chg="mod">
          <ac:chgData name="Navaneeta Harish" userId="89e3b3cb-27bd-484d-94f4-9fca6c971b96" providerId="ADAL" clId="{E9F13E2B-3681-4EC5-A2CD-A97A6ACE6605}" dt="2022-02-17T11:41:48.458" v="132" actId="6549"/>
          <ac:spMkLst>
            <pc:docMk/>
            <pc:sldMk cId="1460256132" sldId="376"/>
            <ac:spMk id="2" creationId="{00000000-0000-0000-0000-000000000000}"/>
          </ac:spMkLst>
        </pc:spChg>
      </pc:sldChg>
      <pc:sldChg chg="modSp mod">
        <pc:chgData name="Navaneeta Harish" userId="89e3b3cb-27bd-484d-94f4-9fca6c971b96" providerId="ADAL" clId="{E9F13E2B-3681-4EC5-A2CD-A97A6ACE6605}" dt="2022-02-17T09:11:47.500" v="9" actId="313"/>
        <pc:sldMkLst>
          <pc:docMk/>
          <pc:sldMk cId="3692444895" sldId="458"/>
        </pc:sldMkLst>
        <pc:spChg chg="mod">
          <ac:chgData name="Navaneeta Harish" userId="89e3b3cb-27bd-484d-94f4-9fca6c971b96" providerId="ADAL" clId="{E9F13E2B-3681-4EC5-A2CD-A97A6ACE6605}" dt="2022-02-17T09:11:47.500" v="9" actId="313"/>
          <ac:spMkLst>
            <pc:docMk/>
            <pc:sldMk cId="3692444895" sldId="458"/>
            <ac:spMk id="2" creationId="{00000000-0000-0000-0000-000000000000}"/>
          </ac:spMkLst>
        </pc:spChg>
      </pc:sldChg>
      <pc:sldChg chg="modSp mod">
        <pc:chgData name="Navaneeta Harish" userId="89e3b3cb-27bd-484d-94f4-9fca6c971b96" providerId="ADAL" clId="{E9F13E2B-3681-4EC5-A2CD-A97A6ACE6605}" dt="2022-02-17T11:20:41.293" v="67" actId="6549"/>
        <pc:sldMkLst>
          <pc:docMk/>
          <pc:sldMk cId="261404134" sldId="539"/>
        </pc:sldMkLst>
        <pc:spChg chg="mod">
          <ac:chgData name="Navaneeta Harish" userId="89e3b3cb-27bd-484d-94f4-9fca6c971b96" providerId="ADAL" clId="{E9F13E2B-3681-4EC5-A2CD-A97A6ACE6605}" dt="2022-02-17T11:20:41.293" v="67" actId="6549"/>
          <ac:spMkLst>
            <pc:docMk/>
            <pc:sldMk cId="261404134" sldId="539"/>
            <ac:spMk id="3" creationId="{8B2BB213-BEFF-48FD-A4A3-34D3E6186184}"/>
          </ac:spMkLst>
        </pc:spChg>
      </pc:sldChg>
      <pc:sldChg chg="modSp mod addCm">
        <pc:chgData name="Navaneeta Harish" userId="89e3b3cb-27bd-484d-94f4-9fca6c971b96" providerId="ADAL" clId="{E9F13E2B-3681-4EC5-A2CD-A97A6ACE6605}" dt="2022-02-17T09:14:26.044" v="32"/>
        <pc:sldMkLst>
          <pc:docMk/>
          <pc:sldMk cId="2140204573" sldId="540"/>
        </pc:sldMkLst>
        <pc:spChg chg="mod">
          <ac:chgData name="Navaneeta Harish" userId="89e3b3cb-27bd-484d-94f4-9fca6c971b96" providerId="ADAL" clId="{E9F13E2B-3681-4EC5-A2CD-A97A6ACE6605}" dt="2022-02-17T09:13:31.231" v="31" actId="6549"/>
          <ac:spMkLst>
            <pc:docMk/>
            <pc:sldMk cId="2140204573" sldId="540"/>
            <ac:spMk id="3" creationId="{8B2BB213-BEFF-48FD-A4A3-34D3E6186184}"/>
          </ac:spMkLst>
        </pc:spChg>
      </pc:sldChg>
      <pc:sldChg chg="modSp mod">
        <pc:chgData name="Navaneeta Harish" userId="89e3b3cb-27bd-484d-94f4-9fca6c971b96" providerId="ADAL" clId="{E9F13E2B-3681-4EC5-A2CD-A97A6ACE6605}" dt="2022-02-17T09:38:44.069" v="52" actId="6549"/>
        <pc:sldMkLst>
          <pc:docMk/>
          <pc:sldMk cId="2909413595" sldId="546"/>
        </pc:sldMkLst>
        <pc:spChg chg="mod">
          <ac:chgData name="Navaneeta Harish" userId="89e3b3cb-27bd-484d-94f4-9fca6c971b96" providerId="ADAL" clId="{E9F13E2B-3681-4EC5-A2CD-A97A6ACE6605}" dt="2022-02-17T09:38:44.069" v="52" actId="6549"/>
          <ac:spMkLst>
            <pc:docMk/>
            <pc:sldMk cId="2909413595" sldId="546"/>
            <ac:spMk id="2" creationId="{00000000-0000-0000-0000-000000000000}"/>
          </ac:spMkLst>
        </pc:spChg>
      </pc:sldChg>
      <pc:sldChg chg="modSp mod">
        <pc:chgData name="Navaneeta Harish" userId="89e3b3cb-27bd-484d-94f4-9fca6c971b96" providerId="ADAL" clId="{E9F13E2B-3681-4EC5-A2CD-A97A6ACE6605}" dt="2022-02-17T11:29:05.232" v="87" actId="20577"/>
        <pc:sldMkLst>
          <pc:docMk/>
          <pc:sldMk cId="1249423098" sldId="580"/>
        </pc:sldMkLst>
        <pc:spChg chg="mod">
          <ac:chgData name="Navaneeta Harish" userId="89e3b3cb-27bd-484d-94f4-9fca6c971b96" providerId="ADAL" clId="{E9F13E2B-3681-4EC5-A2CD-A97A6ACE6605}" dt="2022-02-17T11:29:05.232" v="87" actId="20577"/>
          <ac:spMkLst>
            <pc:docMk/>
            <pc:sldMk cId="1249423098" sldId="580"/>
            <ac:spMk id="5" creationId="{A67718FB-6495-46A5-B53B-341E2193DD91}"/>
          </ac:spMkLst>
        </pc:spChg>
      </pc:sldChg>
      <pc:sldChg chg="addCm modCm">
        <pc:chgData name="Navaneeta Harish" userId="89e3b3cb-27bd-484d-94f4-9fca6c971b96" providerId="ADAL" clId="{E9F13E2B-3681-4EC5-A2CD-A97A6ACE6605}" dt="2022-02-17T11:27:42.832" v="77"/>
        <pc:sldMkLst>
          <pc:docMk/>
          <pc:sldMk cId="3997232702" sldId="584"/>
        </pc:sldMkLst>
      </pc:sldChg>
      <pc:sldChg chg="modSp mod">
        <pc:chgData name="Navaneeta Harish" userId="89e3b3cb-27bd-484d-94f4-9fca6c971b96" providerId="ADAL" clId="{E9F13E2B-3681-4EC5-A2CD-A97A6ACE6605}" dt="2022-02-17T11:29:38.096" v="88" actId="20577"/>
        <pc:sldMkLst>
          <pc:docMk/>
          <pc:sldMk cId="2139176343" sldId="586"/>
        </pc:sldMkLst>
        <pc:spChg chg="mod">
          <ac:chgData name="Navaneeta Harish" userId="89e3b3cb-27bd-484d-94f4-9fca6c971b96" providerId="ADAL" clId="{E9F13E2B-3681-4EC5-A2CD-A97A6ACE6605}" dt="2022-02-17T11:29:38.096" v="88" actId="20577"/>
          <ac:spMkLst>
            <pc:docMk/>
            <pc:sldMk cId="2139176343" sldId="586"/>
            <ac:spMk id="3" creationId="{C89CD84D-2CBE-4D6D-B24D-138FD12F58A5}"/>
          </ac:spMkLst>
        </pc:spChg>
      </pc:sldChg>
      <pc:sldChg chg="modSp mod">
        <pc:chgData name="Navaneeta Harish" userId="89e3b3cb-27bd-484d-94f4-9fca6c971b96" providerId="ADAL" clId="{E9F13E2B-3681-4EC5-A2CD-A97A6ACE6605}" dt="2022-02-17T11:33:02.223" v="101" actId="6549"/>
        <pc:sldMkLst>
          <pc:docMk/>
          <pc:sldMk cId="382351886" sldId="587"/>
        </pc:sldMkLst>
        <pc:spChg chg="mod">
          <ac:chgData name="Navaneeta Harish" userId="89e3b3cb-27bd-484d-94f4-9fca6c971b96" providerId="ADAL" clId="{E9F13E2B-3681-4EC5-A2CD-A97A6ACE6605}" dt="2022-02-17T11:33:02.223" v="101" actId="6549"/>
          <ac:spMkLst>
            <pc:docMk/>
            <pc:sldMk cId="382351886" sldId="587"/>
            <ac:spMk id="3" creationId="{C89CD84D-2CBE-4D6D-B24D-138FD12F58A5}"/>
          </ac:spMkLst>
        </pc:spChg>
      </pc:sldChg>
      <pc:sldChg chg="addCm">
        <pc:chgData name="Navaneeta Harish" userId="89e3b3cb-27bd-484d-94f4-9fca6c971b96" providerId="ADAL" clId="{E9F13E2B-3681-4EC5-A2CD-A97A6ACE6605}" dt="2022-02-17T11:35:11.129" v="103"/>
        <pc:sldMkLst>
          <pc:docMk/>
          <pc:sldMk cId="3768354167" sldId="588"/>
        </pc:sldMkLst>
      </pc:sldChg>
      <pc:sldChg chg="modSp mod addCm modCm">
        <pc:chgData name="Navaneeta Harish" userId="89e3b3cb-27bd-484d-94f4-9fca6c971b96" providerId="ADAL" clId="{E9F13E2B-3681-4EC5-A2CD-A97A6ACE6605}" dt="2022-02-17T11:35:36.666" v="104" actId="20577"/>
        <pc:sldMkLst>
          <pc:docMk/>
          <pc:sldMk cId="4169477003" sldId="589"/>
        </pc:sldMkLst>
        <pc:spChg chg="mod">
          <ac:chgData name="Navaneeta Harish" userId="89e3b3cb-27bd-484d-94f4-9fca6c971b96" providerId="ADAL" clId="{E9F13E2B-3681-4EC5-A2CD-A97A6ACE6605}" dt="2022-02-17T11:35:36.666" v="104" actId="20577"/>
          <ac:spMkLst>
            <pc:docMk/>
            <pc:sldMk cId="4169477003" sldId="589"/>
            <ac:spMk id="3" creationId="{C89CD84D-2CBE-4D6D-B24D-138FD12F58A5}"/>
          </ac:spMkLst>
        </pc:spChg>
      </pc:sldChg>
      <pc:sldChg chg="modSp mod">
        <pc:chgData name="Navaneeta Harish" userId="89e3b3cb-27bd-484d-94f4-9fca6c971b96" providerId="ADAL" clId="{E9F13E2B-3681-4EC5-A2CD-A97A6ACE6605}" dt="2022-02-17T09:20:44.609" v="48" actId="6549"/>
        <pc:sldMkLst>
          <pc:docMk/>
          <pc:sldMk cId="3972297722" sldId="594"/>
        </pc:sldMkLst>
        <pc:spChg chg="mod">
          <ac:chgData name="Navaneeta Harish" userId="89e3b3cb-27bd-484d-94f4-9fca6c971b96" providerId="ADAL" clId="{E9F13E2B-3681-4EC5-A2CD-A97A6ACE6605}" dt="2022-02-17T09:20:44.609" v="48" actId="6549"/>
          <ac:spMkLst>
            <pc:docMk/>
            <pc:sldMk cId="3972297722" sldId="594"/>
            <ac:spMk id="3" creationId="{23E86B04-DF53-4733-A983-09A6D7E30D64}"/>
          </ac:spMkLst>
        </pc:spChg>
      </pc:sldChg>
      <pc:sldChg chg="modSp mod">
        <pc:chgData name="Navaneeta Harish" userId="89e3b3cb-27bd-484d-94f4-9fca6c971b96" providerId="ADAL" clId="{E9F13E2B-3681-4EC5-A2CD-A97A6ACE6605}" dt="2022-02-17T11:40:20.018" v="110" actId="20577"/>
        <pc:sldMkLst>
          <pc:docMk/>
          <pc:sldMk cId="1715712216" sldId="595"/>
        </pc:sldMkLst>
        <pc:spChg chg="mod">
          <ac:chgData name="Navaneeta Harish" userId="89e3b3cb-27bd-484d-94f4-9fca6c971b96" providerId="ADAL" clId="{E9F13E2B-3681-4EC5-A2CD-A97A6ACE6605}" dt="2022-02-17T11:40:20.018" v="110" actId="20577"/>
          <ac:spMkLst>
            <pc:docMk/>
            <pc:sldMk cId="1715712216" sldId="595"/>
            <ac:spMk id="3" creationId="{23E86B04-DF53-4733-A983-09A6D7E30D64}"/>
          </ac:spMkLst>
        </pc:spChg>
      </pc:sldChg>
      <pc:sldChg chg="modSp mod">
        <pc:chgData name="Navaneeta Harish" userId="89e3b3cb-27bd-484d-94f4-9fca6c971b96" providerId="ADAL" clId="{E9F13E2B-3681-4EC5-A2CD-A97A6ACE6605}" dt="2022-02-17T11:40:30.159" v="116" actId="6549"/>
        <pc:sldMkLst>
          <pc:docMk/>
          <pc:sldMk cId="3720485824" sldId="596"/>
        </pc:sldMkLst>
        <pc:spChg chg="mod">
          <ac:chgData name="Navaneeta Harish" userId="89e3b3cb-27bd-484d-94f4-9fca6c971b96" providerId="ADAL" clId="{E9F13E2B-3681-4EC5-A2CD-A97A6ACE6605}" dt="2022-02-17T11:40:30.159" v="116" actId="6549"/>
          <ac:spMkLst>
            <pc:docMk/>
            <pc:sldMk cId="3720485824" sldId="596"/>
            <ac:spMk id="2" creationId="{2940233A-258F-40F3-9EAC-85EEA62BDB38}"/>
          </ac:spMkLst>
        </pc:spChg>
        <pc:spChg chg="mod">
          <ac:chgData name="Navaneeta Harish" userId="89e3b3cb-27bd-484d-94f4-9fca6c971b96" providerId="ADAL" clId="{E9F13E2B-3681-4EC5-A2CD-A97A6ACE6605}" dt="2022-02-17T09:11:31.805" v="6" actId="6549"/>
          <ac:spMkLst>
            <pc:docMk/>
            <pc:sldMk cId="3720485824" sldId="596"/>
            <ac:spMk id="3" creationId="{23E86B04-DF53-4733-A983-09A6D7E30D64}"/>
          </ac:spMkLst>
        </pc:spChg>
      </pc:sldChg>
      <pc:sldChg chg="modSp mod addCm delCm">
        <pc:chgData name="Navaneeta Harish" userId="89e3b3cb-27bd-484d-94f4-9fca6c971b96" providerId="ADAL" clId="{E9F13E2B-3681-4EC5-A2CD-A97A6ACE6605}" dt="2022-02-17T11:40:45.484" v="124"/>
        <pc:sldMkLst>
          <pc:docMk/>
          <pc:sldMk cId="10548094" sldId="597"/>
        </pc:sldMkLst>
        <pc:spChg chg="mod">
          <ac:chgData name="Navaneeta Harish" userId="89e3b3cb-27bd-484d-94f4-9fca6c971b96" providerId="ADAL" clId="{E9F13E2B-3681-4EC5-A2CD-A97A6ACE6605}" dt="2022-02-17T11:40:42.453" v="123" actId="6549"/>
          <ac:spMkLst>
            <pc:docMk/>
            <pc:sldMk cId="10548094" sldId="597"/>
            <ac:spMk id="2" creationId="{2940233A-258F-40F3-9EAC-85EEA62BDB38}"/>
          </ac:spMkLst>
        </pc:spChg>
      </pc:sldChg>
      <pc:sldChg chg="modSp mod">
        <pc:chgData name="Navaneeta Harish" userId="89e3b3cb-27bd-484d-94f4-9fca6c971b96" providerId="ADAL" clId="{E9F13E2B-3681-4EC5-A2CD-A97A6ACE6605}" dt="2022-02-17T12:30:58.734" v="137" actId="6549"/>
        <pc:sldMkLst>
          <pc:docMk/>
          <pc:sldMk cId="2616201849" sldId="599"/>
        </pc:sldMkLst>
        <pc:spChg chg="mod">
          <ac:chgData name="Navaneeta Harish" userId="89e3b3cb-27bd-484d-94f4-9fca6c971b96" providerId="ADAL" clId="{E9F13E2B-3681-4EC5-A2CD-A97A6ACE6605}" dt="2022-02-17T12:30:58.734" v="137" actId="6549"/>
          <ac:spMkLst>
            <pc:docMk/>
            <pc:sldMk cId="2616201849" sldId="599"/>
            <ac:spMk id="2" creationId="{00000000-0000-0000-0000-000000000000}"/>
          </ac:spMkLst>
        </pc:spChg>
      </pc:sldChg>
      <pc:sldChg chg="modSp mod">
        <pc:chgData name="Navaneeta Harish" userId="89e3b3cb-27bd-484d-94f4-9fca6c971b96" providerId="ADAL" clId="{E9F13E2B-3681-4EC5-A2CD-A97A6ACE6605}" dt="2022-02-17T12:32:36.584" v="140" actId="6549"/>
        <pc:sldMkLst>
          <pc:docMk/>
          <pc:sldMk cId="2467611315" sldId="600"/>
        </pc:sldMkLst>
        <pc:spChg chg="mod">
          <ac:chgData name="Navaneeta Harish" userId="89e3b3cb-27bd-484d-94f4-9fca6c971b96" providerId="ADAL" clId="{E9F13E2B-3681-4EC5-A2CD-A97A6ACE6605}" dt="2022-02-17T12:32:36.584" v="140" actId="6549"/>
          <ac:spMkLst>
            <pc:docMk/>
            <pc:sldMk cId="2467611315" sldId="600"/>
            <ac:spMk id="2" creationId="{00000000-0000-0000-0000-000000000000}"/>
          </ac:spMkLst>
        </pc:spChg>
      </pc:sldChg>
      <pc:sldChg chg="modSp mod">
        <pc:chgData name="Navaneeta Harish" userId="89e3b3cb-27bd-484d-94f4-9fca6c971b96" providerId="ADAL" clId="{E9F13E2B-3681-4EC5-A2CD-A97A6ACE6605}" dt="2022-02-17T09:12:07.991" v="12" actId="313"/>
        <pc:sldMkLst>
          <pc:docMk/>
          <pc:sldMk cId="1537796678" sldId="602"/>
        </pc:sldMkLst>
        <pc:spChg chg="mod">
          <ac:chgData name="Navaneeta Harish" userId="89e3b3cb-27bd-484d-94f4-9fca6c971b96" providerId="ADAL" clId="{E9F13E2B-3681-4EC5-A2CD-A97A6ACE6605}" dt="2022-02-17T09:12:07.991" v="12" actId="313"/>
          <ac:spMkLst>
            <pc:docMk/>
            <pc:sldMk cId="1537796678" sldId="602"/>
            <ac:spMk id="2" creationId="{00000000-0000-0000-0000-000000000000}"/>
          </ac:spMkLst>
        </pc:spChg>
      </pc:sldChg>
      <pc:sldChg chg="modSp mod">
        <pc:chgData name="Navaneeta Harish" userId="89e3b3cb-27bd-484d-94f4-9fca6c971b96" providerId="ADAL" clId="{E9F13E2B-3681-4EC5-A2CD-A97A6ACE6605}" dt="2022-02-17T11:22:05.583" v="74" actId="20577"/>
        <pc:sldMkLst>
          <pc:docMk/>
          <pc:sldMk cId="2711011274" sldId="612"/>
        </pc:sldMkLst>
        <pc:spChg chg="mod">
          <ac:chgData name="Navaneeta Harish" userId="89e3b3cb-27bd-484d-94f4-9fca6c971b96" providerId="ADAL" clId="{E9F13E2B-3681-4EC5-A2CD-A97A6ACE6605}" dt="2022-02-17T11:22:05.583" v="74" actId="20577"/>
          <ac:spMkLst>
            <pc:docMk/>
            <pc:sldMk cId="2711011274" sldId="612"/>
            <ac:spMk id="3" creationId="{8B2BB213-BEFF-48FD-A4A3-34D3E6186184}"/>
          </ac:spMkLst>
        </pc:spChg>
      </pc:sldChg>
      <pc:sldChg chg="addCm">
        <pc:chgData name="Navaneeta Harish" userId="89e3b3cb-27bd-484d-94f4-9fca6c971b96" providerId="ADAL" clId="{E9F13E2B-3681-4EC5-A2CD-A97A6ACE6605}" dt="2022-02-17T11:23:58.610" v="75"/>
        <pc:sldMkLst>
          <pc:docMk/>
          <pc:sldMk cId="2818146514" sldId="613"/>
        </pc:sldMkLst>
      </pc:sldChg>
      <pc:sldChg chg="modSp mod">
        <pc:chgData name="Navaneeta Harish" userId="89e3b3cb-27bd-484d-94f4-9fca6c971b96" providerId="ADAL" clId="{E9F13E2B-3681-4EC5-A2CD-A97A6ACE6605}" dt="2022-02-17T11:40:54.013" v="130" actId="6549"/>
        <pc:sldMkLst>
          <pc:docMk/>
          <pc:sldMk cId="525125891" sldId="614"/>
        </pc:sldMkLst>
        <pc:spChg chg="mod">
          <ac:chgData name="Navaneeta Harish" userId="89e3b3cb-27bd-484d-94f4-9fca6c971b96" providerId="ADAL" clId="{E9F13E2B-3681-4EC5-A2CD-A97A6ACE6605}" dt="2022-02-17T11:40:54.013" v="130" actId="6549"/>
          <ac:spMkLst>
            <pc:docMk/>
            <pc:sldMk cId="525125891" sldId="614"/>
            <ac:spMk id="2" creationId="{2940233A-258F-40F3-9EAC-85EEA62BDB38}"/>
          </ac:spMkLst>
        </pc:spChg>
      </pc:sldChg>
      <pc:sldChg chg="modSp mod">
        <pc:chgData name="Navaneeta Harish" userId="89e3b3cb-27bd-484d-94f4-9fca6c971b96" providerId="ADAL" clId="{E9F13E2B-3681-4EC5-A2CD-A97A6ACE6605}" dt="2022-02-17T11:42:03.593" v="133" actId="20577"/>
        <pc:sldMkLst>
          <pc:docMk/>
          <pc:sldMk cId="1739030902" sldId="615"/>
        </pc:sldMkLst>
        <pc:spChg chg="mod">
          <ac:chgData name="Navaneeta Harish" userId="89e3b3cb-27bd-484d-94f4-9fca6c971b96" providerId="ADAL" clId="{E9F13E2B-3681-4EC5-A2CD-A97A6ACE6605}" dt="2022-02-17T11:42:03.593" v="133" actId="20577"/>
          <ac:spMkLst>
            <pc:docMk/>
            <pc:sldMk cId="1739030902" sldId="615"/>
            <ac:spMk id="2" creationId="{00000000-0000-0000-0000-000000000000}"/>
          </ac:spMkLst>
        </pc:spChg>
      </pc:sldChg>
      <pc:sldChg chg="modSp mod">
        <pc:chgData name="Navaneeta Harish" userId="89e3b3cb-27bd-484d-94f4-9fca6c971b96" providerId="ADAL" clId="{E9F13E2B-3681-4EC5-A2CD-A97A6ACE6605}" dt="2022-02-17T12:34:26.892" v="141" actId="6549"/>
        <pc:sldMkLst>
          <pc:docMk/>
          <pc:sldMk cId="3514933947" sldId="620"/>
        </pc:sldMkLst>
        <pc:spChg chg="mod">
          <ac:chgData name="Navaneeta Harish" userId="89e3b3cb-27bd-484d-94f4-9fca6c971b96" providerId="ADAL" clId="{E9F13E2B-3681-4EC5-A2CD-A97A6ACE6605}" dt="2022-02-17T12:34:26.892" v="141" actId="6549"/>
          <ac:spMkLst>
            <pc:docMk/>
            <pc:sldMk cId="3514933947" sldId="620"/>
            <ac:spMk id="2" creationId="{00000000-0000-0000-0000-000000000000}"/>
          </ac:spMkLst>
        </pc:spChg>
      </pc:sldChg>
      <pc:sldChg chg="modSp mod">
        <pc:chgData name="Navaneeta Harish" userId="89e3b3cb-27bd-484d-94f4-9fca6c971b96" providerId="ADAL" clId="{E9F13E2B-3681-4EC5-A2CD-A97A6ACE6605}" dt="2022-02-17T11:33:11.205" v="102" actId="20577"/>
        <pc:sldMkLst>
          <pc:docMk/>
          <pc:sldMk cId="4287815451" sldId="623"/>
        </pc:sldMkLst>
        <pc:spChg chg="mod">
          <ac:chgData name="Navaneeta Harish" userId="89e3b3cb-27bd-484d-94f4-9fca6c971b96" providerId="ADAL" clId="{E9F13E2B-3681-4EC5-A2CD-A97A6ACE6605}" dt="2022-02-17T11:33:11.205" v="102" actId="20577"/>
          <ac:spMkLst>
            <pc:docMk/>
            <pc:sldMk cId="4287815451" sldId="623"/>
            <ac:spMk id="3" creationId="{C89CD84D-2CBE-4D6D-B24D-138FD12F58A5}"/>
          </ac:spMkLst>
        </pc:spChg>
      </pc:sldChg>
      <pc:sldChg chg="modSp mod">
        <pc:chgData name="Navaneeta Harish" userId="89e3b3cb-27bd-484d-94f4-9fca6c971b96" providerId="ADAL" clId="{E9F13E2B-3681-4EC5-A2CD-A97A6ACE6605}" dt="2022-02-17T12:37:39.826" v="142" actId="6549"/>
        <pc:sldMkLst>
          <pc:docMk/>
          <pc:sldMk cId="2736640236" sldId="625"/>
        </pc:sldMkLst>
        <pc:spChg chg="mod">
          <ac:chgData name="Navaneeta Harish" userId="89e3b3cb-27bd-484d-94f4-9fca6c971b96" providerId="ADAL" clId="{E9F13E2B-3681-4EC5-A2CD-A97A6ACE6605}" dt="2022-02-17T12:37:39.826" v="142" actId="6549"/>
          <ac:spMkLst>
            <pc:docMk/>
            <pc:sldMk cId="2736640236" sldId="625"/>
            <ac:spMk id="2" creationId="{00000000-0000-0000-0000-000000000000}"/>
          </ac:spMkLst>
        </pc:spChg>
      </pc:sldChg>
      <pc:sldChg chg="addCm modCm">
        <pc:chgData name="Navaneeta Harish" userId="89e3b3cb-27bd-484d-94f4-9fca6c971b96" providerId="ADAL" clId="{E9F13E2B-3681-4EC5-A2CD-A97A6ACE6605}" dt="2022-02-17T11:43:46.658" v="134"/>
        <pc:sldMkLst>
          <pc:docMk/>
          <pc:sldMk cId="3056463905" sldId="627"/>
        </pc:sldMkLst>
      </pc:sldChg>
    </pc:docChg>
  </pc:docChgLst>
  <pc:docChgLst>
    <pc:chgData name="Navaneeta Harish" userId="89e3b3cb-27bd-484d-94f4-9fca6c971b96" providerId="ADAL" clId="{7F352011-3258-4714-B333-9652E5CA1110}"/>
    <pc:docChg chg="modSld">
      <pc:chgData name="Navaneeta Harish" userId="89e3b3cb-27bd-484d-94f4-9fca6c971b96" providerId="ADAL" clId="{7F352011-3258-4714-B333-9652E5CA1110}" dt="2022-02-22T09:30:24.971" v="17"/>
      <pc:docMkLst>
        <pc:docMk/>
      </pc:docMkLst>
      <pc:sldChg chg="modCm">
        <pc:chgData name="Navaneeta Harish" userId="89e3b3cb-27bd-484d-94f4-9fca6c971b96" providerId="ADAL" clId="{7F352011-3258-4714-B333-9652E5CA1110}" dt="2022-02-22T09:28:01.983" v="1"/>
        <pc:sldMkLst>
          <pc:docMk/>
          <pc:sldMk cId="2140204573" sldId="540"/>
        </pc:sldMkLst>
      </pc:sldChg>
      <pc:sldChg chg="modSp mod modCm">
        <pc:chgData name="Navaneeta Harish" userId="89e3b3cb-27bd-484d-94f4-9fca6c971b96" providerId="ADAL" clId="{7F352011-3258-4714-B333-9652E5CA1110}" dt="2022-02-22T09:30:24.971" v="17"/>
        <pc:sldMkLst>
          <pc:docMk/>
          <pc:sldMk cId="3997232702" sldId="584"/>
        </pc:sldMkLst>
        <pc:graphicFrameChg chg="mod modGraphic">
          <ac:chgData name="Navaneeta Harish" userId="89e3b3cb-27bd-484d-94f4-9fca6c971b96" providerId="ADAL" clId="{7F352011-3258-4714-B333-9652E5CA1110}" dt="2022-02-22T09:29:50.865" v="13" actId="108"/>
          <ac:graphicFrameMkLst>
            <pc:docMk/>
            <pc:sldMk cId="3997232702" sldId="584"/>
            <ac:graphicFrameMk id="4" creationId="{6DA86BD9-478C-4009-BE4C-8D07E5366191}"/>
          </ac:graphicFrameMkLst>
        </pc:graphicFrameChg>
      </pc:sldChg>
      <pc:sldChg chg="modCm">
        <pc:chgData name="Navaneeta Harish" userId="89e3b3cb-27bd-484d-94f4-9fca6c971b96" providerId="ADAL" clId="{7F352011-3258-4714-B333-9652E5CA1110}" dt="2022-02-22T09:29:03.193" v="5"/>
        <pc:sldMkLst>
          <pc:docMk/>
          <pc:sldMk cId="4169477003" sldId="589"/>
        </pc:sldMkLst>
      </pc:sldChg>
      <pc:sldChg chg="modCm">
        <pc:chgData name="Navaneeta Harish" userId="89e3b3cb-27bd-484d-94f4-9fca6c971b96" providerId="ADAL" clId="{7F352011-3258-4714-B333-9652E5CA1110}" dt="2022-02-22T09:29:18.803" v="7"/>
        <pc:sldMkLst>
          <pc:docMk/>
          <pc:sldMk cId="2818146514" sldId="613"/>
        </pc:sldMkLst>
      </pc:sldChg>
      <pc:sldChg chg="modCm">
        <pc:chgData name="Navaneeta Harish" userId="89e3b3cb-27bd-484d-94f4-9fca6c971b96" providerId="ADAL" clId="{7F352011-3258-4714-B333-9652E5CA1110}" dt="2022-02-22T09:28:41.062" v="3"/>
        <pc:sldMkLst>
          <pc:docMk/>
          <pc:sldMk cId="3056463905" sldId="62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2/23/2022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2/23/2022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39581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29541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1305702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3597137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Instructions: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1. Use this activity to solicit student opinions about concepts in the module or to play a game.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2. Go to kahoot.com, or the platform of your preference, and log in or sign up.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3. Create the challenge.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4. Teacher Tip: Turn off the timer to prioritize accuracy or turn on the nickname generator to avoid inappropriate nicknames.</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5. Invite players by sharing the link or PIN.</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6. This can be done synchronously during class or asynchronously for review or homework.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1886981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334674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1134935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2665558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592785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2076427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128138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Instructions: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1. Use this activity to solicit student opinions about concepts in the module or to play a game.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2. Go to kahoot.com, or the platform of your preference, and log in or sign up.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3. Create the challenge.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4. Teacher Tip: Turn off the timer to prioritize accuracy or turn on the nickname generator to avoid inappropriate nicknames.</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5. Invite players by sharing the link or PIN.</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6. This can be done synchronously during class or asynchronously for review or homework.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1886981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334674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352564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41</a:t>
            </a:fld>
            <a:endParaRPr lang="en-US" dirty="0"/>
          </a:p>
        </p:txBody>
      </p:sp>
    </p:spTree>
    <p:extLst>
      <p:ext uri="{BB962C8B-B14F-4D97-AF65-F5344CB8AC3E}">
        <p14:creationId xmlns:p14="http://schemas.microsoft.com/office/powerpoint/2010/main" val="2413336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2281104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dirty="0"/>
          </a:p>
        </p:txBody>
      </p:sp>
    </p:spTree>
    <p:extLst>
      <p:ext uri="{BB962C8B-B14F-4D97-AF65-F5344CB8AC3E}">
        <p14:creationId xmlns:p14="http://schemas.microsoft.com/office/powerpoint/2010/main" val="314673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44</a:t>
            </a:fld>
            <a:endParaRPr lang="en-US" dirty="0"/>
          </a:p>
        </p:txBody>
      </p:sp>
    </p:spTree>
    <p:extLst>
      <p:ext uri="{BB962C8B-B14F-4D97-AF65-F5344CB8AC3E}">
        <p14:creationId xmlns:p14="http://schemas.microsoft.com/office/powerpoint/2010/main" val="2656290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45</a:t>
            </a:fld>
            <a:endParaRPr lang="en-US" dirty="0"/>
          </a:p>
        </p:txBody>
      </p:sp>
    </p:spTree>
    <p:extLst>
      <p:ext uri="{BB962C8B-B14F-4D97-AF65-F5344CB8AC3E}">
        <p14:creationId xmlns:p14="http://schemas.microsoft.com/office/powerpoint/2010/main" val="32680636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46</a:t>
            </a:fld>
            <a:endParaRPr lang="en-US" dirty="0"/>
          </a:p>
        </p:txBody>
      </p:sp>
    </p:spTree>
    <p:extLst>
      <p:ext uri="{BB962C8B-B14F-4D97-AF65-F5344CB8AC3E}">
        <p14:creationId xmlns:p14="http://schemas.microsoft.com/office/powerpoint/2010/main" val="7702250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47</a:t>
            </a:fld>
            <a:endParaRPr lang="en-US" dirty="0"/>
          </a:p>
        </p:txBody>
      </p:sp>
    </p:spTree>
    <p:extLst>
      <p:ext uri="{BB962C8B-B14F-4D97-AF65-F5344CB8AC3E}">
        <p14:creationId xmlns:p14="http://schemas.microsoft.com/office/powerpoint/2010/main" val="11589015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48</a:t>
            </a:fld>
            <a:endParaRPr lang="en-US" dirty="0"/>
          </a:p>
        </p:txBody>
      </p:sp>
    </p:spTree>
    <p:extLst>
      <p:ext uri="{BB962C8B-B14F-4D97-AF65-F5344CB8AC3E}">
        <p14:creationId xmlns:p14="http://schemas.microsoft.com/office/powerpoint/2010/main" val="1305702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49</a:t>
            </a:fld>
            <a:endParaRPr lang="en-US" dirty="0"/>
          </a:p>
        </p:txBody>
      </p:sp>
    </p:spTree>
    <p:extLst>
      <p:ext uri="{BB962C8B-B14F-4D97-AF65-F5344CB8AC3E}">
        <p14:creationId xmlns:p14="http://schemas.microsoft.com/office/powerpoint/2010/main" val="35971376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r>
              <a:rPr lang="en-US" sz="1200" dirty="0">
                <a:effectLst/>
                <a:latin typeface="Calibri" panose="020F0502020204030204" pitchFamily="34" charset="0"/>
                <a:ea typeface="Calibri" panose="020F0502020204030204" pitchFamily="34" charset="0"/>
                <a:cs typeface="Times New Roman" panose="02020603050405020304" pitchFamily="18" charset="0"/>
              </a:rPr>
              <a:t>Use the Discussion activity to encourage group conversation about a related topic of interest.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50</a:t>
            </a:fld>
            <a:endParaRPr lang="en-US" dirty="0"/>
          </a:p>
        </p:txBody>
      </p:sp>
    </p:spTree>
    <p:extLst>
      <p:ext uri="{BB962C8B-B14F-4D97-AF65-F5344CB8AC3E}">
        <p14:creationId xmlns:p14="http://schemas.microsoft.com/office/powerpoint/2010/main" val="24805617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51</a:t>
            </a:fld>
            <a:endParaRPr lang="en-US" dirty="0"/>
          </a:p>
        </p:txBody>
      </p:sp>
    </p:spTree>
    <p:extLst>
      <p:ext uri="{BB962C8B-B14F-4D97-AF65-F5344CB8AC3E}">
        <p14:creationId xmlns:p14="http://schemas.microsoft.com/office/powerpoint/2010/main" val="37326151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52</a:t>
            </a:fld>
            <a:endParaRPr lang="en-US" dirty="0"/>
          </a:p>
        </p:txBody>
      </p:sp>
    </p:spTree>
    <p:extLst>
      <p:ext uri="{BB962C8B-B14F-4D97-AF65-F5344CB8AC3E}">
        <p14:creationId xmlns:p14="http://schemas.microsoft.com/office/powerpoint/2010/main" val="31766647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53</a:t>
            </a:fld>
            <a:endParaRPr lang="en-US" dirty="0"/>
          </a:p>
        </p:txBody>
      </p:sp>
    </p:spTree>
    <p:extLst>
      <p:ext uri="{BB962C8B-B14F-4D97-AF65-F5344CB8AC3E}">
        <p14:creationId xmlns:p14="http://schemas.microsoft.com/office/powerpoint/2010/main" val="6766658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indent="0">
              <a:buFontTx/>
              <a:buNone/>
            </a:pPr>
            <a:r>
              <a:rPr lang="en-US" dirty="0"/>
              <a:t>Use the Self-Assessment question to encourage students to evaluate their progress or goals in the course, as well as determine how they might apply their learning or grow as an individual. </a:t>
            </a:r>
          </a:p>
          <a:p>
            <a:pPr marL="0" indent="0">
              <a:buFontTx/>
              <a:buNone/>
            </a:pP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54</a:t>
            </a:fld>
            <a:endParaRPr lang="en-US" dirty="0"/>
          </a:p>
        </p:txBody>
      </p:sp>
    </p:spTree>
    <p:extLst>
      <p:ext uri="{BB962C8B-B14F-4D97-AF65-F5344CB8AC3E}">
        <p14:creationId xmlns:p14="http://schemas.microsoft.com/office/powerpoint/2010/main" val="20745235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55</a:t>
            </a:fld>
            <a:endParaRPr lang="en-US" dirty="0"/>
          </a:p>
        </p:txBody>
      </p:sp>
    </p:spTree>
    <p:extLst>
      <p:ext uri="{BB962C8B-B14F-4D97-AF65-F5344CB8AC3E}">
        <p14:creationId xmlns:p14="http://schemas.microsoft.com/office/powerpoint/2010/main" val="16853638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7" name="Footer">
            <a:extLst>
              <a:ext uri="{FF2B5EF4-FFF2-40B4-BE49-F238E27FC236}">
                <a16:creationId xmlns:a16="http://schemas.microsoft.com/office/drawing/2014/main" id="{1A08720E-89CF-471D-8467-1907150E3B60}"/>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vel </a:t>
            </a:r>
            <a:r>
              <a:rPr lang="en-US" err="1"/>
              <a:t>fringilla</a:t>
            </a:r>
            <a:r>
              <a:rPr lang="en-US"/>
              <a:t> </a:t>
            </a:r>
            <a:r>
              <a:rPr lang="en-US" err="1"/>
              <a:t>est</a:t>
            </a:r>
            <a:r>
              <a:rPr lang="en-US"/>
              <a:t> </a:t>
            </a:r>
            <a:r>
              <a:rPr lang="en-US" err="1"/>
              <a:t>ullamcorper</a:t>
            </a:r>
            <a:r>
              <a:rPr lang="en-US"/>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p>
          <a:p>
            <a:pPr lvl="0"/>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p>
          <a:p>
            <a:pPr lvl="0"/>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a:t>
            </a:r>
            <a:r>
              <a:rPr lang="en-US" err="1"/>
              <a:t>vel</a:t>
            </a:r>
            <a:r>
              <a:rPr lang="en-US"/>
              <a:t> </a:t>
            </a:r>
            <a:r>
              <a:rPr lang="en-US" err="1"/>
              <a:t>fringilla</a:t>
            </a:r>
            <a:r>
              <a:rPr lang="en-US"/>
              <a:t> </a:t>
            </a:r>
            <a:r>
              <a:rPr lang="en-US" err="1"/>
              <a:t>est</a:t>
            </a:r>
            <a:r>
              <a:rPr lang="en-US"/>
              <a:t> </a:t>
            </a:r>
            <a:r>
              <a:rPr lang="en-US" err="1"/>
              <a:t>ullamcorper</a:t>
            </a:r>
            <a:r>
              <a:rPr lang="en-US"/>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6" name="Picture Placeholder 5">
            <a:extLst>
              <a:ext uri="{FF2B5EF4-FFF2-40B4-BE49-F238E27FC236}">
                <a16:creationId xmlns:a16="http://schemas.microsoft.com/office/drawing/2014/main" id="{20C78AC8-E1A0-4975-919B-DC886A739CA8}"/>
              </a:ext>
            </a:extLst>
          </p:cNvPr>
          <p:cNvSpPr>
            <a:spLocks noGrp="1"/>
          </p:cNvSpPr>
          <p:nvPr>
            <p:ph type="pic" sz="quarter" idx="10"/>
          </p:nvPr>
        </p:nvSpPr>
        <p:spPr>
          <a:xfrm>
            <a:off x="743577" y="4029075"/>
            <a:ext cx="7982257" cy="1835457"/>
          </a:xfrm>
        </p:spPr>
        <p:txBody>
          <a:bodyPr/>
          <a:lstStyle/>
          <a:p>
            <a:r>
              <a:rPr lang="en-US" dirty="0"/>
              <a:t>Click icon to add picture</a:t>
            </a:r>
          </a:p>
        </p:txBody>
      </p:sp>
      <p:sp>
        <p:nvSpPr>
          <p:cNvPr id="7" name="Text Placeholder 11">
            <a:extLst>
              <a:ext uri="{FF2B5EF4-FFF2-40B4-BE49-F238E27FC236}">
                <a16:creationId xmlns:a16="http://schemas.microsoft.com/office/drawing/2014/main" id="{623BC119-C238-4C36-BBED-7F10BDC9AEA8}"/>
              </a:ext>
            </a:extLst>
          </p:cNvPr>
          <p:cNvSpPr>
            <a:spLocks noGrp="1"/>
          </p:cNvSpPr>
          <p:nvPr>
            <p:ph type="body" sz="quarter" idx="17" hasCustomPrompt="1"/>
          </p:nvPr>
        </p:nvSpPr>
        <p:spPr>
          <a:xfrm>
            <a:off x="743576" y="1638300"/>
            <a:ext cx="10857874" cy="1936791"/>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9">
            <a:extLst>
              <a:ext uri="{FF2B5EF4-FFF2-40B4-BE49-F238E27FC236}">
                <a16:creationId xmlns:a16="http://schemas.microsoft.com/office/drawing/2014/main" id="{8B98B54F-6FA9-4905-8BDA-434E60C09DC4}"/>
              </a:ext>
            </a:extLst>
          </p:cNvPr>
          <p:cNvSpPr>
            <a:spLocks noGrp="1"/>
          </p:cNvSpPr>
          <p:nvPr>
            <p:ph type="body" sz="quarter" idx="12"/>
          </p:nvPr>
        </p:nvSpPr>
        <p:spPr>
          <a:xfrm>
            <a:off x="7893898" y="5562460"/>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444911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7" name="Text Placeholder 11">
            <a:extLst>
              <a:ext uri="{FF2B5EF4-FFF2-40B4-BE49-F238E27FC236}">
                <a16:creationId xmlns:a16="http://schemas.microsoft.com/office/drawing/2014/main" id="{623BC119-C238-4C36-BBED-7F10BDC9AEA8}"/>
              </a:ext>
            </a:extLst>
          </p:cNvPr>
          <p:cNvSpPr>
            <a:spLocks noGrp="1"/>
          </p:cNvSpPr>
          <p:nvPr>
            <p:ph type="body" sz="quarter" idx="17" hasCustomPrompt="1"/>
          </p:nvPr>
        </p:nvSpPr>
        <p:spPr>
          <a:xfrm>
            <a:off x="743576" y="1638300"/>
            <a:ext cx="10857874" cy="1936791"/>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9">
            <a:extLst>
              <a:ext uri="{FF2B5EF4-FFF2-40B4-BE49-F238E27FC236}">
                <a16:creationId xmlns:a16="http://schemas.microsoft.com/office/drawing/2014/main" id="{8B98B54F-6FA9-4905-8BDA-434E60C09DC4}"/>
              </a:ext>
            </a:extLst>
          </p:cNvPr>
          <p:cNvSpPr>
            <a:spLocks noGrp="1"/>
          </p:cNvSpPr>
          <p:nvPr>
            <p:ph type="body" sz="quarter" idx="12"/>
          </p:nvPr>
        </p:nvSpPr>
        <p:spPr>
          <a:xfrm>
            <a:off x="7893898" y="5562460"/>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4" name="Table Placeholder 3">
            <a:extLst>
              <a:ext uri="{FF2B5EF4-FFF2-40B4-BE49-F238E27FC236}">
                <a16:creationId xmlns:a16="http://schemas.microsoft.com/office/drawing/2014/main" id="{D1DF692E-72DC-47BE-9648-D62DDED49EB4}"/>
              </a:ext>
            </a:extLst>
          </p:cNvPr>
          <p:cNvSpPr>
            <a:spLocks noGrp="1"/>
          </p:cNvSpPr>
          <p:nvPr>
            <p:ph type="tbl" sz="quarter" idx="18"/>
          </p:nvPr>
        </p:nvSpPr>
        <p:spPr>
          <a:xfrm>
            <a:off x="1014413" y="3914775"/>
            <a:ext cx="10587037" cy="2228850"/>
          </a:xfrm>
        </p:spPr>
        <p:txBody>
          <a:bodyPr/>
          <a:lstStyle/>
          <a:p>
            <a:endParaRPr lang="en-IN" dirty="0"/>
          </a:p>
        </p:txBody>
      </p:sp>
    </p:spTree>
    <p:extLst>
      <p:ext uri="{BB962C8B-B14F-4D97-AF65-F5344CB8AC3E}">
        <p14:creationId xmlns:p14="http://schemas.microsoft.com/office/powerpoint/2010/main" val="1070350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3D3CEFA6-1052-4CB3-8134-501BB4231EC5}"/>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8" name="Text Placeholder 9">
            <a:extLst>
              <a:ext uri="{FF2B5EF4-FFF2-40B4-BE49-F238E27FC236}">
                <a16:creationId xmlns:a16="http://schemas.microsoft.com/office/drawing/2014/main" id="{4D2E82F8-8478-47DF-BB49-FCCDE3B17108}"/>
              </a:ext>
            </a:extLst>
          </p:cNvPr>
          <p:cNvSpPr>
            <a:spLocks noGrp="1"/>
          </p:cNvSpPr>
          <p:nvPr>
            <p:ph type="body" sz="quarter" idx="12"/>
          </p:nvPr>
        </p:nvSpPr>
        <p:spPr>
          <a:xfrm>
            <a:off x="7478972" y="3630961"/>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871192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6622" y="3893386"/>
            <a:ext cx="6473496" cy="1985434"/>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3D3CEFA6-1052-4CB3-8134-501BB4231EC5}"/>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8" name="Text Placeholder 9">
            <a:extLst>
              <a:ext uri="{FF2B5EF4-FFF2-40B4-BE49-F238E27FC236}">
                <a16:creationId xmlns:a16="http://schemas.microsoft.com/office/drawing/2014/main" id="{4D2E82F8-8478-47DF-BB49-FCCDE3B17108}"/>
              </a:ext>
            </a:extLst>
          </p:cNvPr>
          <p:cNvSpPr>
            <a:spLocks noGrp="1"/>
          </p:cNvSpPr>
          <p:nvPr>
            <p:ph type="body" sz="quarter" idx="12"/>
          </p:nvPr>
        </p:nvSpPr>
        <p:spPr>
          <a:xfrm>
            <a:off x="7478972" y="3630961"/>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9" name="Picture Placeholder 5">
            <a:extLst>
              <a:ext uri="{FF2B5EF4-FFF2-40B4-BE49-F238E27FC236}">
                <a16:creationId xmlns:a16="http://schemas.microsoft.com/office/drawing/2014/main" id="{EE70209A-D171-42AE-920B-79D73F857E7B}"/>
              </a:ext>
            </a:extLst>
          </p:cNvPr>
          <p:cNvSpPr>
            <a:spLocks noGrp="1"/>
          </p:cNvSpPr>
          <p:nvPr>
            <p:ph type="pic" sz="quarter" idx="13"/>
          </p:nvPr>
        </p:nvSpPr>
        <p:spPr>
          <a:xfrm>
            <a:off x="788702" y="1536499"/>
            <a:ext cx="6473496" cy="1985434"/>
          </a:xfrm>
        </p:spPr>
        <p:txBody>
          <a:bodyPr/>
          <a:lstStyle/>
          <a:p>
            <a:r>
              <a:rPr lang="en-US" dirty="0"/>
              <a:t>Click icon to add picture</a:t>
            </a:r>
          </a:p>
        </p:txBody>
      </p:sp>
      <p:sp>
        <p:nvSpPr>
          <p:cNvPr id="11" name="Text Placeholder 9">
            <a:extLst>
              <a:ext uri="{FF2B5EF4-FFF2-40B4-BE49-F238E27FC236}">
                <a16:creationId xmlns:a16="http://schemas.microsoft.com/office/drawing/2014/main" id="{FF632C9B-8AAD-4865-8203-B4A9ECD7547E}"/>
              </a:ext>
            </a:extLst>
          </p:cNvPr>
          <p:cNvSpPr>
            <a:spLocks noGrp="1"/>
          </p:cNvSpPr>
          <p:nvPr>
            <p:ph type="body" sz="quarter" idx="14" hasCustomPrompt="1"/>
          </p:nvPr>
        </p:nvSpPr>
        <p:spPr>
          <a:xfrm>
            <a:off x="7631372" y="1708449"/>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E37DCD09-290D-416F-9B8B-6D2A4BF16399}"/>
              </a:ext>
            </a:extLst>
          </p:cNvPr>
          <p:cNvSpPr>
            <a:spLocks noGrp="1"/>
          </p:cNvSpPr>
          <p:nvPr>
            <p:ph type="body" sz="quarter" idx="15"/>
          </p:nvPr>
        </p:nvSpPr>
        <p:spPr>
          <a:xfrm>
            <a:off x="7631372" y="1268753"/>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2777434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ourier New" panose="02070309020205020404" pitchFamily="49" charset="0"/>
              <a:buChar char="o"/>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a:extLst>
              <a:ext uri="{FF2B5EF4-FFF2-40B4-BE49-F238E27FC236}">
                <a16:creationId xmlns:a16="http://schemas.microsoft.com/office/drawing/2014/main" id="{83735F31-4A9D-40F8-9F71-BD376A4D8D2F}"/>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990599" y="3553820"/>
            <a:ext cx="10515599" cy="1814513"/>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6" name="Table Placeholder 4">
            <a:extLst>
              <a:ext uri="{FF2B5EF4-FFF2-40B4-BE49-F238E27FC236}">
                <a16:creationId xmlns:a16="http://schemas.microsoft.com/office/drawing/2014/main" id="{A14F7248-79C8-4906-81B9-90D9166C1489}"/>
              </a:ext>
            </a:extLst>
          </p:cNvPr>
          <p:cNvSpPr>
            <a:spLocks noGrp="1"/>
          </p:cNvSpPr>
          <p:nvPr>
            <p:ph type="tbl" sz="quarter" idx="11"/>
          </p:nvPr>
        </p:nvSpPr>
        <p:spPr>
          <a:xfrm>
            <a:off x="990599" y="1409700"/>
            <a:ext cx="10515599" cy="1814513"/>
          </a:xfrm>
        </p:spPr>
        <p:txBody>
          <a:bodyPr/>
          <a:lstStyle/>
          <a:p>
            <a:r>
              <a:rPr lang="en-US" dirty="0"/>
              <a:t>Click icon to add table</a:t>
            </a:r>
          </a:p>
        </p:txBody>
      </p:sp>
    </p:spTree>
    <p:extLst>
      <p:ext uri="{BB962C8B-B14F-4D97-AF65-F5344CB8AC3E}">
        <p14:creationId xmlns:p14="http://schemas.microsoft.com/office/powerpoint/2010/main" val="38325984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652337" y="4026568"/>
            <a:ext cx="8507663" cy="2143416"/>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6" name="Text Placeholder 11">
            <a:extLst>
              <a:ext uri="{FF2B5EF4-FFF2-40B4-BE49-F238E27FC236}">
                <a16:creationId xmlns:a16="http://schemas.microsoft.com/office/drawing/2014/main" id="{2D354C28-2602-4BD1-852F-6D26EF74A6E0}"/>
              </a:ext>
            </a:extLst>
          </p:cNvPr>
          <p:cNvSpPr>
            <a:spLocks noGrp="1"/>
          </p:cNvSpPr>
          <p:nvPr>
            <p:ph type="body" sz="quarter" idx="17" hasCustomPrompt="1"/>
          </p:nvPr>
        </p:nvSpPr>
        <p:spPr>
          <a:xfrm>
            <a:off x="743577" y="1638300"/>
            <a:ext cx="10610224" cy="2143416"/>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3022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Placeholder 4">
            <a:extLst>
              <a:ext uri="{FF2B5EF4-FFF2-40B4-BE49-F238E27FC236}">
                <a16:creationId xmlns:a16="http://schemas.microsoft.com/office/drawing/2014/main" id="{FDBF05B8-008A-435C-BEB9-BA347195A6D4}"/>
              </a:ext>
            </a:extLst>
          </p:cNvPr>
          <p:cNvSpPr>
            <a:spLocks noGrp="1"/>
          </p:cNvSpPr>
          <p:nvPr>
            <p:ph type="body" sz="quarter" idx="13" hasCustomPrompt="1"/>
          </p:nvPr>
        </p:nvSpPr>
        <p:spPr>
          <a:xfrm>
            <a:off x="2923890" y="6375089"/>
            <a:ext cx="8843249" cy="365125"/>
          </a:xfrm>
        </p:spPr>
        <p:txBody>
          <a:bodyPr/>
          <a:lstStyle>
            <a:lvl1pPr>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64721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62225" y="6356350"/>
            <a:ext cx="9257732" cy="354013"/>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7" r:id="rId9"/>
    <p:sldLayoutId id="2147483728" r:id="rId10"/>
    <p:sldLayoutId id="2147483720" r:id="rId11"/>
    <p:sldLayoutId id="2147483730" r:id="rId12"/>
    <p:sldLayoutId id="2147483723" r:id="rId13"/>
    <p:sldLayoutId id="2147483724" r:id="rId14"/>
    <p:sldLayoutId id="2147483713" r:id="rId15"/>
    <p:sldLayoutId id="2147483717" r:id="rId16"/>
    <p:sldLayoutId id="2147483729" r:id="rId17"/>
    <p:sldLayoutId id="2147483726" r:id="rId18"/>
    <p:sldLayoutId id="2147483725" r:id="rId19"/>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hyperlink" Target="https://www.mcafee.com/en-in/index.html" TargetMode="External"/><Relationship Id="rId2" Type="http://schemas.openxmlformats.org/officeDocument/2006/relationships/notesSlide" Target="../notesSlides/notesSlide18.xml"/><Relationship Id="rId1" Type="http://schemas.openxmlformats.org/officeDocument/2006/relationships/slideLayout" Target="../slideLayouts/slideLayout10.xml"/><Relationship Id="rId6" Type="http://schemas.openxmlformats.org/officeDocument/2006/relationships/hyperlink" Target="https://www.fireeye.com/" TargetMode="External"/><Relationship Id="rId5" Type="http://schemas.openxmlformats.org/officeDocument/2006/relationships/hyperlink" Target="https://www.cisco.com/" TargetMode="External"/><Relationship Id="rId4" Type="http://schemas.openxmlformats.org/officeDocument/2006/relationships/hyperlink" Target="https://www.snort.org/"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32437B-505B-437D-B700-DB98649D4ABD}"/>
              </a:ext>
            </a:extLst>
          </p:cNvPr>
          <p:cNvSpPr>
            <a:spLocks noGrp="1"/>
          </p:cNvSpPr>
          <p:nvPr>
            <p:ph type="title"/>
          </p:nvPr>
        </p:nvSpPr>
        <p:spPr>
          <a:xfrm>
            <a:off x="3730100" y="1901952"/>
            <a:ext cx="8037040" cy="1527048"/>
          </a:xfrm>
        </p:spPr>
        <p:txBody>
          <a:bodyPr anchor="ctr"/>
          <a:lstStyle/>
          <a:p>
            <a:pPr algn="ctr"/>
            <a:r>
              <a:rPr lang="en-US" sz="4000" b="0" dirty="0"/>
              <a:t>Hands-On Ethical Hacking and Network Defense,</a:t>
            </a:r>
            <a:br>
              <a:rPr lang="en-US" sz="4000" b="0" dirty="0"/>
            </a:br>
            <a:r>
              <a:rPr lang="en-US" sz="4000" b="0" dirty="0"/>
              <a:t>Edition 4</a:t>
            </a:r>
          </a:p>
        </p:txBody>
      </p:sp>
      <p:sp>
        <p:nvSpPr>
          <p:cNvPr id="2" name="Text Placeholder 1">
            <a:extLst>
              <a:ext uri="{FF2B5EF4-FFF2-40B4-BE49-F238E27FC236}">
                <a16:creationId xmlns:a16="http://schemas.microsoft.com/office/drawing/2014/main" id="{91DF6995-6A0D-4B55-9749-F555B7DB11AB}"/>
              </a:ext>
            </a:extLst>
          </p:cNvPr>
          <p:cNvSpPr>
            <a:spLocks noGrp="1"/>
          </p:cNvSpPr>
          <p:nvPr>
            <p:ph type="body" sz="quarter" idx="11"/>
          </p:nvPr>
        </p:nvSpPr>
        <p:spPr>
          <a:xfrm>
            <a:off x="4817175" y="3828650"/>
            <a:ext cx="6372223" cy="1116757"/>
          </a:xfrm>
        </p:spPr>
        <p:txBody>
          <a:bodyPr anchor="ctr"/>
          <a:lstStyle/>
          <a:p>
            <a:pPr algn="ctr"/>
            <a:r>
              <a:rPr lang="en-US" b="1" dirty="0"/>
              <a:t>Module 13: </a:t>
            </a:r>
            <a:r>
              <a:rPr lang="en-US" dirty="0"/>
              <a:t>Network Protection Systems</a:t>
            </a:r>
          </a:p>
        </p:txBody>
      </p:sp>
      <p:sp>
        <p:nvSpPr>
          <p:cNvPr id="7" name="Footer">
            <a:extLst>
              <a:ext uri="{FF2B5EF4-FFF2-40B4-BE49-F238E27FC236}">
                <a16:creationId xmlns:a16="http://schemas.microsoft.com/office/drawing/2014/main" id="{B1026838-50FD-462D-BFD6-82AA8692D3A8}"/>
              </a:ext>
            </a:extLst>
          </p:cNvPr>
          <p:cNvSpPr>
            <a:spLocks noGrp="1"/>
          </p:cNvSpPr>
          <p:nvPr>
            <p:ph type="body" sz="quarter" idx="13"/>
          </p:nvPr>
        </p:nvSpPr>
        <p:spPr>
          <a:xfrm>
            <a:off x="2708694" y="6347068"/>
            <a:ext cx="9058446" cy="441920"/>
          </a:xfrm>
        </p:spPr>
        <p:txBody>
          <a:bodyPr/>
          <a:lstStyle/>
          <a:p>
            <a:r>
              <a:rPr kumimoji="0" lang="en-US" sz="1400" b="0" i="0" u="none" strike="noStrike" kern="1200" cap="none" spc="0" normalizeH="0" baseline="0" noProof="0" dirty="0">
                <a:ln>
                  <a:noFill/>
                </a:ln>
                <a:solidFill>
                  <a:schemeClr val="bg1"/>
                </a:solidFill>
                <a:effectLst/>
                <a:uLnTx/>
                <a:uFillTx/>
                <a:latin typeface="arial" charset="0"/>
                <a:ea typeface="+mn-ea"/>
                <a:cs typeface="+mn-cs"/>
              </a:rPr>
              <a:t>Simpson, Antill</a:t>
            </a:r>
            <a:r>
              <a:rPr lang="en-US" sz="1400" dirty="0">
                <a:solidFill>
                  <a:schemeClr val="bg1"/>
                </a:solidFill>
                <a:latin typeface="arial" charset="0"/>
              </a:rPr>
              <a:t>, </a:t>
            </a:r>
            <a:r>
              <a:rPr kumimoji="0" lang="en-US" sz="1400" b="0" i="0" u="none" strike="noStrike" kern="1200" cap="none" spc="0" normalizeH="0" baseline="0" noProof="0" dirty="0">
                <a:ln>
                  <a:noFill/>
                </a:ln>
                <a:solidFill>
                  <a:schemeClr val="bg1"/>
                </a:solidFill>
                <a:effectLst/>
                <a:uLnTx/>
                <a:uFillTx/>
                <a:latin typeface="arial" charset="0"/>
                <a:ea typeface="+mn-ea"/>
                <a:cs typeface="+mn-cs"/>
              </a:rPr>
              <a:t>Wilson, Hands-On Ethical Hacking and Network Defense, 4</a:t>
            </a:r>
            <a:r>
              <a:rPr kumimoji="0" lang="en-US" sz="1400" b="0" i="0" u="none" strike="noStrike" kern="1200" cap="none" spc="0" normalizeH="0" baseline="30000" noProof="0" dirty="0">
                <a:ln>
                  <a:noFill/>
                </a:ln>
                <a:solidFill>
                  <a:schemeClr val="bg1"/>
                </a:solidFill>
                <a:effectLst/>
                <a:uLnTx/>
                <a:uFillTx/>
                <a:latin typeface="arial" charset="0"/>
                <a:ea typeface="+mn-ea"/>
                <a:cs typeface="+mn-cs"/>
              </a:rPr>
              <a:t>th</a:t>
            </a:r>
            <a:r>
              <a:rPr kumimoji="0" lang="en-US" sz="1400" b="0" i="0" u="none" strike="noStrike" kern="1200" cap="none" spc="0" normalizeH="0" baseline="0" noProof="0" dirty="0">
                <a:ln>
                  <a:noFill/>
                </a:ln>
                <a:solidFill>
                  <a:schemeClr val="bg1"/>
                </a:solidFill>
                <a:effectLst/>
                <a:uLnTx/>
                <a:uFillTx/>
                <a:latin typeface="arial" charset="0"/>
                <a:ea typeface="+mn-ea"/>
                <a:cs typeface="+mn-cs"/>
              </a:rPr>
              <a:t> Edition. © 2023 Cengage. All Rights Reserved. May not be scanned, copied or duplicated, or posted to a publicly accessible website, in whole or in part.</a:t>
            </a:r>
          </a:p>
        </p:txBody>
      </p:sp>
      <p:pic>
        <p:nvPicPr>
          <p:cNvPr id="8" name="Picture Placeholder 7">
            <a:extLst>
              <a:ext uri="{FF2B5EF4-FFF2-40B4-BE49-F238E27FC236}">
                <a16:creationId xmlns:a16="http://schemas.microsoft.com/office/drawing/2014/main" id="{6E157191-C86F-44C0-BECF-D3D35689FAA9}"/>
              </a:ext>
              <a:ext uri="{C183D7F6-B498-43B3-948B-1728B52AA6E4}">
                <adec:decorative xmlns:adec="http://schemas.microsoft.com/office/drawing/2017/decorative" val="1"/>
              </a:ext>
            </a:extLst>
          </p:cNvPr>
          <p:cNvPicPr>
            <a:picLocks noGrp="1" noChangeAspect="1"/>
          </p:cNvPicPr>
          <p:nvPr>
            <p:ph type="pic" sz="quarter" idx="12"/>
          </p:nvPr>
        </p:nvPicPr>
        <p:blipFill>
          <a:blip r:embed="rId3"/>
          <a:srcRect l="923" r="923"/>
          <a:stretch>
            <a:fillRect/>
          </a:stretch>
        </p:blipFill>
        <p:spPr>
          <a:xfrm>
            <a:off x="246063" y="314325"/>
            <a:ext cx="3343275" cy="4318000"/>
          </a:xfrm>
        </p:spPr>
      </p:pic>
    </p:spTree>
    <p:extLst>
      <p:ext uri="{BB962C8B-B14F-4D97-AF65-F5344CB8AC3E}">
        <p14:creationId xmlns:p14="http://schemas.microsoft.com/office/powerpoint/2010/main" val="3172499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dirty="0"/>
              <a:t>Module Objectives</a:t>
            </a:r>
          </a:p>
        </p:txBody>
      </p:sp>
      <p:sp>
        <p:nvSpPr>
          <p:cNvPr id="2" name="Text Placeholder 1"/>
          <p:cNvSpPr>
            <a:spLocks noGrp="1"/>
          </p:cNvSpPr>
          <p:nvPr>
            <p:ph type="body" sz="quarter" idx="17"/>
          </p:nvPr>
        </p:nvSpPr>
        <p:spPr>
          <a:xfrm>
            <a:off x="743576" y="1638300"/>
            <a:ext cx="10711543" cy="4394200"/>
          </a:xfrm>
        </p:spPr>
        <p:txBody>
          <a:bodyPr/>
          <a:lstStyle/>
          <a:p>
            <a:r>
              <a:rPr lang="en-US" dirty="0"/>
              <a:t>By the end of this module, you should be able to: </a:t>
            </a:r>
          </a:p>
          <a:p>
            <a:pPr lvl="1">
              <a:defRPr/>
            </a:pPr>
            <a:r>
              <a:rPr lang="en-US" dirty="0"/>
              <a:t>Explain how routers are used as network protection systems</a:t>
            </a:r>
          </a:p>
          <a:p>
            <a:pPr lvl="1">
              <a:defRPr/>
            </a:pPr>
            <a:r>
              <a:rPr lang="en-US" dirty="0"/>
              <a:t>Describe firewall technology and tools for configuring firewalls and routers</a:t>
            </a:r>
          </a:p>
          <a:p>
            <a:pPr lvl="1">
              <a:defRPr/>
            </a:pPr>
            <a:r>
              <a:rPr lang="en-US" dirty="0"/>
              <a:t>Describe intrusion detection and prevention systems and web-filtering technology</a:t>
            </a:r>
          </a:p>
          <a:p>
            <a:pPr lvl="1">
              <a:defRPr/>
            </a:pPr>
            <a:r>
              <a:rPr lang="en-US" dirty="0"/>
              <a:t>Explain the purpose of honeypots</a:t>
            </a:r>
          </a:p>
        </p:txBody>
      </p:sp>
    </p:spTree>
    <p:extLst>
      <p:ext uri="{BB962C8B-B14F-4D97-AF65-F5344CB8AC3E}">
        <p14:creationId xmlns:p14="http://schemas.microsoft.com/office/powerpoint/2010/main" val="5495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p:txBody>
          <a:bodyPr/>
          <a:lstStyle/>
          <a:p>
            <a:r>
              <a:rPr lang="en-US" altLang="en-US" dirty="0"/>
              <a:t>Using Network Protection Systems</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p:txBody>
          <a:bodyPr/>
          <a:lstStyle/>
          <a:p>
            <a:r>
              <a:rPr lang="en-US" altLang="en-US" b="1" dirty="0"/>
              <a:t>Network protection system</a:t>
            </a:r>
          </a:p>
          <a:p>
            <a:pPr lvl="1"/>
            <a:r>
              <a:rPr lang="en-US" altLang="en-US" dirty="0"/>
              <a:t>Any device or system designed to protect a network</a:t>
            </a:r>
          </a:p>
          <a:p>
            <a:r>
              <a:rPr lang="en-US" altLang="en-US" b="1" dirty="0"/>
              <a:t>Unified Threat Management (UTM) </a:t>
            </a:r>
            <a:r>
              <a:rPr lang="en-US" altLang="en-US" dirty="0"/>
              <a:t>device</a:t>
            </a:r>
          </a:p>
          <a:p>
            <a:pPr lvl="1"/>
            <a:r>
              <a:rPr lang="en-US" altLang="en-US" dirty="0"/>
              <a:t>Term used to describe a single device that combines many network protection functions</a:t>
            </a:r>
          </a:p>
          <a:p>
            <a:pPr lvl="2"/>
            <a:r>
              <a:rPr lang="en-US" altLang="en-US" dirty="0"/>
              <a:t>Such as those performed by routers, firewalls, intrusion detection and prevention systems, VPNs, web-filtering systems, and malware detection and filtering systems</a:t>
            </a:r>
          </a:p>
          <a:p>
            <a:r>
              <a:rPr lang="en-US" altLang="en-US" b="1" dirty="0"/>
              <a:t>Security appliance</a:t>
            </a:r>
          </a:p>
          <a:p>
            <a:pPr lvl="1"/>
            <a:r>
              <a:rPr lang="en-US" altLang="en-US" dirty="0"/>
              <a:t>Can describe both UTMs and network protection systems</a:t>
            </a:r>
          </a:p>
        </p:txBody>
      </p:sp>
    </p:spTree>
    <p:extLst>
      <p:ext uri="{BB962C8B-B14F-4D97-AF65-F5344CB8AC3E}">
        <p14:creationId xmlns:p14="http://schemas.microsoft.com/office/powerpoint/2010/main" val="1917845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p:txBody>
          <a:bodyPr/>
          <a:lstStyle/>
          <a:p>
            <a:r>
              <a:rPr lang="en-US" altLang="en-US" dirty="0"/>
              <a:t>Using Routers to Reduce Network Attacks</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p:txBody>
          <a:bodyPr/>
          <a:lstStyle/>
          <a:p>
            <a:r>
              <a:rPr lang="en-US" altLang="en-US" dirty="0"/>
              <a:t>Routers are hardware devices </a:t>
            </a:r>
          </a:p>
          <a:p>
            <a:pPr lvl="1"/>
            <a:r>
              <a:rPr lang="en-US" altLang="en-US" dirty="0"/>
              <a:t>Used to send packets to different network segments</a:t>
            </a:r>
          </a:p>
          <a:p>
            <a:pPr lvl="1"/>
            <a:r>
              <a:rPr lang="en-US" altLang="en-US" dirty="0"/>
              <a:t>Main purposes</a:t>
            </a:r>
          </a:p>
          <a:p>
            <a:pPr lvl="2"/>
            <a:r>
              <a:rPr lang="en-US" altLang="en-US" dirty="0"/>
              <a:t>Reduce broadcast traffic passing over a network</a:t>
            </a:r>
          </a:p>
          <a:p>
            <a:pPr lvl="2"/>
            <a:r>
              <a:rPr lang="en-US" altLang="en-US" dirty="0"/>
              <a:t>Choose the best path for moving packets</a:t>
            </a:r>
          </a:p>
          <a:p>
            <a:r>
              <a:rPr lang="en-US" altLang="en-US" dirty="0"/>
              <a:t>Routing protocols</a:t>
            </a:r>
          </a:p>
          <a:p>
            <a:pPr lvl="1"/>
            <a:r>
              <a:rPr lang="en-US" altLang="en-US" b="1" dirty="0"/>
              <a:t>Link-state routing protocol</a:t>
            </a:r>
          </a:p>
          <a:p>
            <a:pPr lvl="2"/>
            <a:r>
              <a:rPr lang="en-US" altLang="en-US" dirty="0"/>
              <a:t>Sends link-state advertisements to other routers</a:t>
            </a:r>
          </a:p>
          <a:p>
            <a:pPr lvl="1"/>
            <a:r>
              <a:rPr lang="en-US" altLang="en-US" b="1" dirty="0"/>
              <a:t>Distance-vector routing protocol</a:t>
            </a:r>
          </a:p>
          <a:p>
            <a:pPr lvl="2"/>
            <a:r>
              <a:rPr lang="en-US" altLang="en-US" dirty="0"/>
              <a:t>Router passes its routing table to neighboring routers on the network</a:t>
            </a:r>
          </a:p>
          <a:p>
            <a:pPr lvl="1"/>
            <a:r>
              <a:rPr lang="en-US" altLang="en-US" b="1" dirty="0"/>
              <a:t>Path-vector routing protocol</a:t>
            </a:r>
          </a:p>
          <a:p>
            <a:pPr lvl="2"/>
            <a:r>
              <a:rPr lang="en-US" altLang="en-US" dirty="0"/>
              <a:t>Uses dynamically updated paths or routing tables to transmit packets from one autonomous network to another</a:t>
            </a:r>
          </a:p>
        </p:txBody>
      </p:sp>
    </p:spTree>
    <p:extLst>
      <p:ext uri="{BB962C8B-B14F-4D97-AF65-F5344CB8AC3E}">
        <p14:creationId xmlns:p14="http://schemas.microsoft.com/office/powerpoint/2010/main" val="261404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Cisco Router Components (1 of 2)</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r>
              <a:rPr lang="en-US" altLang="en-US" dirty="0"/>
              <a:t>Random access memory (RAM)</a:t>
            </a:r>
          </a:p>
          <a:p>
            <a:pPr lvl="1"/>
            <a:r>
              <a:rPr lang="en-US" altLang="en-US" dirty="0"/>
              <a:t>Holds the router’s running configuration, routing tables, and buffers</a:t>
            </a:r>
          </a:p>
          <a:p>
            <a:pPr lvl="2"/>
            <a:r>
              <a:rPr lang="en-US" altLang="en-US" dirty="0"/>
              <a:t>If turned off, contents stored in RAM are erased</a:t>
            </a:r>
          </a:p>
          <a:p>
            <a:r>
              <a:rPr lang="en-US" altLang="en-US" dirty="0"/>
              <a:t>Nonvolatile RAM (NVRAM)</a:t>
            </a:r>
          </a:p>
          <a:p>
            <a:pPr lvl="1"/>
            <a:r>
              <a:rPr lang="en-US" altLang="en-US" dirty="0"/>
              <a:t>Holds router’s configuration file</a:t>
            </a:r>
          </a:p>
          <a:p>
            <a:pPr lvl="2"/>
            <a:r>
              <a:rPr lang="en-US" altLang="en-US" dirty="0"/>
              <a:t>Information is not lost if the router is turned off</a:t>
            </a:r>
          </a:p>
          <a:p>
            <a:r>
              <a:rPr lang="en-US" altLang="en-US" dirty="0"/>
              <a:t>Flash memory</a:t>
            </a:r>
          </a:p>
          <a:p>
            <a:pPr lvl="1"/>
            <a:r>
              <a:rPr lang="en-US" altLang="en-US" dirty="0"/>
              <a:t>Holds the Internetwork Operating System (IOS) the router is using</a:t>
            </a:r>
          </a:p>
          <a:p>
            <a:pPr lvl="1"/>
            <a:r>
              <a:rPr lang="en-US" altLang="en-US" dirty="0"/>
              <a:t>Rewritable memory, so IOS can be upgraded</a:t>
            </a:r>
          </a:p>
        </p:txBody>
      </p:sp>
    </p:spTree>
    <p:extLst>
      <p:ext uri="{BB962C8B-B14F-4D97-AF65-F5344CB8AC3E}">
        <p14:creationId xmlns:p14="http://schemas.microsoft.com/office/powerpoint/2010/main" val="2140204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Cisco Router Components (2 of 2)</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r>
              <a:rPr lang="en-US" altLang="en-US" dirty="0"/>
              <a:t>Read-only memory (ROM)</a:t>
            </a:r>
          </a:p>
          <a:p>
            <a:pPr lvl="1"/>
            <a:r>
              <a:rPr lang="en-US" altLang="en-US" dirty="0"/>
              <a:t>Contains a minimal version of Cisco IOS </a:t>
            </a:r>
          </a:p>
          <a:p>
            <a:pPr lvl="2"/>
            <a:r>
              <a:rPr lang="en-US" altLang="en-US" dirty="0"/>
              <a:t>Used to boot router if flash memory gets corrupted</a:t>
            </a:r>
          </a:p>
          <a:p>
            <a:r>
              <a:rPr lang="en-US" altLang="en-US" dirty="0"/>
              <a:t>Interfaces</a:t>
            </a:r>
          </a:p>
          <a:p>
            <a:pPr lvl="1"/>
            <a:r>
              <a:rPr lang="en-US" altLang="en-US" dirty="0"/>
              <a:t>These components are the hardware connectivity points to the router </a:t>
            </a:r>
          </a:p>
          <a:p>
            <a:pPr lvl="2"/>
            <a:r>
              <a:rPr lang="en-US" altLang="en-US" dirty="0"/>
              <a:t>The components you’re most concerned with</a:t>
            </a:r>
          </a:p>
          <a:p>
            <a:r>
              <a:rPr lang="en-US" altLang="en-US" dirty="0"/>
              <a:t>Basic Cisco commands</a:t>
            </a:r>
          </a:p>
          <a:p>
            <a:pPr lvl="1"/>
            <a:r>
              <a:rPr lang="en-US" altLang="en-US" dirty="0"/>
              <a:t>A security professional should be aware of the basic Cisco commands</a:t>
            </a:r>
          </a:p>
          <a:p>
            <a:pPr lvl="2"/>
            <a:r>
              <a:rPr lang="en-US" altLang="en-US" dirty="0"/>
              <a:t>To view information in the Cisco router components</a:t>
            </a:r>
          </a:p>
          <a:p>
            <a:pPr lvl="1"/>
            <a:r>
              <a:rPr lang="en-US" altLang="en-US" dirty="0"/>
              <a:t>Example: </a:t>
            </a:r>
            <a:r>
              <a:rPr lang="en-IN" b="0" i="0" u="none" strike="noStrike" baseline="0" dirty="0">
                <a:latin typeface="CourierStd"/>
              </a:rPr>
              <a:t>RouterB# </a:t>
            </a:r>
            <a:r>
              <a:rPr lang="en-IN" b="1" i="0" u="none" strike="noStrike" baseline="0" dirty="0">
                <a:latin typeface="CourierStd-Bold"/>
              </a:rPr>
              <a:t>show running-config</a:t>
            </a:r>
          </a:p>
          <a:p>
            <a:pPr lvl="2"/>
            <a:r>
              <a:rPr lang="en-US" altLang="en-US" dirty="0"/>
              <a:t>To see what information is stored in RAM, a Cisco administrator uses the command above</a:t>
            </a:r>
          </a:p>
        </p:txBody>
      </p:sp>
    </p:spTree>
    <p:extLst>
      <p:ext uri="{BB962C8B-B14F-4D97-AF65-F5344CB8AC3E}">
        <p14:creationId xmlns:p14="http://schemas.microsoft.com/office/powerpoint/2010/main" val="2711011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Cisco Router Configuration (1 of 2)</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r>
              <a:rPr lang="en-US" altLang="en-US" dirty="0"/>
              <a:t>Configuration modes:</a:t>
            </a:r>
          </a:p>
          <a:p>
            <a:pPr lvl="1"/>
            <a:r>
              <a:rPr lang="en-US" altLang="en-US" b="1" dirty="0"/>
              <a:t>User mode</a:t>
            </a:r>
          </a:p>
          <a:p>
            <a:pPr lvl="2"/>
            <a:r>
              <a:rPr lang="en-US" altLang="en-US" dirty="0"/>
              <a:t>Administrator can perform basic troubleshooting tests and list information stored on the router</a:t>
            </a:r>
          </a:p>
          <a:p>
            <a:pPr lvl="2"/>
            <a:r>
              <a:rPr lang="en-US" altLang="en-US" dirty="0"/>
              <a:t>Indicated by the router name followed by a </a:t>
            </a:r>
            <a:r>
              <a:rPr lang="en-US" altLang="en-US" dirty="0">
                <a:latin typeface="Courier New" panose="02070309020205020404" pitchFamily="49" charset="0"/>
                <a:cs typeface="Courier New" panose="02070309020205020404" pitchFamily="49" charset="0"/>
              </a:rPr>
              <a:t>&gt; </a:t>
            </a:r>
            <a:r>
              <a:rPr lang="en-US" altLang="en-US" dirty="0"/>
              <a:t>symbol</a:t>
            </a:r>
          </a:p>
          <a:p>
            <a:pPr lvl="2"/>
            <a:r>
              <a:rPr lang="en-US" altLang="en-US" dirty="0">
                <a:cs typeface="Courier New" panose="02070309020205020404" pitchFamily="49" charset="0"/>
              </a:rPr>
              <a:t>When first logging on to a Cisco router, you’re in user mode by default</a:t>
            </a:r>
          </a:p>
          <a:p>
            <a:pPr lvl="1"/>
            <a:r>
              <a:rPr lang="en-US" altLang="en-US" b="1" dirty="0"/>
              <a:t>Privileged mode</a:t>
            </a:r>
          </a:p>
          <a:p>
            <a:pPr lvl="2"/>
            <a:r>
              <a:rPr lang="en-US" altLang="en-US" dirty="0"/>
              <a:t>Administrator can perform full router configuration tasks</a:t>
            </a:r>
          </a:p>
          <a:p>
            <a:pPr lvl="2"/>
            <a:r>
              <a:rPr lang="en-US" altLang="en-US" dirty="0"/>
              <a:t>Indicated by a router name followed by a</a:t>
            </a:r>
            <a:r>
              <a:rPr lang="en-US" altLang="en-US" dirty="0">
                <a:latin typeface="Courier New" panose="02070309020205020404" pitchFamily="49" charset="0"/>
                <a:cs typeface="Courier New" panose="02070309020205020404" pitchFamily="49" charset="0"/>
              </a:rPr>
              <a:t> # </a:t>
            </a:r>
            <a:r>
              <a:rPr lang="en-US" altLang="en-US" dirty="0"/>
              <a:t>sign</a:t>
            </a:r>
          </a:p>
        </p:txBody>
      </p:sp>
    </p:spTree>
    <p:extLst>
      <p:ext uri="{BB962C8B-B14F-4D97-AF65-F5344CB8AC3E}">
        <p14:creationId xmlns:p14="http://schemas.microsoft.com/office/powerpoint/2010/main" val="431077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Cisco Router Configuration (2 of 2)</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r>
              <a:rPr lang="en-US" altLang="en-US" dirty="0"/>
              <a:t>Modes to configure the router in privileged mode</a:t>
            </a:r>
          </a:p>
          <a:p>
            <a:pPr lvl="1"/>
            <a:r>
              <a:rPr lang="en-US" altLang="en-US" dirty="0"/>
              <a:t>Global configuration mode</a:t>
            </a:r>
          </a:p>
          <a:p>
            <a:pPr lvl="2"/>
            <a:r>
              <a:rPr lang="en-US" altLang="en-US" dirty="0"/>
              <a:t>Administrator can configure router settings that affect overall router operation</a:t>
            </a:r>
          </a:p>
          <a:p>
            <a:pPr lvl="1"/>
            <a:r>
              <a:rPr lang="en-US" altLang="en-US" dirty="0"/>
              <a:t>Interface configuration mode</a:t>
            </a:r>
          </a:p>
          <a:p>
            <a:pPr lvl="2"/>
            <a:r>
              <a:rPr lang="en-US" altLang="en-US" dirty="0"/>
              <a:t>Administrator can configure an interface on the router, such as a serial port</a:t>
            </a:r>
          </a:p>
        </p:txBody>
      </p:sp>
    </p:spTree>
    <p:extLst>
      <p:ext uri="{BB962C8B-B14F-4D97-AF65-F5344CB8AC3E}">
        <p14:creationId xmlns:p14="http://schemas.microsoft.com/office/powerpoint/2010/main" val="2818146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p:txBody>
          <a:bodyPr/>
          <a:lstStyle/>
          <a:p>
            <a:r>
              <a:rPr lang="en-US" altLang="en-US" dirty="0"/>
              <a:t>Cisco Commands (1 of 3)</a:t>
            </a:r>
            <a:endParaRPr lang="en-IN" dirty="0"/>
          </a:p>
        </p:txBody>
      </p:sp>
      <p:graphicFrame>
        <p:nvGraphicFramePr>
          <p:cNvPr id="4" name="Table 5">
            <a:extLst>
              <a:ext uri="{FF2B5EF4-FFF2-40B4-BE49-F238E27FC236}">
                <a16:creationId xmlns:a16="http://schemas.microsoft.com/office/drawing/2014/main" id="{6DA86BD9-478C-4009-BE4C-8D07E5366191}"/>
              </a:ext>
            </a:extLst>
          </p:cNvPr>
          <p:cNvGraphicFramePr>
            <a:graphicFrameLocks noGrp="1"/>
          </p:cNvGraphicFramePr>
          <p:nvPr>
            <p:ph type="tbl" sz="quarter" idx="10"/>
            <p:extLst>
              <p:ext uri="{D42A27DB-BD31-4B8C-83A1-F6EECF244321}">
                <p14:modId xmlns:p14="http://schemas.microsoft.com/office/powerpoint/2010/main" val="1658753473"/>
              </p:ext>
            </p:extLst>
          </p:nvPr>
        </p:nvGraphicFramePr>
        <p:xfrm>
          <a:off x="1324304" y="1415603"/>
          <a:ext cx="9033641" cy="4423389"/>
        </p:xfrm>
        <a:graphic>
          <a:graphicData uri="http://schemas.openxmlformats.org/drawingml/2006/table">
            <a:tbl>
              <a:tblPr firstRow="1" bandRow="1">
                <a:tableStyleId>{5C22544A-7EE6-4342-B048-85BDC9FD1C3A}</a:tableStyleId>
              </a:tblPr>
              <a:tblGrid>
                <a:gridCol w="1860331">
                  <a:extLst>
                    <a:ext uri="{9D8B030D-6E8A-4147-A177-3AD203B41FA5}">
                      <a16:colId xmlns:a16="http://schemas.microsoft.com/office/drawing/2014/main" val="1639265852"/>
                    </a:ext>
                  </a:extLst>
                </a:gridCol>
                <a:gridCol w="1970689">
                  <a:extLst>
                    <a:ext uri="{9D8B030D-6E8A-4147-A177-3AD203B41FA5}">
                      <a16:colId xmlns:a16="http://schemas.microsoft.com/office/drawing/2014/main" val="971929380"/>
                    </a:ext>
                  </a:extLst>
                </a:gridCol>
                <a:gridCol w="1781504">
                  <a:extLst>
                    <a:ext uri="{9D8B030D-6E8A-4147-A177-3AD203B41FA5}">
                      <a16:colId xmlns:a16="http://schemas.microsoft.com/office/drawing/2014/main" val="741512427"/>
                    </a:ext>
                  </a:extLst>
                </a:gridCol>
                <a:gridCol w="3421117">
                  <a:extLst>
                    <a:ext uri="{9D8B030D-6E8A-4147-A177-3AD203B41FA5}">
                      <a16:colId xmlns:a16="http://schemas.microsoft.com/office/drawing/2014/main" val="1717579525"/>
                    </a:ext>
                  </a:extLst>
                </a:gridCol>
              </a:tblGrid>
              <a:tr h="400029">
                <a:tc>
                  <a:txBody>
                    <a:bodyPr/>
                    <a:lstStyle/>
                    <a:p>
                      <a:r>
                        <a:rPr lang="en-IN" dirty="0"/>
                        <a:t>Mode</a:t>
                      </a:r>
                    </a:p>
                  </a:txBody>
                  <a:tcPr/>
                </a:tc>
                <a:tc>
                  <a:txBody>
                    <a:bodyPr/>
                    <a:lstStyle/>
                    <a:p>
                      <a:r>
                        <a:rPr lang="en-IN" dirty="0"/>
                        <a:t>Command</a:t>
                      </a:r>
                    </a:p>
                  </a:txBody>
                  <a:tcPr/>
                </a:tc>
                <a:tc>
                  <a:txBody>
                    <a:bodyPr/>
                    <a:lstStyle/>
                    <a:p>
                      <a:r>
                        <a:rPr lang="en-IN" dirty="0"/>
                        <a:t>Prompt</a:t>
                      </a:r>
                    </a:p>
                  </a:txBody>
                  <a:tcPr/>
                </a:tc>
                <a:tc>
                  <a:txBody>
                    <a:bodyPr/>
                    <a:lstStyle/>
                    <a:p>
                      <a:r>
                        <a:rPr lang="en-IN" dirty="0"/>
                        <a:t>Description</a:t>
                      </a:r>
                    </a:p>
                  </a:txBody>
                  <a:tcPr/>
                </a:tc>
                <a:extLst>
                  <a:ext uri="{0D108BD9-81ED-4DB2-BD59-A6C34878D82A}">
                    <a16:rowId xmlns:a16="http://schemas.microsoft.com/office/drawing/2014/main" val="3469820820"/>
                  </a:ext>
                </a:extLst>
              </a:tr>
              <a:tr h="690461">
                <a:tc>
                  <a:txBody>
                    <a:bodyPr/>
                    <a:lstStyle/>
                    <a:p>
                      <a:r>
                        <a:rPr lang="en-IN" dirty="0"/>
                        <a:t>Privileged or user</a:t>
                      </a:r>
                    </a:p>
                  </a:txBody>
                  <a:tcPr/>
                </a:tc>
                <a:tc>
                  <a:txBody>
                    <a:bodyPr/>
                    <a:lstStyle/>
                    <a:p>
                      <a:r>
                        <a:rPr lang="en-IN" sz="1800" b="0" i="0" u="none" strike="noStrike" kern="1200" baseline="0" dirty="0">
                          <a:solidFill>
                            <a:schemeClr val="dk1"/>
                          </a:solidFill>
                          <a:latin typeface="CourierStd"/>
                          <a:ea typeface="+mn-ea"/>
                          <a:cs typeface="+mn-cs"/>
                        </a:rPr>
                        <a:t>show version</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 </a:t>
                      </a:r>
                      <a:r>
                        <a:rPr lang="en-IN" sz="1800" b="0" i="0" u="none" strike="noStrike" kern="1200" baseline="0" dirty="0">
                          <a:solidFill>
                            <a:schemeClr val="dk1"/>
                          </a:solidFill>
                          <a:latin typeface="+mn-lt"/>
                          <a:ea typeface="+mn-ea"/>
                          <a:cs typeface="+mn-cs"/>
                        </a:rPr>
                        <a:t>or</a:t>
                      </a:r>
                      <a:r>
                        <a:rPr lang="en-IN" sz="1800" b="0" i="0" u="none" strike="noStrike" kern="1200" baseline="0" dirty="0">
                          <a:solidFill>
                            <a:schemeClr val="dk1"/>
                          </a:solidFill>
                          <a:latin typeface="CourierStd"/>
                          <a:ea typeface="+mn-ea"/>
                          <a:cs typeface="+mn-cs"/>
                        </a:rPr>
                        <a:t> Router&gt;</a:t>
                      </a:r>
                      <a:endParaRPr lang="en-IN" dirty="0">
                        <a:latin typeface="CourierStd"/>
                      </a:endParaRPr>
                    </a:p>
                  </a:txBody>
                  <a:tcPr/>
                </a:tc>
                <a:tc>
                  <a:txBody>
                    <a:bodyPr/>
                    <a:lstStyle/>
                    <a:p>
                      <a:r>
                        <a:rPr lang="en-IN" sz="1800" b="0" i="0" u="none" strike="noStrike" kern="1200" baseline="0" dirty="0">
                          <a:solidFill>
                            <a:schemeClr val="dk1"/>
                          </a:solidFill>
                          <a:latin typeface="+mn-lt"/>
                          <a:ea typeface="+mn-ea"/>
                          <a:cs typeface="+mn-cs"/>
                        </a:rPr>
                        <a:t>Displays the router’s version</a:t>
                      </a:r>
                    </a:p>
                    <a:p>
                      <a:r>
                        <a:rPr lang="en-IN" sz="1800" b="0" i="0" u="none" strike="noStrike" kern="1200" baseline="0" dirty="0">
                          <a:solidFill>
                            <a:schemeClr val="dk1"/>
                          </a:solidFill>
                          <a:latin typeface="+mn-lt"/>
                          <a:ea typeface="+mn-ea"/>
                          <a:cs typeface="+mn-cs"/>
                        </a:rPr>
                        <a:t>information, including the IOS version number</a:t>
                      </a:r>
                      <a:endParaRPr lang="en-IN" dirty="0"/>
                    </a:p>
                  </a:txBody>
                  <a:tcPr/>
                </a:tc>
                <a:extLst>
                  <a:ext uri="{0D108BD9-81ED-4DB2-BD59-A6C34878D82A}">
                    <a16:rowId xmlns:a16="http://schemas.microsoft.com/office/drawing/2014/main" val="899532003"/>
                  </a:ext>
                </a:extLst>
              </a:tr>
              <a:tr h="400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Privileged or user</a:t>
                      </a:r>
                    </a:p>
                    <a:p>
                      <a:endParaRPr lang="en-IN" dirty="0"/>
                    </a:p>
                  </a:txBody>
                  <a:tcPr/>
                </a:tc>
                <a:tc>
                  <a:txBody>
                    <a:bodyPr/>
                    <a:lstStyle/>
                    <a:p>
                      <a:r>
                        <a:rPr lang="en-IN" sz="1800" b="0" i="0" u="none" strike="noStrike" kern="1200" baseline="0" dirty="0">
                          <a:solidFill>
                            <a:schemeClr val="dk1"/>
                          </a:solidFill>
                          <a:latin typeface="CourierStd"/>
                          <a:ea typeface="+mn-ea"/>
                          <a:cs typeface="+mn-cs"/>
                        </a:rPr>
                        <a:t>show ip route</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 </a:t>
                      </a:r>
                      <a:r>
                        <a:rPr lang="en-IN" sz="1800" b="0" i="0" u="none" strike="noStrike" kern="1200" baseline="0" dirty="0">
                          <a:solidFill>
                            <a:schemeClr val="dk1"/>
                          </a:solidFill>
                          <a:latin typeface="+mn-lt"/>
                          <a:ea typeface="+mn-ea"/>
                          <a:cs typeface="+mn-cs"/>
                        </a:rPr>
                        <a:t>or</a:t>
                      </a:r>
                      <a:r>
                        <a:rPr lang="en-IN" sz="1800" b="0" i="0" u="none" strike="noStrike" kern="1200" baseline="0" dirty="0">
                          <a:solidFill>
                            <a:schemeClr val="dk1"/>
                          </a:solidFill>
                          <a:latin typeface="CourierStd"/>
                          <a:ea typeface="+mn-ea"/>
                          <a:cs typeface="+mn-cs"/>
                        </a:rPr>
                        <a:t> Router&gt;</a:t>
                      </a:r>
                      <a:endParaRPr lang="en-IN" dirty="0">
                        <a:latin typeface="CourierStd"/>
                      </a:endParaRPr>
                    </a:p>
                  </a:txBody>
                  <a:tcPr/>
                </a:tc>
                <a:tc>
                  <a:txBody>
                    <a:bodyPr/>
                    <a:lstStyle/>
                    <a:p>
                      <a:r>
                        <a:rPr lang="en-IN" sz="1800" b="0" i="0" u="none" strike="noStrike" kern="1200" baseline="0" dirty="0">
                          <a:solidFill>
                            <a:schemeClr val="dk1"/>
                          </a:solidFill>
                          <a:latin typeface="+mn-lt"/>
                          <a:ea typeface="+mn-ea"/>
                          <a:cs typeface="+mn-cs"/>
                        </a:rPr>
                        <a:t>Displays the router’s routing</a:t>
                      </a:r>
                    </a:p>
                    <a:p>
                      <a:r>
                        <a:rPr lang="en-IN" sz="1800" b="0" i="0" u="none" strike="noStrike" kern="1200" baseline="0" dirty="0">
                          <a:solidFill>
                            <a:schemeClr val="dk1"/>
                          </a:solidFill>
                          <a:latin typeface="+mn-lt"/>
                          <a:ea typeface="+mn-ea"/>
                          <a:cs typeface="+mn-cs"/>
                        </a:rPr>
                        <a:t>table</a:t>
                      </a:r>
                      <a:endParaRPr lang="en-IN" dirty="0"/>
                    </a:p>
                  </a:txBody>
                  <a:tcPr/>
                </a:tc>
                <a:extLst>
                  <a:ext uri="{0D108BD9-81ED-4DB2-BD59-A6C34878D82A}">
                    <a16:rowId xmlns:a16="http://schemas.microsoft.com/office/drawing/2014/main" val="1305611752"/>
                  </a:ext>
                </a:extLst>
              </a:tr>
              <a:tr h="400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Privileged or user</a:t>
                      </a:r>
                    </a:p>
                    <a:p>
                      <a:endParaRPr lang="en-IN" dirty="0"/>
                    </a:p>
                  </a:txBody>
                  <a:tcPr/>
                </a:tc>
                <a:tc>
                  <a:txBody>
                    <a:bodyPr/>
                    <a:lstStyle/>
                    <a:p>
                      <a:r>
                        <a:rPr lang="en-IN" sz="1800" b="0" i="0" u="none" strike="noStrike" kern="1200" baseline="0" dirty="0">
                          <a:solidFill>
                            <a:schemeClr val="dk1"/>
                          </a:solidFill>
                          <a:latin typeface="CourierStd"/>
                          <a:ea typeface="+mn-ea"/>
                          <a:cs typeface="+mn-cs"/>
                        </a:rPr>
                        <a:t>show interfaces</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 </a:t>
                      </a:r>
                      <a:r>
                        <a:rPr lang="en-IN" sz="1800" b="0" i="0" u="none" strike="noStrike" kern="1200" baseline="0" dirty="0">
                          <a:solidFill>
                            <a:schemeClr val="dk1"/>
                          </a:solidFill>
                          <a:latin typeface="+mn-lt"/>
                          <a:ea typeface="+mn-ea"/>
                          <a:cs typeface="+mn-cs"/>
                        </a:rPr>
                        <a:t>or</a:t>
                      </a:r>
                      <a:r>
                        <a:rPr lang="en-IN" sz="1800" b="0" i="0" u="none" strike="noStrike" kern="1200" baseline="0" dirty="0">
                          <a:solidFill>
                            <a:schemeClr val="dk1"/>
                          </a:solidFill>
                          <a:latin typeface="CourierStd"/>
                          <a:ea typeface="+mn-ea"/>
                          <a:cs typeface="+mn-cs"/>
                        </a:rPr>
                        <a:t> Router&gt;</a:t>
                      </a:r>
                      <a:endParaRPr lang="en-IN" dirty="0">
                        <a:latin typeface="CourierStd"/>
                      </a:endParaRPr>
                    </a:p>
                  </a:txBody>
                  <a:tcPr/>
                </a:tc>
                <a:tc>
                  <a:txBody>
                    <a:bodyPr/>
                    <a:lstStyle/>
                    <a:p>
                      <a:r>
                        <a:rPr lang="en-IN" sz="1800" b="0" i="0" u="none" strike="noStrike" kern="1200" baseline="0" dirty="0">
                          <a:solidFill>
                            <a:schemeClr val="dk1"/>
                          </a:solidFill>
                          <a:latin typeface="+mn-lt"/>
                          <a:ea typeface="+mn-ea"/>
                          <a:cs typeface="+mn-cs"/>
                        </a:rPr>
                        <a:t>Lists configuration information </a:t>
                      </a:r>
                      <a:r>
                        <a:rPr lang="en-US" sz="1800" b="0" i="0" u="none" strike="noStrike" kern="1200" baseline="0" dirty="0">
                          <a:solidFill>
                            <a:schemeClr val="dk1"/>
                          </a:solidFill>
                          <a:latin typeface="+mn-lt"/>
                          <a:ea typeface="+mn-ea"/>
                          <a:cs typeface="+mn-cs"/>
                        </a:rPr>
                        <a:t>and statistics for all interfaces </a:t>
                      </a:r>
                      <a:r>
                        <a:rPr lang="en-IN" sz="1800" b="0" i="0" u="none" strike="noStrike" kern="1200" baseline="0" dirty="0">
                          <a:solidFill>
                            <a:schemeClr val="dk1"/>
                          </a:solidFill>
                          <a:latin typeface="+mn-lt"/>
                          <a:ea typeface="+mn-ea"/>
                          <a:cs typeface="+mn-cs"/>
                        </a:rPr>
                        <a:t>on the router</a:t>
                      </a:r>
                      <a:endParaRPr lang="en-IN" dirty="0"/>
                    </a:p>
                  </a:txBody>
                  <a:tcPr/>
                </a:tc>
                <a:extLst>
                  <a:ext uri="{0D108BD9-81ED-4DB2-BD59-A6C34878D82A}">
                    <a16:rowId xmlns:a16="http://schemas.microsoft.com/office/drawing/2014/main" val="2025464944"/>
                  </a:ext>
                </a:extLst>
              </a:tr>
              <a:tr h="400029">
                <a:tc>
                  <a:txBody>
                    <a:bodyPr/>
                    <a:lstStyle/>
                    <a:p>
                      <a:r>
                        <a:rPr lang="en-IN" sz="1800" b="0" i="0" u="none" strike="noStrike" kern="1200" baseline="0" dirty="0">
                          <a:solidFill>
                            <a:schemeClr val="dk1"/>
                          </a:solidFill>
                          <a:latin typeface="+mn-lt"/>
                          <a:ea typeface="+mn-ea"/>
                          <a:cs typeface="+mn-cs"/>
                        </a:rPr>
                        <a:t>Privileged or user</a:t>
                      </a:r>
                      <a:endParaRPr lang="en-IN" dirty="0"/>
                    </a:p>
                  </a:txBody>
                  <a:tcPr/>
                </a:tc>
                <a:tc>
                  <a:txBody>
                    <a:bodyPr/>
                    <a:lstStyle/>
                    <a:p>
                      <a:r>
                        <a:rPr lang="en-IN" sz="1800" b="0" i="0" u="none" strike="noStrike" kern="1200" baseline="0" dirty="0">
                          <a:solidFill>
                            <a:schemeClr val="dk1"/>
                          </a:solidFill>
                          <a:latin typeface="CourierStd"/>
                          <a:ea typeface="+mn-ea"/>
                          <a:cs typeface="+mn-cs"/>
                        </a:rPr>
                        <a:t>show flash</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 </a:t>
                      </a:r>
                      <a:r>
                        <a:rPr lang="en-IN" sz="1800" b="0" i="0" u="none" strike="noStrike" kern="1200" baseline="0" dirty="0">
                          <a:solidFill>
                            <a:schemeClr val="dk1"/>
                          </a:solidFill>
                          <a:latin typeface="+mn-lt"/>
                          <a:ea typeface="+mn-ea"/>
                          <a:cs typeface="+mn-cs"/>
                        </a:rPr>
                        <a:t>or</a:t>
                      </a:r>
                      <a:r>
                        <a:rPr lang="en-IN" sz="1800" b="0" i="0" u="none" strike="noStrike" kern="1200" baseline="0" dirty="0">
                          <a:solidFill>
                            <a:schemeClr val="dk1"/>
                          </a:solidFill>
                          <a:latin typeface="CourierStd"/>
                          <a:ea typeface="+mn-ea"/>
                          <a:cs typeface="+mn-cs"/>
                        </a:rPr>
                        <a:t> Router&gt;</a:t>
                      </a:r>
                      <a:endParaRPr lang="en-IN" dirty="0">
                        <a:latin typeface="CourierStd"/>
                      </a:endParaRPr>
                    </a:p>
                  </a:txBody>
                  <a:tcPr/>
                </a:tc>
                <a:tc>
                  <a:txBody>
                    <a:bodyPr/>
                    <a:lstStyle/>
                    <a:p>
                      <a:r>
                        <a:rPr lang="en-US" sz="1800" b="0" i="0" u="none" strike="noStrike" kern="1200" baseline="0" dirty="0">
                          <a:solidFill>
                            <a:schemeClr val="dk1"/>
                          </a:solidFill>
                          <a:latin typeface="+mn-lt"/>
                          <a:ea typeface="+mn-ea"/>
                          <a:cs typeface="+mn-cs"/>
                        </a:rPr>
                        <a:t>Shows the contents of flash</a:t>
                      </a:r>
                    </a:p>
                    <a:p>
                      <a:r>
                        <a:rPr lang="en-US" sz="1800" b="0" i="0" u="none" strike="noStrike" kern="1200" baseline="0" dirty="0">
                          <a:solidFill>
                            <a:schemeClr val="dk1"/>
                          </a:solidFill>
                          <a:latin typeface="+mn-lt"/>
                          <a:ea typeface="+mn-ea"/>
                          <a:cs typeface="+mn-cs"/>
                        </a:rPr>
                        <a:t>memory and the amount of</a:t>
                      </a:r>
                    </a:p>
                    <a:p>
                      <a:r>
                        <a:rPr lang="en-IN" sz="1800" b="0" i="0" u="none" strike="noStrike" kern="1200" baseline="0" dirty="0">
                          <a:solidFill>
                            <a:schemeClr val="dk1"/>
                          </a:solidFill>
                          <a:latin typeface="+mn-lt"/>
                          <a:ea typeface="+mn-ea"/>
                          <a:cs typeface="+mn-cs"/>
                        </a:rPr>
                        <a:t>memory used and available</a:t>
                      </a:r>
                      <a:endParaRPr lang="en-IN" dirty="0"/>
                    </a:p>
                  </a:txBody>
                  <a:tcPr/>
                </a:tc>
                <a:extLst>
                  <a:ext uri="{0D108BD9-81ED-4DB2-BD59-A6C34878D82A}">
                    <a16:rowId xmlns:a16="http://schemas.microsoft.com/office/drawing/2014/main" val="2197674216"/>
                  </a:ext>
                </a:extLst>
              </a:tr>
              <a:tr h="400029">
                <a:tc>
                  <a:txBody>
                    <a:bodyPr/>
                    <a:lstStyle/>
                    <a:p>
                      <a:r>
                        <a:rPr lang="en-IN" sz="1800" b="0" i="0" u="none" strike="noStrike" kern="1200" baseline="0" dirty="0">
                          <a:solidFill>
                            <a:schemeClr val="dk1"/>
                          </a:solidFill>
                          <a:latin typeface="+mn-lt"/>
                          <a:ea typeface="+mn-ea"/>
                          <a:cs typeface="+mn-cs"/>
                        </a:rPr>
                        <a:t>Privileged</a:t>
                      </a:r>
                      <a:endParaRPr lang="en-IN" dirty="0"/>
                    </a:p>
                  </a:txBody>
                  <a:tcPr/>
                </a:tc>
                <a:tc>
                  <a:txBody>
                    <a:bodyPr/>
                    <a:lstStyle/>
                    <a:p>
                      <a:r>
                        <a:rPr lang="en-IN" sz="1800" b="0" i="0" u="none" strike="noStrike" kern="1200" baseline="0" dirty="0">
                          <a:solidFill>
                            <a:schemeClr val="dk1"/>
                          </a:solidFill>
                          <a:latin typeface="CourierStd"/>
                          <a:ea typeface="+mn-ea"/>
                          <a:cs typeface="+mn-cs"/>
                        </a:rPr>
                        <a:t>show running-config</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a:t>
                      </a:r>
                      <a:endParaRPr lang="en-IN" dirty="0">
                        <a:latin typeface="CourierStd"/>
                      </a:endParaRPr>
                    </a:p>
                  </a:txBody>
                  <a:tcPr/>
                </a:tc>
                <a:tc>
                  <a:txBody>
                    <a:bodyPr/>
                    <a:lstStyle/>
                    <a:p>
                      <a:r>
                        <a:rPr lang="en-IN" sz="1800" b="0" i="0" u="none" strike="noStrike" kern="1200" baseline="0" dirty="0">
                          <a:solidFill>
                            <a:schemeClr val="dk1"/>
                          </a:solidFill>
                          <a:latin typeface="+mn-lt"/>
                          <a:ea typeface="+mn-ea"/>
                          <a:cs typeface="+mn-cs"/>
                        </a:rPr>
                        <a:t>Displays the currently running</a:t>
                      </a:r>
                    </a:p>
                    <a:p>
                      <a:r>
                        <a:rPr lang="en-IN" sz="1800" b="0" i="0" u="none" strike="noStrike" kern="1200" baseline="0" dirty="0">
                          <a:solidFill>
                            <a:schemeClr val="dk1"/>
                          </a:solidFill>
                          <a:latin typeface="+mn-lt"/>
                          <a:ea typeface="+mn-ea"/>
                          <a:cs typeface="+mn-cs"/>
                        </a:rPr>
                        <a:t>router configuration file</a:t>
                      </a:r>
                      <a:endParaRPr lang="en-IN" dirty="0"/>
                    </a:p>
                  </a:txBody>
                  <a:tcPr/>
                </a:tc>
                <a:extLst>
                  <a:ext uri="{0D108BD9-81ED-4DB2-BD59-A6C34878D82A}">
                    <a16:rowId xmlns:a16="http://schemas.microsoft.com/office/drawing/2014/main" val="1253817626"/>
                  </a:ext>
                </a:extLst>
              </a:tr>
            </a:tbl>
          </a:graphicData>
        </a:graphic>
      </p:graphicFrame>
    </p:spTree>
    <p:extLst>
      <p:ext uri="{BB962C8B-B14F-4D97-AF65-F5344CB8AC3E}">
        <p14:creationId xmlns:p14="http://schemas.microsoft.com/office/powerpoint/2010/main" val="3997232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p:txBody>
          <a:bodyPr/>
          <a:lstStyle/>
          <a:p>
            <a:r>
              <a:rPr lang="en-US" altLang="en-US" dirty="0"/>
              <a:t>Cisco Commands (2 of 3)</a:t>
            </a:r>
            <a:endParaRPr lang="en-IN" dirty="0"/>
          </a:p>
        </p:txBody>
      </p:sp>
      <p:graphicFrame>
        <p:nvGraphicFramePr>
          <p:cNvPr id="4" name="Table 5">
            <a:extLst>
              <a:ext uri="{FF2B5EF4-FFF2-40B4-BE49-F238E27FC236}">
                <a16:creationId xmlns:a16="http://schemas.microsoft.com/office/drawing/2014/main" id="{6DA86BD9-478C-4009-BE4C-8D07E5366191}"/>
              </a:ext>
            </a:extLst>
          </p:cNvPr>
          <p:cNvGraphicFramePr>
            <a:graphicFrameLocks noGrp="1"/>
          </p:cNvGraphicFramePr>
          <p:nvPr>
            <p:ph type="tbl" sz="quarter" idx="10"/>
            <p:extLst>
              <p:ext uri="{D42A27DB-BD31-4B8C-83A1-F6EECF244321}">
                <p14:modId xmlns:p14="http://schemas.microsoft.com/office/powerpoint/2010/main" val="693399219"/>
              </p:ext>
            </p:extLst>
          </p:nvPr>
        </p:nvGraphicFramePr>
        <p:xfrm>
          <a:off x="1200806" y="1037230"/>
          <a:ext cx="8936421" cy="4990887"/>
        </p:xfrm>
        <a:graphic>
          <a:graphicData uri="http://schemas.openxmlformats.org/drawingml/2006/table">
            <a:tbl>
              <a:tblPr firstRow="1" bandRow="1">
                <a:tableStyleId>{5C22544A-7EE6-4342-B048-85BDC9FD1C3A}</a:tableStyleId>
              </a:tblPr>
              <a:tblGrid>
                <a:gridCol w="1594132">
                  <a:extLst>
                    <a:ext uri="{9D8B030D-6E8A-4147-A177-3AD203B41FA5}">
                      <a16:colId xmlns:a16="http://schemas.microsoft.com/office/drawing/2014/main" val="1639265852"/>
                    </a:ext>
                  </a:extLst>
                </a:gridCol>
                <a:gridCol w="2348347">
                  <a:extLst>
                    <a:ext uri="{9D8B030D-6E8A-4147-A177-3AD203B41FA5}">
                      <a16:colId xmlns:a16="http://schemas.microsoft.com/office/drawing/2014/main" val="971929380"/>
                    </a:ext>
                  </a:extLst>
                </a:gridCol>
                <a:gridCol w="1430934">
                  <a:extLst>
                    <a:ext uri="{9D8B030D-6E8A-4147-A177-3AD203B41FA5}">
                      <a16:colId xmlns:a16="http://schemas.microsoft.com/office/drawing/2014/main" val="741512427"/>
                    </a:ext>
                  </a:extLst>
                </a:gridCol>
                <a:gridCol w="3563008">
                  <a:extLst>
                    <a:ext uri="{9D8B030D-6E8A-4147-A177-3AD203B41FA5}">
                      <a16:colId xmlns:a16="http://schemas.microsoft.com/office/drawing/2014/main" val="1717579525"/>
                    </a:ext>
                  </a:extLst>
                </a:gridCol>
              </a:tblGrid>
              <a:tr h="388465">
                <a:tc>
                  <a:txBody>
                    <a:bodyPr/>
                    <a:lstStyle/>
                    <a:p>
                      <a:r>
                        <a:rPr lang="en-IN" dirty="0"/>
                        <a:t>Mode</a:t>
                      </a:r>
                    </a:p>
                  </a:txBody>
                  <a:tcPr/>
                </a:tc>
                <a:tc>
                  <a:txBody>
                    <a:bodyPr/>
                    <a:lstStyle/>
                    <a:p>
                      <a:r>
                        <a:rPr lang="en-IN" dirty="0"/>
                        <a:t>Command</a:t>
                      </a:r>
                    </a:p>
                  </a:txBody>
                  <a:tcPr/>
                </a:tc>
                <a:tc>
                  <a:txBody>
                    <a:bodyPr/>
                    <a:lstStyle/>
                    <a:p>
                      <a:r>
                        <a:rPr lang="en-IN" dirty="0"/>
                        <a:t>Prompt</a:t>
                      </a:r>
                    </a:p>
                  </a:txBody>
                  <a:tcPr/>
                </a:tc>
                <a:tc>
                  <a:txBody>
                    <a:bodyPr/>
                    <a:lstStyle/>
                    <a:p>
                      <a:r>
                        <a:rPr lang="en-IN" dirty="0"/>
                        <a:t>Description</a:t>
                      </a:r>
                    </a:p>
                  </a:txBody>
                  <a:tcPr/>
                </a:tc>
                <a:extLst>
                  <a:ext uri="{0D108BD9-81ED-4DB2-BD59-A6C34878D82A}">
                    <a16:rowId xmlns:a16="http://schemas.microsoft.com/office/drawing/2014/main" val="3469820820"/>
                  </a:ext>
                </a:extLst>
              </a:tr>
              <a:tr h="670502">
                <a:tc>
                  <a:txBody>
                    <a:bodyPr/>
                    <a:lstStyle/>
                    <a:p>
                      <a:r>
                        <a:rPr lang="en-IN" sz="1800" b="0" i="0" u="none" strike="noStrike" kern="1200" baseline="0" dirty="0">
                          <a:solidFill>
                            <a:schemeClr val="dk1"/>
                          </a:solidFill>
                          <a:latin typeface="+mn-lt"/>
                          <a:ea typeface="+mn-ea"/>
                          <a:cs typeface="+mn-cs"/>
                        </a:rPr>
                        <a:t>Privileged</a:t>
                      </a:r>
                      <a:endParaRPr lang="en-IN" dirty="0"/>
                    </a:p>
                  </a:txBody>
                  <a:tcPr/>
                </a:tc>
                <a:tc>
                  <a:txBody>
                    <a:bodyPr/>
                    <a:lstStyle/>
                    <a:p>
                      <a:r>
                        <a:rPr lang="en-IN" sz="1800" b="0" i="0" u="none" strike="noStrike" kern="1200" baseline="0" dirty="0">
                          <a:solidFill>
                            <a:schemeClr val="dk1"/>
                          </a:solidFill>
                          <a:latin typeface="CourierStd"/>
                          <a:ea typeface="+mn-ea"/>
                          <a:cs typeface="+mn-cs"/>
                        </a:rPr>
                        <a:t>show running-config</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a:t>
                      </a:r>
                      <a:endParaRPr lang="en-IN" dirty="0">
                        <a:latin typeface="CourierStd"/>
                      </a:endParaRPr>
                    </a:p>
                  </a:txBody>
                  <a:tcPr/>
                </a:tc>
                <a:tc>
                  <a:txBody>
                    <a:bodyPr/>
                    <a:lstStyle/>
                    <a:p>
                      <a:r>
                        <a:rPr lang="en-IN" sz="1800" b="0" i="0" u="none" strike="noStrike" kern="1200" baseline="0" dirty="0">
                          <a:solidFill>
                            <a:schemeClr val="dk1"/>
                          </a:solidFill>
                          <a:latin typeface="+mn-lt"/>
                          <a:ea typeface="+mn-ea"/>
                          <a:cs typeface="+mn-cs"/>
                        </a:rPr>
                        <a:t>Displays the currently running</a:t>
                      </a:r>
                    </a:p>
                    <a:p>
                      <a:r>
                        <a:rPr lang="en-IN" sz="1800" b="0" i="0" u="none" strike="noStrike" kern="1200" baseline="0" dirty="0">
                          <a:solidFill>
                            <a:schemeClr val="dk1"/>
                          </a:solidFill>
                          <a:latin typeface="+mn-lt"/>
                          <a:ea typeface="+mn-ea"/>
                          <a:cs typeface="+mn-cs"/>
                        </a:rPr>
                        <a:t>router configuration file</a:t>
                      </a:r>
                      <a:endParaRPr lang="en-IN" dirty="0"/>
                    </a:p>
                  </a:txBody>
                  <a:tcPr/>
                </a:tc>
                <a:extLst>
                  <a:ext uri="{0D108BD9-81ED-4DB2-BD59-A6C34878D82A}">
                    <a16:rowId xmlns:a16="http://schemas.microsoft.com/office/drawing/2014/main" val="899532003"/>
                  </a:ext>
                </a:extLst>
              </a:tr>
              <a:tr h="6215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11892"/>
                          </a:solidFill>
                          <a:effectLst/>
                          <a:uLnTx/>
                          <a:uFillTx/>
                          <a:latin typeface="Calibri" panose="020F0502020204030204"/>
                          <a:ea typeface="+mn-ea"/>
                          <a:cs typeface="+mn-cs"/>
                        </a:rPr>
                        <a:t>Privileged</a:t>
                      </a:r>
                    </a:p>
                  </a:txBody>
                  <a:tcPr/>
                </a:tc>
                <a:tc>
                  <a:txBody>
                    <a:bodyPr/>
                    <a:lstStyle/>
                    <a:p>
                      <a:r>
                        <a:rPr lang="en-IN" sz="1800" b="0" i="0" u="none" strike="noStrike" kern="1200" baseline="0" dirty="0">
                          <a:solidFill>
                            <a:schemeClr val="dk1"/>
                          </a:solidFill>
                          <a:latin typeface="CourierStd"/>
                          <a:ea typeface="+mn-ea"/>
                          <a:cs typeface="+mn-cs"/>
                        </a:rPr>
                        <a:t>show startup-config</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a:t>
                      </a:r>
                      <a:endParaRPr lang="en-IN" dirty="0">
                        <a:latin typeface="CourierStd"/>
                      </a:endParaRPr>
                    </a:p>
                  </a:txBody>
                  <a:tcPr/>
                </a:tc>
                <a:tc>
                  <a:txBody>
                    <a:bodyPr/>
                    <a:lstStyle/>
                    <a:p>
                      <a:r>
                        <a:rPr lang="en-IN" sz="1800" b="0" i="0" u="none" strike="noStrike" kern="1200" baseline="0" dirty="0">
                          <a:solidFill>
                            <a:schemeClr val="dk1"/>
                          </a:solidFill>
                          <a:latin typeface="+mn-lt"/>
                          <a:ea typeface="+mn-ea"/>
                          <a:cs typeface="+mn-cs"/>
                        </a:rPr>
                        <a:t>Displays the contents of</a:t>
                      </a:r>
                    </a:p>
                    <a:p>
                      <a:r>
                        <a:rPr lang="en-IN" sz="1800" b="0" i="0" u="none" strike="noStrike" kern="1200" baseline="0" dirty="0">
                          <a:solidFill>
                            <a:schemeClr val="dk1"/>
                          </a:solidFill>
                          <a:latin typeface="+mn-lt"/>
                          <a:ea typeface="+mn-ea"/>
                          <a:cs typeface="+mn-cs"/>
                        </a:rPr>
                        <a:t>NVRAM</a:t>
                      </a:r>
                      <a:endParaRPr lang="en-IN" dirty="0"/>
                    </a:p>
                  </a:txBody>
                  <a:tcPr/>
                </a:tc>
                <a:extLst>
                  <a:ext uri="{0D108BD9-81ED-4DB2-BD59-A6C34878D82A}">
                    <a16:rowId xmlns:a16="http://schemas.microsoft.com/office/drawing/2014/main" val="1305611752"/>
                  </a:ext>
                </a:extLst>
              </a:tr>
              <a:tr h="14207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11892"/>
                          </a:solidFill>
                          <a:effectLst/>
                          <a:uLnTx/>
                          <a:uFillTx/>
                          <a:latin typeface="Calibri" panose="020F0502020204030204"/>
                          <a:ea typeface="+mn-ea"/>
                          <a:cs typeface="+mn-cs"/>
                        </a:rPr>
                        <a:t>Privileged</a:t>
                      </a:r>
                    </a:p>
                  </a:txBody>
                  <a:tcPr/>
                </a:tc>
                <a:tc>
                  <a:txBody>
                    <a:bodyPr/>
                    <a:lstStyle/>
                    <a:p>
                      <a:r>
                        <a:rPr lang="en-IN" sz="1800" b="0" i="0" u="none" strike="noStrike" kern="1200" baseline="0" dirty="0">
                          <a:solidFill>
                            <a:schemeClr val="dk1"/>
                          </a:solidFill>
                          <a:latin typeface="CourierStd"/>
                          <a:ea typeface="+mn-ea"/>
                          <a:cs typeface="+mn-cs"/>
                        </a:rPr>
                        <a:t>copy running-config</a:t>
                      </a:r>
                    </a:p>
                    <a:p>
                      <a:r>
                        <a:rPr lang="en-IN" sz="1800" b="0" i="0" u="none" strike="noStrike" kern="1200" baseline="0" dirty="0">
                          <a:solidFill>
                            <a:schemeClr val="dk1"/>
                          </a:solidFill>
                          <a:latin typeface="CourierStd"/>
                          <a:ea typeface="+mn-ea"/>
                          <a:cs typeface="+mn-cs"/>
                        </a:rPr>
                        <a:t>startup-config</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a:t>
                      </a:r>
                      <a:endParaRPr lang="en-IN" dirty="0">
                        <a:latin typeface="CourierStd"/>
                      </a:endParaRPr>
                    </a:p>
                  </a:txBody>
                  <a:tcPr/>
                </a:tc>
                <a:tc>
                  <a:txBody>
                    <a:bodyPr/>
                    <a:lstStyle/>
                    <a:p>
                      <a:r>
                        <a:rPr lang="en-IN" sz="1800" b="0" i="0" u="none" strike="noStrike" kern="1200" baseline="0" dirty="0">
                          <a:solidFill>
                            <a:schemeClr val="dk1"/>
                          </a:solidFill>
                          <a:latin typeface="+mn-lt"/>
                          <a:ea typeface="+mn-ea"/>
                          <a:cs typeface="+mn-cs"/>
                        </a:rPr>
                        <a:t>Copies the running</a:t>
                      </a:r>
                    </a:p>
                    <a:p>
                      <a:r>
                        <a:rPr lang="en-IN" sz="1800" b="0" i="0" u="none" strike="noStrike" kern="1200" baseline="0" dirty="0">
                          <a:solidFill>
                            <a:schemeClr val="dk1"/>
                          </a:solidFill>
                          <a:latin typeface="+mn-lt"/>
                          <a:ea typeface="+mn-ea"/>
                          <a:cs typeface="+mn-cs"/>
                        </a:rPr>
                        <a:t>configuration to NVRAM so</a:t>
                      </a:r>
                    </a:p>
                    <a:p>
                      <a:r>
                        <a:rPr lang="en-US" sz="1800" b="0" i="0" u="none" strike="noStrike" kern="1200" baseline="0" dirty="0">
                          <a:solidFill>
                            <a:schemeClr val="dk1"/>
                          </a:solidFill>
                          <a:latin typeface="+mn-lt"/>
                          <a:ea typeface="+mn-ea"/>
                          <a:cs typeface="+mn-cs"/>
                        </a:rPr>
                        <a:t>that changes made are carried</a:t>
                      </a:r>
                    </a:p>
                    <a:p>
                      <a:r>
                        <a:rPr lang="en-US" sz="1800" b="0" i="0" u="none" strike="noStrike" kern="1200" baseline="0" dirty="0">
                          <a:solidFill>
                            <a:schemeClr val="dk1"/>
                          </a:solidFill>
                          <a:latin typeface="+mn-lt"/>
                          <a:ea typeface="+mn-ea"/>
                          <a:cs typeface="+mn-cs"/>
                        </a:rPr>
                        <a:t>out the next time the router is</a:t>
                      </a:r>
                    </a:p>
                    <a:p>
                      <a:r>
                        <a:rPr lang="en-IN" sz="1800" b="0" i="0" u="none" strike="noStrike" kern="1200" baseline="0" dirty="0">
                          <a:solidFill>
                            <a:schemeClr val="dk1"/>
                          </a:solidFill>
                          <a:latin typeface="+mn-lt"/>
                          <a:ea typeface="+mn-ea"/>
                          <a:cs typeface="+mn-cs"/>
                        </a:rPr>
                        <a:t>started</a:t>
                      </a:r>
                      <a:endParaRPr lang="en-IN" dirty="0"/>
                    </a:p>
                  </a:txBody>
                  <a:tcPr/>
                </a:tc>
                <a:extLst>
                  <a:ext uri="{0D108BD9-81ED-4DB2-BD59-A6C34878D82A}">
                    <a16:rowId xmlns:a16="http://schemas.microsoft.com/office/drawing/2014/main" val="2025464944"/>
                  </a:ext>
                </a:extLst>
              </a:tr>
              <a:tr h="8879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11892"/>
                          </a:solidFill>
                          <a:effectLst/>
                          <a:uLnTx/>
                          <a:uFillTx/>
                          <a:latin typeface="Calibri" panose="020F0502020204030204"/>
                          <a:ea typeface="+mn-ea"/>
                          <a:cs typeface="+mn-cs"/>
                        </a:rPr>
                        <a:t>Privileged</a:t>
                      </a:r>
                    </a:p>
                  </a:txBody>
                  <a:tcPr/>
                </a:tc>
                <a:tc>
                  <a:txBody>
                    <a:bodyPr/>
                    <a:lstStyle/>
                    <a:p>
                      <a:r>
                        <a:rPr lang="en-IN" sz="1800" b="0" i="0" u="none" strike="noStrike" kern="1200" baseline="0" dirty="0">
                          <a:solidFill>
                            <a:schemeClr val="dk1"/>
                          </a:solidFill>
                          <a:latin typeface="CourierStd"/>
                          <a:ea typeface="+mn-ea"/>
                          <a:cs typeface="+mn-cs"/>
                        </a:rPr>
                        <a:t>copy startup-config</a:t>
                      </a:r>
                    </a:p>
                    <a:p>
                      <a:r>
                        <a:rPr lang="en-IN" sz="1800" b="0" i="0" u="none" strike="noStrike" kern="1200" baseline="0" dirty="0">
                          <a:solidFill>
                            <a:schemeClr val="dk1"/>
                          </a:solidFill>
                          <a:latin typeface="CourierStd"/>
                          <a:ea typeface="+mn-ea"/>
                          <a:cs typeface="+mn-cs"/>
                        </a:rPr>
                        <a:t>running-config</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a:t>
                      </a:r>
                      <a:endParaRPr lang="en-IN" dirty="0">
                        <a:latin typeface="CourierStd"/>
                      </a:endParaRPr>
                    </a:p>
                  </a:txBody>
                  <a:tcPr/>
                </a:tc>
                <a:tc>
                  <a:txBody>
                    <a:bodyPr/>
                    <a:lstStyle/>
                    <a:p>
                      <a:r>
                        <a:rPr lang="en-IN" sz="1800" b="0" i="0" u="none" strike="noStrike" kern="1200" baseline="0" dirty="0">
                          <a:solidFill>
                            <a:schemeClr val="dk1"/>
                          </a:solidFill>
                          <a:latin typeface="+mn-lt"/>
                          <a:ea typeface="+mn-ea"/>
                          <a:cs typeface="+mn-cs"/>
                        </a:rPr>
                        <a:t>Copies the startup</a:t>
                      </a:r>
                    </a:p>
                    <a:p>
                      <a:r>
                        <a:rPr lang="en-IN" sz="1800" b="0" i="0" u="none" strike="noStrike" kern="1200" baseline="0" dirty="0">
                          <a:solidFill>
                            <a:schemeClr val="dk1"/>
                          </a:solidFill>
                          <a:latin typeface="+mn-lt"/>
                          <a:ea typeface="+mn-ea"/>
                          <a:cs typeface="+mn-cs"/>
                        </a:rPr>
                        <a:t>configuration from NVRAM to</a:t>
                      </a:r>
                    </a:p>
                    <a:p>
                      <a:r>
                        <a:rPr lang="en-IN" sz="1800" b="0" i="0" u="none" strike="noStrike" kern="1200" baseline="0" dirty="0">
                          <a:solidFill>
                            <a:schemeClr val="dk1"/>
                          </a:solidFill>
                          <a:latin typeface="+mn-lt"/>
                          <a:ea typeface="+mn-ea"/>
                          <a:cs typeface="+mn-cs"/>
                        </a:rPr>
                        <a:t>memory (RAM)</a:t>
                      </a:r>
                      <a:endParaRPr lang="en-IN" dirty="0"/>
                    </a:p>
                  </a:txBody>
                  <a:tcPr/>
                </a:tc>
                <a:extLst>
                  <a:ext uri="{0D108BD9-81ED-4DB2-BD59-A6C34878D82A}">
                    <a16:rowId xmlns:a16="http://schemas.microsoft.com/office/drawing/2014/main" val="2197674216"/>
                  </a:ext>
                </a:extLst>
              </a:tr>
              <a:tr h="887967">
                <a:tc>
                  <a:txBody>
                    <a:bodyPr/>
                    <a:lstStyle/>
                    <a:p>
                      <a:r>
                        <a:rPr lang="en-IN" sz="1800" b="0" i="0" u="none" strike="noStrike" kern="1200" baseline="0" dirty="0">
                          <a:solidFill>
                            <a:schemeClr val="dk1"/>
                          </a:solidFill>
                          <a:latin typeface="+mn-lt"/>
                          <a:ea typeface="+mn-ea"/>
                          <a:cs typeface="+mn-cs"/>
                        </a:rPr>
                        <a:t>Global configuration</a:t>
                      </a:r>
                    </a:p>
                    <a:p>
                      <a:r>
                        <a:rPr lang="en-IN" sz="1800" b="0" i="0" u="none" strike="noStrike" kern="1200" baseline="0" dirty="0">
                          <a:solidFill>
                            <a:schemeClr val="dk1"/>
                          </a:solidFill>
                          <a:latin typeface="+mn-lt"/>
                          <a:ea typeface="+mn-ea"/>
                          <a:cs typeface="+mn-cs"/>
                        </a:rPr>
                        <a:t>(privileged)</a:t>
                      </a:r>
                      <a:endParaRPr kumimoji="0" lang="en-IN" sz="1800" b="0" i="0" u="none" strike="noStrike" kern="1200" cap="none" spc="0" normalizeH="0" baseline="0" noProof="0" dirty="0">
                        <a:ln>
                          <a:noFill/>
                        </a:ln>
                        <a:solidFill>
                          <a:srgbClr val="011892"/>
                        </a:solidFill>
                        <a:effectLst/>
                        <a:uLnTx/>
                        <a:uFillTx/>
                        <a:latin typeface="Calibri" panose="020F0502020204030204"/>
                        <a:ea typeface="+mn-ea"/>
                        <a:cs typeface="+mn-cs"/>
                      </a:endParaRPr>
                    </a:p>
                  </a:txBody>
                  <a:tcPr/>
                </a:tc>
                <a:tc>
                  <a:txBody>
                    <a:bodyPr/>
                    <a:lstStyle/>
                    <a:p>
                      <a:r>
                        <a:rPr lang="en-IN" sz="1800" b="0" i="0" u="none" strike="noStrike" kern="1200" baseline="0" dirty="0">
                          <a:solidFill>
                            <a:schemeClr val="dk1"/>
                          </a:solidFill>
                          <a:latin typeface="CourierStd"/>
                          <a:ea typeface="+mn-ea"/>
                          <a:cs typeface="+mn-cs"/>
                        </a:rPr>
                        <a:t>configure terminal</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 (config)#</a:t>
                      </a:r>
                      <a:endParaRPr lang="en-IN" dirty="0">
                        <a:latin typeface="CourierStd"/>
                      </a:endParaRPr>
                    </a:p>
                  </a:txBody>
                  <a:tcPr/>
                </a:tc>
                <a:tc>
                  <a:txBody>
                    <a:bodyPr/>
                    <a:lstStyle/>
                    <a:p>
                      <a:r>
                        <a:rPr lang="en-IN" sz="1800" b="0" i="0" u="none" strike="noStrike" kern="1200" baseline="0" dirty="0">
                          <a:solidFill>
                            <a:schemeClr val="dk1"/>
                          </a:solidFill>
                          <a:latin typeface="+mn-lt"/>
                          <a:ea typeface="+mn-ea"/>
                          <a:cs typeface="+mn-cs"/>
                        </a:rPr>
                        <a:t>Enables you to change</a:t>
                      </a:r>
                    </a:p>
                    <a:p>
                      <a:r>
                        <a:rPr lang="en-IN" sz="1800" b="0" i="0" u="none" strike="noStrike" kern="1200" baseline="0" dirty="0">
                          <a:solidFill>
                            <a:schemeClr val="dk1"/>
                          </a:solidFill>
                          <a:latin typeface="+mn-lt"/>
                          <a:ea typeface="+mn-ea"/>
                          <a:cs typeface="+mn-cs"/>
                        </a:rPr>
                        <a:t>configuration settings that</a:t>
                      </a:r>
                    </a:p>
                    <a:p>
                      <a:r>
                        <a:rPr lang="en-IN" sz="1800" b="0" i="0" u="none" strike="noStrike" kern="1200" baseline="0" dirty="0">
                          <a:solidFill>
                            <a:schemeClr val="dk1"/>
                          </a:solidFill>
                          <a:latin typeface="+mn-lt"/>
                          <a:ea typeface="+mn-ea"/>
                          <a:cs typeface="+mn-cs"/>
                        </a:rPr>
                        <a:t>affect overall router operation</a:t>
                      </a:r>
                      <a:endParaRPr lang="en-IN" dirty="0"/>
                    </a:p>
                  </a:txBody>
                  <a:tcPr/>
                </a:tc>
                <a:extLst>
                  <a:ext uri="{0D108BD9-81ED-4DB2-BD59-A6C34878D82A}">
                    <a16:rowId xmlns:a16="http://schemas.microsoft.com/office/drawing/2014/main" val="1253817626"/>
                  </a:ext>
                </a:extLst>
              </a:tr>
            </a:tbl>
          </a:graphicData>
        </a:graphic>
      </p:graphicFrame>
    </p:spTree>
    <p:extLst>
      <p:ext uri="{BB962C8B-B14F-4D97-AF65-F5344CB8AC3E}">
        <p14:creationId xmlns:p14="http://schemas.microsoft.com/office/powerpoint/2010/main" val="2990872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p:txBody>
          <a:bodyPr/>
          <a:lstStyle/>
          <a:p>
            <a:r>
              <a:rPr lang="en-US" altLang="en-US" dirty="0"/>
              <a:t>Cisco Commands (3 of 3)</a:t>
            </a:r>
            <a:endParaRPr lang="en-IN" dirty="0"/>
          </a:p>
        </p:txBody>
      </p:sp>
      <p:graphicFrame>
        <p:nvGraphicFramePr>
          <p:cNvPr id="4" name="Table 5">
            <a:extLst>
              <a:ext uri="{FF2B5EF4-FFF2-40B4-BE49-F238E27FC236}">
                <a16:creationId xmlns:a16="http://schemas.microsoft.com/office/drawing/2014/main" id="{6DA86BD9-478C-4009-BE4C-8D07E5366191}"/>
              </a:ext>
            </a:extLst>
          </p:cNvPr>
          <p:cNvGraphicFramePr>
            <a:graphicFrameLocks noGrp="1"/>
          </p:cNvGraphicFramePr>
          <p:nvPr>
            <p:ph type="tbl" sz="quarter" idx="10"/>
            <p:extLst>
              <p:ext uri="{D42A27DB-BD31-4B8C-83A1-F6EECF244321}">
                <p14:modId xmlns:p14="http://schemas.microsoft.com/office/powerpoint/2010/main" val="2229287263"/>
              </p:ext>
            </p:extLst>
          </p:nvPr>
        </p:nvGraphicFramePr>
        <p:xfrm>
          <a:off x="1169276" y="1888568"/>
          <a:ext cx="9503980" cy="2352358"/>
        </p:xfrm>
        <a:graphic>
          <a:graphicData uri="http://schemas.openxmlformats.org/drawingml/2006/table">
            <a:tbl>
              <a:tblPr firstRow="1" bandRow="1">
                <a:tableStyleId>{5C22544A-7EE6-4342-B048-85BDC9FD1C3A}</a:tableStyleId>
              </a:tblPr>
              <a:tblGrid>
                <a:gridCol w="1741566">
                  <a:extLst>
                    <a:ext uri="{9D8B030D-6E8A-4147-A177-3AD203B41FA5}">
                      <a16:colId xmlns:a16="http://schemas.microsoft.com/office/drawing/2014/main" val="1639265852"/>
                    </a:ext>
                  </a:extLst>
                </a:gridCol>
                <a:gridCol w="2322090">
                  <a:extLst>
                    <a:ext uri="{9D8B030D-6E8A-4147-A177-3AD203B41FA5}">
                      <a16:colId xmlns:a16="http://schemas.microsoft.com/office/drawing/2014/main" val="971929380"/>
                    </a:ext>
                  </a:extLst>
                </a:gridCol>
                <a:gridCol w="2172811">
                  <a:extLst>
                    <a:ext uri="{9D8B030D-6E8A-4147-A177-3AD203B41FA5}">
                      <a16:colId xmlns:a16="http://schemas.microsoft.com/office/drawing/2014/main" val="741512427"/>
                    </a:ext>
                  </a:extLst>
                </a:gridCol>
                <a:gridCol w="3267513">
                  <a:extLst>
                    <a:ext uri="{9D8B030D-6E8A-4147-A177-3AD203B41FA5}">
                      <a16:colId xmlns:a16="http://schemas.microsoft.com/office/drawing/2014/main" val="1717579525"/>
                    </a:ext>
                  </a:extLst>
                </a:gridCol>
              </a:tblGrid>
              <a:tr h="422200">
                <a:tc>
                  <a:txBody>
                    <a:bodyPr/>
                    <a:lstStyle/>
                    <a:p>
                      <a:r>
                        <a:rPr lang="en-IN" dirty="0"/>
                        <a:t>Mode</a:t>
                      </a:r>
                    </a:p>
                  </a:txBody>
                  <a:tcPr/>
                </a:tc>
                <a:tc>
                  <a:txBody>
                    <a:bodyPr/>
                    <a:lstStyle/>
                    <a:p>
                      <a:r>
                        <a:rPr lang="en-IN" dirty="0"/>
                        <a:t>Command</a:t>
                      </a:r>
                    </a:p>
                  </a:txBody>
                  <a:tcPr/>
                </a:tc>
                <a:tc>
                  <a:txBody>
                    <a:bodyPr/>
                    <a:lstStyle/>
                    <a:p>
                      <a:r>
                        <a:rPr lang="en-IN" dirty="0"/>
                        <a:t>Prompt</a:t>
                      </a:r>
                    </a:p>
                  </a:txBody>
                  <a:tcPr/>
                </a:tc>
                <a:tc>
                  <a:txBody>
                    <a:bodyPr/>
                    <a:lstStyle/>
                    <a:p>
                      <a:r>
                        <a:rPr lang="en-IN" dirty="0"/>
                        <a:t>Description</a:t>
                      </a:r>
                    </a:p>
                  </a:txBody>
                  <a:tcPr/>
                </a:tc>
                <a:extLst>
                  <a:ext uri="{0D108BD9-81ED-4DB2-BD59-A6C34878D82A}">
                    <a16:rowId xmlns:a16="http://schemas.microsoft.com/office/drawing/2014/main" val="3469820820"/>
                  </a:ext>
                </a:extLst>
              </a:tr>
              <a:tr h="965079">
                <a:tc>
                  <a:txBody>
                    <a:bodyPr/>
                    <a:lstStyle/>
                    <a:p>
                      <a:r>
                        <a:rPr lang="en-IN" sz="1800" b="0" i="0" u="none" strike="noStrike" kern="1200" baseline="0" dirty="0">
                          <a:solidFill>
                            <a:schemeClr val="dk1"/>
                          </a:solidFill>
                          <a:latin typeface="+mn-lt"/>
                          <a:ea typeface="+mn-ea"/>
                          <a:cs typeface="+mn-cs"/>
                        </a:rPr>
                        <a:t>Interface configuration</a:t>
                      </a:r>
                    </a:p>
                    <a:p>
                      <a:r>
                        <a:rPr lang="en-IN" sz="1800" b="0" i="0" u="none" strike="noStrike" kern="1200" baseline="0" dirty="0">
                          <a:solidFill>
                            <a:schemeClr val="dk1"/>
                          </a:solidFill>
                          <a:latin typeface="+mn-lt"/>
                          <a:ea typeface="+mn-ea"/>
                          <a:cs typeface="+mn-cs"/>
                        </a:rPr>
                        <a:t>(privileged)</a:t>
                      </a:r>
                      <a:endParaRPr lang="en-IN" dirty="0"/>
                    </a:p>
                  </a:txBody>
                  <a:tcPr/>
                </a:tc>
                <a:tc>
                  <a:txBody>
                    <a:bodyPr/>
                    <a:lstStyle/>
                    <a:p>
                      <a:r>
                        <a:rPr lang="en-IN" sz="1800" b="0" i="0" u="none" strike="noStrike" kern="1200" baseline="0" dirty="0">
                          <a:solidFill>
                            <a:schemeClr val="dk1"/>
                          </a:solidFill>
                          <a:latin typeface="CourierStd"/>
                          <a:ea typeface="+mn-ea"/>
                          <a:cs typeface="+mn-cs"/>
                        </a:rPr>
                        <a:t>interface serial</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a:t>
                      </a:r>
                    </a:p>
                    <a:p>
                      <a:r>
                        <a:rPr lang="en-IN" sz="1800" b="0" i="0" u="none" strike="noStrike" kern="1200" baseline="0" dirty="0">
                          <a:solidFill>
                            <a:schemeClr val="dk1"/>
                          </a:solidFill>
                          <a:latin typeface="CourierStd"/>
                          <a:ea typeface="+mn-ea"/>
                          <a:cs typeface="+mn-cs"/>
                        </a:rPr>
                        <a:t>(config-if)#</a:t>
                      </a:r>
                      <a:endParaRPr lang="en-IN" dirty="0">
                        <a:latin typeface="CourierStd"/>
                      </a:endParaRPr>
                    </a:p>
                  </a:txBody>
                  <a:tcPr/>
                </a:tc>
                <a:tc>
                  <a:txBody>
                    <a:bodyPr/>
                    <a:lstStyle/>
                    <a:p>
                      <a:r>
                        <a:rPr lang="en-US" sz="1800" b="0" i="0" u="none" strike="noStrike" kern="1200" baseline="0" dirty="0">
                          <a:solidFill>
                            <a:schemeClr val="dk1"/>
                          </a:solidFill>
                          <a:latin typeface="+mn-lt"/>
                          <a:ea typeface="+mn-ea"/>
                          <a:cs typeface="+mn-cs"/>
                        </a:rPr>
                        <a:t>Enables you to configure the</a:t>
                      </a:r>
                    </a:p>
                    <a:p>
                      <a:r>
                        <a:rPr lang="en-IN" sz="1800" b="0" i="0" u="none" strike="noStrike" kern="1200" baseline="0" dirty="0">
                          <a:solidFill>
                            <a:schemeClr val="dk1"/>
                          </a:solidFill>
                          <a:latin typeface="+mn-lt"/>
                          <a:ea typeface="+mn-ea"/>
                          <a:cs typeface="+mn-cs"/>
                        </a:rPr>
                        <a:t>serial interface you identify,</a:t>
                      </a:r>
                    </a:p>
                    <a:p>
                      <a:r>
                        <a:rPr lang="en-IN" sz="1800" b="0" i="0" u="none" strike="noStrike" kern="1200" baseline="0" dirty="0">
                          <a:solidFill>
                            <a:schemeClr val="dk1"/>
                          </a:solidFill>
                          <a:latin typeface="+mn-lt"/>
                          <a:ea typeface="+mn-ea"/>
                          <a:cs typeface="+mn-cs"/>
                        </a:rPr>
                        <a:t>such as serial 0</a:t>
                      </a:r>
                      <a:endParaRPr lang="en-IN" dirty="0"/>
                    </a:p>
                  </a:txBody>
                  <a:tcPr/>
                </a:tc>
                <a:extLst>
                  <a:ext uri="{0D108BD9-81ED-4DB2-BD59-A6C34878D82A}">
                    <a16:rowId xmlns:a16="http://schemas.microsoft.com/office/drawing/2014/main" val="899532003"/>
                  </a:ext>
                </a:extLst>
              </a:tr>
              <a:tr h="965079">
                <a:tc>
                  <a:txBody>
                    <a:bodyPr/>
                    <a:lstStyle/>
                    <a:p>
                      <a:r>
                        <a:rPr lang="en-IN" sz="1800" b="0" i="0" u="none" strike="noStrike" kern="1200" baseline="0" dirty="0">
                          <a:solidFill>
                            <a:schemeClr val="dk1"/>
                          </a:solidFill>
                          <a:latin typeface="+mn-lt"/>
                          <a:ea typeface="+mn-ea"/>
                          <a:cs typeface="+mn-cs"/>
                        </a:rPr>
                        <a:t>Interface configuration</a:t>
                      </a:r>
                    </a:p>
                    <a:p>
                      <a:r>
                        <a:rPr lang="en-IN" sz="1800" b="0" i="0" u="none" strike="noStrike" kern="1200" baseline="0" dirty="0">
                          <a:solidFill>
                            <a:schemeClr val="dk1"/>
                          </a:solidFill>
                          <a:latin typeface="+mn-lt"/>
                          <a:ea typeface="+mn-ea"/>
                          <a:cs typeface="+mn-cs"/>
                        </a:rPr>
                        <a:t>(privileged)</a:t>
                      </a:r>
                      <a:endParaRPr kumimoji="0" lang="en-IN" sz="1800" b="0" i="0" u="none" strike="noStrike" kern="1200" cap="none" spc="0" normalizeH="0" baseline="0" noProof="0" dirty="0">
                        <a:ln>
                          <a:noFill/>
                        </a:ln>
                        <a:solidFill>
                          <a:srgbClr val="011892"/>
                        </a:solidFill>
                        <a:effectLst/>
                        <a:uLnTx/>
                        <a:uFillTx/>
                        <a:latin typeface="Calibri" panose="020F0502020204030204"/>
                        <a:ea typeface="+mn-ea"/>
                        <a:cs typeface="+mn-cs"/>
                      </a:endParaRPr>
                    </a:p>
                  </a:txBody>
                  <a:tcPr/>
                </a:tc>
                <a:tc>
                  <a:txBody>
                    <a:bodyPr/>
                    <a:lstStyle/>
                    <a:p>
                      <a:r>
                        <a:rPr lang="en-IN" sz="1800" b="0" i="0" u="none" strike="noStrike" kern="1200" baseline="0" dirty="0">
                          <a:solidFill>
                            <a:schemeClr val="dk1"/>
                          </a:solidFill>
                          <a:latin typeface="CourierStd"/>
                          <a:ea typeface="+mn-ea"/>
                          <a:cs typeface="+mn-cs"/>
                        </a:rPr>
                        <a:t>interface fastethernet</a:t>
                      </a:r>
                      <a:endParaRPr lang="en-IN" dirty="0">
                        <a:latin typeface="CourierStd"/>
                      </a:endParaRPr>
                    </a:p>
                  </a:txBody>
                  <a:tcPr/>
                </a:tc>
                <a:tc>
                  <a:txBody>
                    <a:bodyPr/>
                    <a:lstStyle/>
                    <a:p>
                      <a:r>
                        <a:rPr lang="en-IN" sz="1800" b="0" i="0" u="none" strike="noStrike" kern="1200" baseline="0" dirty="0">
                          <a:solidFill>
                            <a:schemeClr val="dk1"/>
                          </a:solidFill>
                          <a:latin typeface="CourierStd"/>
                          <a:ea typeface="+mn-ea"/>
                          <a:cs typeface="+mn-cs"/>
                        </a:rPr>
                        <a:t>Router</a:t>
                      </a:r>
                    </a:p>
                    <a:p>
                      <a:r>
                        <a:rPr lang="en-IN" sz="1800" b="0" i="0" u="none" strike="noStrike" kern="1200" baseline="0" dirty="0">
                          <a:solidFill>
                            <a:schemeClr val="dk1"/>
                          </a:solidFill>
                          <a:latin typeface="CourierStd"/>
                          <a:ea typeface="+mn-ea"/>
                          <a:cs typeface="+mn-cs"/>
                        </a:rPr>
                        <a:t>(config-if)#</a:t>
                      </a:r>
                      <a:endParaRPr lang="en-IN" dirty="0">
                        <a:latin typeface="CourierStd"/>
                      </a:endParaRPr>
                    </a:p>
                  </a:txBody>
                  <a:tcPr/>
                </a:tc>
                <a:tc>
                  <a:txBody>
                    <a:bodyPr/>
                    <a:lstStyle/>
                    <a:p>
                      <a:r>
                        <a:rPr lang="en-US" sz="1800" b="0" i="0" u="none" strike="noStrike" kern="1200" baseline="0" dirty="0">
                          <a:solidFill>
                            <a:schemeClr val="dk1"/>
                          </a:solidFill>
                          <a:latin typeface="+mn-lt"/>
                          <a:ea typeface="+mn-ea"/>
                          <a:cs typeface="+mn-cs"/>
                        </a:rPr>
                        <a:t>Enables you to configure the</a:t>
                      </a:r>
                    </a:p>
                    <a:p>
                      <a:r>
                        <a:rPr lang="en-IN" sz="1800" b="0" i="0" u="none" strike="noStrike" kern="1200" baseline="0" dirty="0">
                          <a:solidFill>
                            <a:schemeClr val="dk1"/>
                          </a:solidFill>
                          <a:latin typeface="+mn-lt"/>
                          <a:ea typeface="+mn-ea"/>
                          <a:cs typeface="+mn-cs"/>
                        </a:rPr>
                        <a:t>Fast Ethernet interface you</a:t>
                      </a:r>
                    </a:p>
                    <a:p>
                      <a:r>
                        <a:rPr lang="en-IN" sz="1800" b="0" i="0" u="none" strike="noStrike" kern="1200" baseline="0" dirty="0">
                          <a:solidFill>
                            <a:schemeClr val="dk1"/>
                          </a:solidFill>
                          <a:latin typeface="+mn-lt"/>
                          <a:ea typeface="+mn-ea"/>
                          <a:cs typeface="+mn-cs"/>
                        </a:rPr>
                        <a:t>specify</a:t>
                      </a:r>
                      <a:endParaRPr lang="en-IN" dirty="0"/>
                    </a:p>
                  </a:txBody>
                  <a:tcPr/>
                </a:tc>
                <a:extLst>
                  <a:ext uri="{0D108BD9-81ED-4DB2-BD59-A6C34878D82A}">
                    <a16:rowId xmlns:a16="http://schemas.microsoft.com/office/drawing/2014/main" val="1305611752"/>
                  </a:ext>
                </a:extLst>
              </a:tr>
            </a:tbl>
          </a:graphicData>
        </a:graphic>
      </p:graphicFrame>
    </p:spTree>
    <p:extLst>
      <p:ext uri="{BB962C8B-B14F-4D97-AF65-F5344CB8AC3E}">
        <p14:creationId xmlns:p14="http://schemas.microsoft.com/office/powerpoint/2010/main" val="1835441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sz="3200" dirty="0"/>
              <a:t>Using Access Control Lists</a:t>
            </a:r>
            <a:endParaRPr lang="en-IN" sz="3000"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normAutofit/>
          </a:bodyPr>
          <a:lstStyle/>
          <a:p>
            <a:r>
              <a:rPr lang="en-US" altLang="en-US" dirty="0"/>
              <a:t>Several types of access control lists</a:t>
            </a:r>
          </a:p>
          <a:p>
            <a:pPr lvl="1"/>
            <a:r>
              <a:rPr lang="en-US" altLang="en-US" dirty="0"/>
              <a:t>This section focuses on </a:t>
            </a:r>
            <a:r>
              <a:rPr lang="en-US" altLang="en-US" b="1" dirty="0"/>
              <a:t>IP access lists</a:t>
            </a:r>
          </a:p>
          <a:p>
            <a:pPr lvl="1"/>
            <a:r>
              <a:rPr lang="en-US" altLang="en-US" dirty="0"/>
              <a:t>IP access lists: Lists of IP addresses, subnets, or networks that are allowed or denied access through a router’s interface</a:t>
            </a:r>
          </a:p>
          <a:p>
            <a:r>
              <a:rPr lang="en-US" altLang="en-US" dirty="0"/>
              <a:t>An administrator can create two types of access lists on a Cisco router</a:t>
            </a:r>
          </a:p>
          <a:p>
            <a:pPr lvl="1"/>
            <a:r>
              <a:rPr lang="en-US" altLang="en-US" dirty="0"/>
              <a:t>Standard IP access lists</a:t>
            </a:r>
          </a:p>
          <a:p>
            <a:pPr lvl="1"/>
            <a:r>
              <a:rPr lang="en-US" altLang="en-US" dirty="0"/>
              <a:t>Extended IP access lists</a:t>
            </a:r>
          </a:p>
        </p:txBody>
      </p:sp>
    </p:spTree>
    <p:extLst>
      <p:ext uri="{BB962C8B-B14F-4D97-AF65-F5344CB8AC3E}">
        <p14:creationId xmlns:p14="http://schemas.microsoft.com/office/powerpoint/2010/main" val="4260666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Standard IP Access Lists</a:t>
            </a:r>
            <a:endParaRPr lang="en-IN" dirty="0"/>
          </a:p>
        </p:txBody>
      </p:sp>
      <p:sp>
        <p:nvSpPr>
          <p:cNvPr id="5" name="Text Placeholder 4">
            <a:extLst>
              <a:ext uri="{FF2B5EF4-FFF2-40B4-BE49-F238E27FC236}">
                <a16:creationId xmlns:a16="http://schemas.microsoft.com/office/drawing/2014/main" id="{A67718FB-6495-46A5-B53B-341E2193DD91}"/>
              </a:ext>
            </a:extLst>
          </p:cNvPr>
          <p:cNvSpPr>
            <a:spLocks noGrp="1"/>
          </p:cNvSpPr>
          <p:nvPr>
            <p:ph type="body" sz="quarter" idx="17"/>
          </p:nvPr>
        </p:nvSpPr>
        <p:spPr/>
        <p:txBody>
          <a:bodyPr/>
          <a:lstStyle/>
          <a:p>
            <a:r>
              <a:rPr lang="en-US" altLang="en-US" dirty="0"/>
              <a:t>Can restrict IP traffic entering or leaving a router’s interface based on source IP address</a:t>
            </a:r>
          </a:p>
          <a:p>
            <a:pPr lvl="1"/>
            <a:r>
              <a:rPr lang="en-US" altLang="en-US" dirty="0"/>
              <a:t>To restrict all traffic from Network 3 from entering Network 1, an administrator can create a standard IP access list that looks like:</a:t>
            </a:r>
          </a:p>
          <a:p>
            <a:pPr lvl="3">
              <a:buNone/>
            </a:pPr>
            <a:r>
              <a:rPr lang="en-US" altLang="en-US" dirty="0">
                <a:latin typeface="Courier New" panose="02070309020205020404" pitchFamily="49" charset="0"/>
              </a:rPr>
              <a:t>access-list 1 deny 173.110.0.0 0.0.255.255</a:t>
            </a:r>
          </a:p>
          <a:p>
            <a:pPr lvl="3">
              <a:buNone/>
            </a:pPr>
            <a:r>
              <a:rPr lang="en-US" altLang="en-US" dirty="0">
                <a:latin typeface="Courier New" panose="02070309020205020404" pitchFamily="49" charset="0"/>
              </a:rPr>
              <a:t>access-list permit any</a:t>
            </a:r>
            <a:endParaRPr lang="en-US" altLang="en-US" sz="2400" dirty="0"/>
          </a:p>
        </p:txBody>
      </p:sp>
      <p:pic>
        <p:nvPicPr>
          <p:cNvPr id="8" name="Picture Placeholder 7" descr="Diagram of Network 1, Network 2, and Network 3 with Router A and Router B providing connectivity between these networks.">
            <a:extLst>
              <a:ext uri="{FF2B5EF4-FFF2-40B4-BE49-F238E27FC236}">
                <a16:creationId xmlns:a16="http://schemas.microsoft.com/office/drawing/2014/main" id="{7856EC26-B3C5-4434-8A9C-D51FC70C1A28}"/>
              </a:ext>
            </a:extLst>
          </p:cNvPr>
          <p:cNvPicPr>
            <a:picLocks noGrp="1" noChangeAspect="1"/>
          </p:cNvPicPr>
          <p:nvPr>
            <p:ph type="pic" sz="quarter" idx="10"/>
          </p:nvPr>
        </p:nvPicPr>
        <p:blipFill rotWithShape="1">
          <a:blip r:embed="rId2"/>
          <a:srcRect l="9703" t="2763" b="1656"/>
          <a:stretch/>
        </p:blipFill>
        <p:spPr>
          <a:xfrm>
            <a:off x="2580289" y="3192945"/>
            <a:ext cx="7031422" cy="2996005"/>
          </a:xfrm>
        </p:spPr>
      </p:pic>
    </p:spTree>
    <p:extLst>
      <p:ext uri="{BB962C8B-B14F-4D97-AF65-F5344CB8AC3E}">
        <p14:creationId xmlns:p14="http://schemas.microsoft.com/office/powerpoint/2010/main" val="1249423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Extended IP Access Lists</a:t>
            </a:r>
            <a:endParaRPr lang="en-IN" dirty="0"/>
          </a:p>
        </p:txBody>
      </p:sp>
      <p:sp>
        <p:nvSpPr>
          <p:cNvPr id="3" name="Text Placeholder 2">
            <a:extLst>
              <a:ext uri="{FF2B5EF4-FFF2-40B4-BE49-F238E27FC236}">
                <a16:creationId xmlns:a16="http://schemas.microsoft.com/office/drawing/2014/main" id="{C89CD84D-2CBE-4D6D-B24D-138FD12F58A5}"/>
              </a:ext>
            </a:extLst>
          </p:cNvPr>
          <p:cNvSpPr>
            <a:spLocks noGrp="1"/>
          </p:cNvSpPr>
          <p:nvPr>
            <p:ph type="body" sz="quarter" idx="17"/>
          </p:nvPr>
        </p:nvSpPr>
        <p:spPr/>
        <p:txBody>
          <a:bodyPr/>
          <a:lstStyle/>
          <a:p>
            <a:r>
              <a:rPr lang="en-US" altLang="en-US" dirty="0"/>
              <a:t>Restrict IP traffic entering or leaving based on the following criteria:</a:t>
            </a:r>
          </a:p>
          <a:p>
            <a:pPr lvl="1"/>
            <a:r>
              <a:rPr lang="en-US" altLang="en-US" dirty="0"/>
              <a:t>Source IP address</a:t>
            </a:r>
          </a:p>
          <a:p>
            <a:pPr lvl="1"/>
            <a:r>
              <a:rPr lang="en-US" altLang="en-US" dirty="0"/>
              <a:t>Destination IP address</a:t>
            </a:r>
          </a:p>
          <a:p>
            <a:pPr lvl="1"/>
            <a:r>
              <a:rPr lang="en-US" altLang="en-US" dirty="0"/>
              <a:t>Protocol type</a:t>
            </a:r>
          </a:p>
          <a:p>
            <a:pPr lvl="1"/>
            <a:r>
              <a:rPr lang="en-US" altLang="en-US" dirty="0"/>
              <a:t>Application port number</a:t>
            </a:r>
          </a:p>
          <a:p>
            <a:r>
              <a:rPr lang="en-US" altLang="en-US" dirty="0"/>
              <a:t>Configuration</a:t>
            </a:r>
          </a:p>
          <a:p>
            <a:pPr lvl="1"/>
            <a:r>
              <a:rPr lang="en-US" altLang="en-US" dirty="0"/>
              <a:t>Same as configuring a standard IP access list</a:t>
            </a:r>
          </a:p>
          <a:p>
            <a:pPr lvl="2"/>
            <a:r>
              <a:rPr lang="en-US" altLang="en-US" dirty="0"/>
              <a:t>A network administrator can decide which interface to apply an access list to, based on several variables</a:t>
            </a:r>
          </a:p>
        </p:txBody>
      </p:sp>
    </p:spTree>
    <p:extLst>
      <p:ext uri="{BB962C8B-B14F-4D97-AF65-F5344CB8AC3E}">
        <p14:creationId xmlns:p14="http://schemas.microsoft.com/office/powerpoint/2010/main" val="2139176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13-1</a:t>
            </a:r>
          </a:p>
        </p:txBody>
      </p:sp>
      <p:sp>
        <p:nvSpPr>
          <p:cNvPr id="2" name="Text Placeholder 1"/>
          <p:cNvSpPr>
            <a:spLocks noGrp="1"/>
          </p:cNvSpPr>
          <p:nvPr>
            <p:ph type="body" sz="quarter" idx="15"/>
          </p:nvPr>
        </p:nvSpPr>
        <p:spPr/>
        <p:txBody>
          <a:bodyPr/>
          <a:lstStyle/>
          <a:p>
            <a:r>
              <a:rPr lang="en-US" sz="2000" dirty="0"/>
              <a:t>Which type of routing protocol advertises only new paths to other routers on the network?</a:t>
            </a:r>
          </a:p>
          <a:p>
            <a:endParaRPr lang="en-US" sz="2000" dirty="0"/>
          </a:p>
          <a:p>
            <a:pPr marL="457200" indent="-457200">
              <a:buFont typeface="+mj-lt"/>
              <a:buAutoNum type="alphaLcPeriod"/>
            </a:pPr>
            <a:r>
              <a:rPr lang="en-US" sz="2000" dirty="0"/>
              <a:t>Link-state routing protocol</a:t>
            </a:r>
          </a:p>
          <a:p>
            <a:pPr marL="457200" indent="-457200">
              <a:buFont typeface="+mj-lt"/>
              <a:buAutoNum type="alphaLcPeriod"/>
            </a:pPr>
            <a:r>
              <a:rPr lang="en-US" sz="2000" dirty="0"/>
              <a:t>Routing table protocol</a:t>
            </a:r>
          </a:p>
          <a:p>
            <a:pPr marL="457200" indent="-457200">
              <a:buFont typeface="+mj-lt"/>
              <a:buAutoNum type="alphaLcPeriod"/>
            </a:pPr>
            <a:r>
              <a:rPr lang="en-US" sz="2000" dirty="0"/>
              <a:t>Path-vector routing protocol</a:t>
            </a:r>
          </a:p>
          <a:p>
            <a:pPr marL="457200" indent="-457200">
              <a:buFont typeface="+mj-lt"/>
              <a:buAutoNum type="alphaLcPeriod"/>
            </a:pPr>
            <a:r>
              <a:rPr lang="en-US" sz="2000" dirty="0"/>
              <a:t>Distance-vector routing protocol</a:t>
            </a:r>
          </a:p>
        </p:txBody>
      </p:sp>
    </p:spTree>
    <p:extLst>
      <p:ext uri="{BB962C8B-B14F-4D97-AF65-F5344CB8AC3E}">
        <p14:creationId xmlns:p14="http://schemas.microsoft.com/office/powerpoint/2010/main" val="2222742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13-1: Answer</a:t>
            </a:r>
          </a:p>
        </p:txBody>
      </p:sp>
      <p:sp>
        <p:nvSpPr>
          <p:cNvPr id="2" name="Text Placeholder 1"/>
          <p:cNvSpPr>
            <a:spLocks noGrp="1"/>
          </p:cNvSpPr>
          <p:nvPr>
            <p:ph type="body" sz="quarter" idx="15"/>
          </p:nvPr>
        </p:nvSpPr>
        <p:spPr/>
        <p:txBody>
          <a:bodyPr/>
          <a:lstStyle/>
          <a:p>
            <a:r>
              <a:rPr lang="en-US" sz="2000" dirty="0"/>
              <a:t>Which type of routing protocol advertises only new paths to other routers on the network?</a:t>
            </a:r>
          </a:p>
          <a:p>
            <a:endParaRPr lang="en-US" sz="2000" b="1" dirty="0"/>
          </a:p>
          <a:p>
            <a:pPr>
              <a:spcBef>
                <a:spcPts val="600"/>
              </a:spcBef>
              <a:spcAft>
                <a:spcPts val="600"/>
              </a:spcAft>
            </a:pPr>
            <a:r>
              <a:rPr lang="en-US" sz="2000" b="1" dirty="0"/>
              <a:t>Answer: a. Link-state routing protocol</a:t>
            </a:r>
          </a:p>
          <a:p>
            <a:pPr>
              <a:spcBef>
                <a:spcPts val="600"/>
              </a:spcBef>
              <a:spcAft>
                <a:spcPts val="600"/>
              </a:spcAft>
            </a:pPr>
            <a:r>
              <a:rPr lang="en-US" sz="2000" b="1" dirty="0"/>
              <a:t>A link-state routing protocol sends link-state advertisements to other routers; these advertisements identify the network topology and any changes or paths discovered recently on the network. This method is efficient because only new information is sent over the network</a:t>
            </a:r>
          </a:p>
        </p:txBody>
      </p:sp>
    </p:spTree>
    <p:extLst>
      <p:ext uri="{BB962C8B-B14F-4D97-AF65-F5344CB8AC3E}">
        <p14:creationId xmlns:p14="http://schemas.microsoft.com/office/powerpoint/2010/main" val="3959071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13-1</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Which of the following Cisco components stores a router’s running configuration, routing tables, and buffers?</a:t>
            </a:r>
          </a:p>
          <a:p>
            <a:endParaRPr lang="en-US" sz="2000" dirty="0"/>
          </a:p>
          <a:p>
            <a:r>
              <a:rPr lang="en-US" sz="2000" dirty="0"/>
              <a:t>a. NVRAM</a:t>
            </a:r>
          </a:p>
          <a:p>
            <a:r>
              <a:rPr lang="en-US" sz="2000" dirty="0"/>
              <a:t>b. RAM</a:t>
            </a:r>
          </a:p>
          <a:p>
            <a:r>
              <a:rPr lang="en-US" sz="2000" dirty="0"/>
              <a:t>c. ROM</a:t>
            </a:r>
          </a:p>
          <a:p>
            <a:r>
              <a:rPr lang="en-US" sz="2000" dirty="0"/>
              <a:t>d. Flash memory</a:t>
            </a:r>
          </a:p>
        </p:txBody>
      </p:sp>
    </p:spTree>
    <p:extLst>
      <p:ext uri="{BB962C8B-B14F-4D97-AF65-F5344CB8AC3E}">
        <p14:creationId xmlns:p14="http://schemas.microsoft.com/office/powerpoint/2010/main" val="1634089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13-1: Answer</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Which of the following Cisco components stores a router’s running configuration, routing tables, and buffers?</a:t>
            </a:r>
          </a:p>
          <a:p>
            <a:pPr>
              <a:spcBef>
                <a:spcPts val="600"/>
              </a:spcBef>
              <a:spcAft>
                <a:spcPts val="600"/>
              </a:spcAft>
            </a:pPr>
            <a:endParaRPr lang="en-US" sz="2000" b="1" dirty="0"/>
          </a:p>
          <a:p>
            <a:pPr>
              <a:spcBef>
                <a:spcPts val="600"/>
              </a:spcBef>
              <a:spcAft>
                <a:spcPts val="600"/>
              </a:spcAft>
            </a:pPr>
            <a:r>
              <a:rPr lang="en-US" sz="2000" b="1" dirty="0"/>
              <a:t>Answer: b. RAM</a:t>
            </a:r>
          </a:p>
          <a:p>
            <a:pPr>
              <a:spcBef>
                <a:spcPts val="600"/>
              </a:spcBef>
              <a:spcAft>
                <a:spcPts val="600"/>
              </a:spcAft>
            </a:pPr>
            <a:r>
              <a:rPr lang="en-US" sz="2000" b="1" dirty="0"/>
              <a:t>The RAM holds the router’s running configuration, routing tables, and buffers.</a:t>
            </a:r>
          </a:p>
        </p:txBody>
      </p:sp>
    </p:spTree>
    <p:extLst>
      <p:ext uri="{BB962C8B-B14F-4D97-AF65-F5344CB8AC3E}">
        <p14:creationId xmlns:p14="http://schemas.microsoft.com/office/powerpoint/2010/main" val="3976620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Protecting with Firewalls (1 of 2)</a:t>
            </a:r>
            <a:endParaRPr lang="en-IN" dirty="0"/>
          </a:p>
        </p:txBody>
      </p:sp>
      <p:sp>
        <p:nvSpPr>
          <p:cNvPr id="3" name="Text Placeholder 2">
            <a:extLst>
              <a:ext uri="{FF2B5EF4-FFF2-40B4-BE49-F238E27FC236}">
                <a16:creationId xmlns:a16="http://schemas.microsoft.com/office/drawing/2014/main" id="{C89CD84D-2CBE-4D6D-B24D-138FD12F58A5}"/>
              </a:ext>
            </a:extLst>
          </p:cNvPr>
          <p:cNvSpPr>
            <a:spLocks noGrp="1"/>
          </p:cNvSpPr>
          <p:nvPr>
            <p:ph type="body" sz="quarter" idx="17"/>
          </p:nvPr>
        </p:nvSpPr>
        <p:spPr/>
        <p:txBody>
          <a:bodyPr/>
          <a:lstStyle/>
          <a:p>
            <a:r>
              <a:rPr lang="en-US" altLang="en-US" b="1" dirty="0"/>
              <a:t>Firewalls</a:t>
            </a:r>
          </a:p>
          <a:p>
            <a:pPr lvl="1"/>
            <a:r>
              <a:rPr lang="en-US" altLang="en-US" dirty="0"/>
              <a:t>Hardware devices with embedded OSs</a:t>
            </a:r>
          </a:p>
          <a:p>
            <a:pPr lvl="1"/>
            <a:r>
              <a:rPr lang="en-US" altLang="en-US" dirty="0"/>
              <a:t>Software installed on general-purpose computer systems</a:t>
            </a:r>
          </a:p>
          <a:p>
            <a:r>
              <a:rPr lang="en-US" altLang="en-US" dirty="0"/>
              <a:t>Firewalls serve two main purposes</a:t>
            </a:r>
          </a:p>
          <a:p>
            <a:pPr lvl="1"/>
            <a:r>
              <a:rPr lang="en-US" altLang="en-US" dirty="0"/>
              <a:t>Control access to traffic entering an internal network</a:t>
            </a:r>
          </a:p>
          <a:p>
            <a:pPr lvl="1"/>
            <a:r>
              <a:rPr lang="en-US" altLang="en-US" dirty="0"/>
              <a:t>Control traffic leaving an internal network</a:t>
            </a:r>
          </a:p>
          <a:p>
            <a:r>
              <a:rPr lang="en-US" altLang="en-US" dirty="0"/>
              <a:t>Advantages of hardware firewall</a:t>
            </a:r>
          </a:p>
          <a:p>
            <a:pPr lvl="1"/>
            <a:r>
              <a:rPr lang="en-US" altLang="en-US" dirty="0"/>
              <a:t>Usually faster than software firewalls</a:t>
            </a:r>
          </a:p>
          <a:p>
            <a:pPr lvl="1"/>
            <a:r>
              <a:rPr lang="en-US" altLang="en-US" dirty="0"/>
              <a:t>Can handle a larger throughput than software firewalls</a:t>
            </a:r>
          </a:p>
          <a:p>
            <a:r>
              <a:rPr lang="en-US" altLang="en-US" dirty="0"/>
              <a:t>Disadvantage of hardware firewall</a:t>
            </a:r>
          </a:p>
          <a:p>
            <a:pPr lvl="1"/>
            <a:r>
              <a:rPr lang="en-US" altLang="en-US" dirty="0"/>
              <a:t>Locked into the firewall’s hardware</a:t>
            </a:r>
          </a:p>
        </p:txBody>
      </p:sp>
    </p:spTree>
    <p:extLst>
      <p:ext uri="{BB962C8B-B14F-4D97-AF65-F5344CB8AC3E}">
        <p14:creationId xmlns:p14="http://schemas.microsoft.com/office/powerpoint/2010/main" val="382351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Protecting with Firewalls (2 of 2)</a:t>
            </a:r>
            <a:endParaRPr lang="en-IN" dirty="0"/>
          </a:p>
        </p:txBody>
      </p:sp>
      <p:sp>
        <p:nvSpPr>
          <p:cNvPr id="3" name="Text Placeholder 2">
            <a:extLst>
              <a:ext uri="{FF2B5EF4-FFF2-40B4-BE49-F238E27FC236}">
                <a16:creationId xmlns:a16="http://schemas.microsoft.com/office/drawing/2014/main" id="{C89CD84D-2CBE-4D6D-B24D-138FD12F58A5}"/>
              </a:ext>
            </a:extLst>
          </p:cNvPr>
          <p:cNvSpPr>
            <a:spLocks noGrp="1"/>
          </p:cNvSpPr>
          <p:nvPr>
            <p:ph type="body" sz="quarter" idx="17"/>
          </p:nvPr>
        </p:nvSpPr>
        <p:spPr/>
        <p:txBody>
          <a:bodyPr/>
          <a:lstStyle/>
          <a:p>
            <a:r>
              <a:rPr lang="en-US" altLang="en-US" dirty="0"/>
              <a:t>Advantage of software firewall</a:t>
            </a:r>
          </a:p>
          <a:p>
            <a:pPr lvl="1"/>
            <a:r>
              <a:rPr lang="en-US" altLang="en-US" dirty="0"/>
              <a:t>Can add network interface cards (NICs) easily to the server running the software</a:t>
            </a:r>
          </a:p>
          <a:p>
            <a:r>
              <a:rPr lang="en-US" altLang="en-US" dirty="0"/>
              <a:t>Disadvantages of software firewall</a:t>
            </a:r>
          </a:p>
          <a:p>
            <a:pPr lvl="1"/>
            <a:r>
              <a:rPr lang="en-US" altLang="en-US" dirty="0"/>
              <a:t>Configuration problems can be a concern</a:t>
            </a:r>
          </a:p>
          <a:p>
            <a:pPr lvl="1"/>
            <a:r>
              <a:rPr lang="en-US" altLang="en-US" dirty="0"/>
              <a:t>Rely on the OS on which they’re running</a:t>
            </a:r>
          </a:p>
        </p:txBody>
      </p:sp>
    </p:spTree>
    <p:extLst>
      <p:ext uri="{BB962C8B-B14F-4D97-AF65-F5344CB8AC3E}">
        <p14:creationId xmlns:p14="http://schemas.microsoft.com/office/powerpoint/2010/main" val="4287815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Examining Firewall Technology</a:t>
            </a:r>
            <a:endParaRPr lang="en-IN" dirty="0"/>
          </a:p>
        </p:txBody>
      </p:sp>
      <p:sp>
        <p:nvSpPr>
          <p:cNvPr id="3" name="Text Placeholder 2">
            <a:extLst>
              <a:ext uri="{FF2B5EF4-FFF2-40B4-BE49-F238E27FC236}">
                <a16:creationId xmlns:a16="http://schemas.microsoft.com/office/drawing/2014/main" id="{C89CD84D-2CBE-4D6D-B24D-138FD12F58A5}"/>
              </a:ext>
            </a:extLst>
          </p:cNvPr>
          <p:cNvSpPr>
            <a:spLocks noGrp="1"/>
          </p:cNvSpPr>
          <p:nvPr>
            <p:ph type="body" sz="quarter" idx="17"/>
          </p:nvPr>
        </p:nvSpPr>
        <p:spPr/>
        <p:txBody>
          <a:bodyPr/>
          <a:lstStyle/>
          <a:p>
            <a:r>
              <a:rPr lang="en-US" altLang="en-US" dirty="0"/>
              <a:t>Technologies used by firewalls in reducing attacks</a:t>
            </a:r>
          </a:p>
          <a:p>
            <a:pPr lvl="1"/>
            <a:r>
              <a:rPr lang="en-US" altLang="en-US" b="1" dirty="0"/>
              <a:t>Network Address Translation (N A T)</a:t>
            </a:r>
          </a:p>
          <a:p>
            <a:pPr lvl="1"/>
            <a:r>
              <a:rPr lang="en-US" altLang="en-US" dirty="0"/>
              <a:t>Access lists</a:t>
            </a:r>
          </a:p>
          <a:p>
            <a:pPr lvl="1"/>
            <a:r>
              <a:rPr lang="en-US" altLang="en-US" dirty="0"/>
              <a:t>Packet filtering</a:t>
            </a:r>
          </a:p>
          <a:p>
            <a:pPr lvl="1"/>
            <a:r>
              <a:rPr lang="en-US" altLang="en-US" dirty="0"/>
              <a:t>Stateful packet inspection (SPI) </a:t>
            </a:r>
          </a:p>
          <a:p>
            <a:pPr lvl="1"/>
            <a:r>
              <a:rPr lang="en-US" altLang="en-US" dirty="0"/>
              <a:t>Application layer inspection</a:t>
            </a:r>
          </a:p>
        </p:txBody>
      </p:sp>
    </p:spTree>
    <p:extLst>
      <p:ext uri="{BB962C8B-B14F-4D97-AF65-F5344CB8AC3E}">
        <p14:creationId xmlns:p14="http://schemas.microsoft.com/office/powerpoint/2010/main" val="4169477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Network Address Translation</a:t>
            </a:r>
            <a:endParaRPr lang="en-IN" dirty="0"/>
          </a:p>
        </p:txBody>
      </p:sp>
      <p:sp>
        <p:nvSpPr>
          <p:cNvPr id="3" name="Text Placeholder 2">
            <a:extLst>
              <a:ext uri="{FF2B5EF4-FFF2-40B4-BE49-F238E27FC236}">
                <a16:creationId xmlns:a16="http://schemas.microsoft.com/office/drawing/2014/main" id="{C89CD84D-2CBE-4D6D-B24D-138FD12F58A5}"/>
              </a:ext>
            </a:extLst>
          </p:cNvPr>
          <p:cNvSpPr>
            <a:spLocks noGrp="1"/>
          </p:cNvSpPr>
          <p:nvPr>
            <p:ph type="body" sz="quarter" idx="17"/>
          </p:nvPr>
        </p:nvSpPr>
        <p:spPr/>
        <p:txBody>
          <a:bodyPr/>
          <a:lstStyle/>
          <a:p>
            <a:r>
              <a:rPr lang="en-US" altLang="en-US" dirty="0"/>
              <a:t>The most basic security feature of a firewall</a:t>
            </a:r>
          </a:p>
          <a:p>
            <a:r>
              <a:rPr lang="en-US" altLang="en-US" dirty="0"/>
              <a:t>Internal private IP addresses are mapped to public external IP addresses</a:t>
            </a:r>
          </a:p>
          <a:p>
            <a:pPr lvl="1"/>
            <a:r>
              <a:rPr lang="en-US" altLang="en-US" dirty="0"/>
              <a:t>Hides the internal infrastructure from unauthorized personnel</a:t>
            </a:r>
          </a:p>
          <a:p>
            <a:r>
              <a:rPr lang="en-US" altLang="en-US" dirty="0"/>
              <a:t>Port Address Translation (PAT)</a:t>
            </a:r>
          </a:p>
          <a:p>
            <a:pPr lvl="1"/>
            <a:r>
              <a:rPr lang="en-US" altLang="en-US" dirty="0"/>
              <a:t>Derived from N A T</a:t>
            </a:r>
          </a:p>
          <a:p>
            <a:pPr lvl="1"/>
            <a:r>
              <a:rPr lang="en-US" altLang="en-US" dirty="0"/>
              <a:t>Allows thousands of internal IP addresses to be mapped to one external IP address</a:t>
            </a:r>
          </a:p>
        </p:txBody>
      </p:sp>
    </p:spTree>
    <p:extLst>
      <p:ext uri="{BB962C8B-B14F-4D97-AF65-F5344CB8AC3E}">
        <p14:creationId xmlns:p14="http://schemas.microsoft.com/office/powerpoint/2010/main" val="1650515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Access Lists</a:t>
            </a:r>
            <a:endParaRPr lang="en-IN" dirty="0"/>
          </a:p>
        </p:txBody>
      </p:sp>
      <p:sp>
        <p:nvSpPr>
          <p:cNvPr id="3" name="Text Placeholder 2">
            <a:extLst>
              <a:ext uri="{FF2B5EF4-FFF2-40B4-BE49-F238E27FC236}">
                <a16:creationId xmlns:a16="http://schemas.microsoft.com/office/drawing/2014/main" id="{C89CD84D-2CBE-4D6D-B24D-138FD12F58A5}"/>
              </a:ext>
            </a:extLst>
          </p:cNvPr>
          <p:cNvSpPr>
            <a:spLocks noGrp="1"/>
          </p:cNvSpPr>
          <p:nvPr>
            <p:ph type="body" sz="quarter" idx="17"/>
          </p:nvPr>
        </p:nvSpPr>
        <p:spPr/>
        <p:txBody>
          <a:bodyPr/>
          <a:lstStyle/>
          <a:p>
            <a:r>
              <a:rPr lang="en-US" altLang="en-US" dirty="0"/>
              <a:t>Used to filter traffic based on: </a:t>
            </a:r>
          </a:p>
          <a:p>
            <a:pPr lvl="1"/>
            <a:r>
              <a:rPr lang="en-US" altLang="en-US" dirty="0"/>
              <a:t>Source IP address</a:t>
            </a:r>
          </a:p>
          <a:p>
            <a:pPr lvl="1"/>
            <a:r>
              <a:rPr lang="en-US" altLang="en-US" dirty="0"/>
              <a:t>Destination IP address</a:t>
            </a:r>
          </a:p>
          <a:p>
            <a:pPr lvl="1"/>
            <a:r>
              <a:rPr lang="en-US" altLang="en-US" dirty="0"/>
              <a:t>Ports or services</a:t>
            </a:r>
          </a:p>
          <a:p>
            <a:r>
              <a:rPr lang="en-US" altLang="en-US" dirty="0"/>
              <a:t>Firewalls also use this technology</a:t>
            </a:r>
          </a:p>
          <a:p>
            <a:r>
              <a:rPr lang="en-US" altLang="en-US" dirty="0"/>
              <a:t>Creating access lists on a firewall </a:t>
            </a:r>
          </a:p>
          <a:p>
            <a:pPr lvl="1"/>
            <a:r>
              <a:rPr lang="en-US" altLang="en-US" dirty="0"/>
              <a:t>Similar to creating them on a router</a:t>
            </a:r>
          </a:p>
        </p:txBody>
      </p:sp>
    </p:spTree>
    <p:extLst>
      <p:ext uri="{BB962C8B-B14F-4D97-AF65-F5344CB8AC3E}">
        <p14:creationId xmlns:p14="http://schemas.microsoft.com/office/powerpoint/2010/main" val="2472971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Packet Filtering</a:t>
            </a:r>
            <a:endParaRPr lang="en-IN" dirty="0"/>
          </a:p>
        </p:txBody>
      </p:sp>
      <p:sp>
        <p:nvSpPr>
          <p:cNvPr id="3" name="Text Placeholder 2">
            <a:extLst>
              <a:ext uri="{FF2B5EF4-FFF2-40B4-BE49-F238E27FC236}">
                <a16:creationId xmlns:a16="http://schemas.microsoft.com/office/drawing/2014/main" id="{C89CD84D-2CBE-4D6D-B24D-138FD12F58A5}"/>
              </a:ext>
            </a:extLst>
          </p:cNvPr>
          <p:cNvSpPr>
            <a:spLocks noGrp="1"/>
          </p:cNvSpPr>
          <p:nvPr>
            <p:ph type="body" sz="quarter" idx="17"/>
          </p:nvPr>
        </p:nvSpPr>
        <p:spPr/>
        <p:txBody>
          <a:bodyPr/>
          <a:lstStyle/>
          <a:p>
            <a:r>
              <a:rPr lang="en-US" altLang="en-US" dirty="0"/>
              <a:t>Packet filters </a:t>
            </a:r>
          </a:p>
          <a:p>
            <a:pPr lvl="1"/>
            <a:r>
              <a:rPr lang="en-US" altLang="en-US" dirty="0"/>
              <a:t>Screen packets based on information contained in the packet header, such as the following:</a:t>
            </a:r>
          </a:p>
          <a:p>
            <a:pPr lvl="2"/>
            <a:r>
              <a:rPr lang="en-US" altLang="en-US" dirty="0"/>
              <a:t>Protocol type</a:t>
            </a:r>
          </a:p>
          <a:p>
            <a:pPr lvl="2"/>
            <a:r>
              <a:rPr lang="en-US" altLang="en-US" dirty="0"/>
              <a:t>IP address</a:t>
            </a:r>
          </a:p>
          <a:p>
            <a:pPr lvl="2"/>
            <a:r>
              <a:rPr lang="en-US" altLang="en-US" dirty="0"/>
              <a:t>TCP/UDP port</a:t>
            </a:r>
          </a:p>
        </p:txBody>
      </p:sp>
    </p:spTree>
    <p:extLst>
      <p:ext uri="{BB962C8B-B14F-4D97-AF65-F5344CB8AC3E}">
        <p14:creationId xmlns:p14="http://schemas.microsoft.com/office/powerpoint/2010/main" val="750448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a:lstStyle/>
          <a:p>
            <a:r>
              <a:rPr lang="en-US" altLang="en-US" dirty="0"/>
              <a:t>Stateful Packet Inspection</a:t>
            </a:r>
            <a:endParaRPr lang="en-IN" dirty="0"/>
          </a:p>
        </p:txBody>
      </p:sp>
      <p:sp>
        <p:nvSpPr>
          <p:cNvPr id="3" name="Text Placeholder 2">
            <a:extLst>
              <a:ext uri="{FF2B5EF4-FFF2-40B4-BE49-F238E27FC236}">
                <a16:creationId xmlns:a16="http://schemas.microsoft.com/office/drawing/2014/main" id="{23E86B04-DF53-4733-A983-09A6D7E30D64}"/>
              </a:ext>
            </a:extLst>
          </p:cNvPr>
          <p:cNvSpPr>
            <a:spLocks noGrp="1"/>
          </p:cNvSpPr>
          <p:nvPr>
            <p:ph type="body" sz="quarter" idx="17"/>
          </p:nvPr>
        </p:nvSpPr>
        <p:spPr/>
        <p:txBody>
          <a:bodyPr/>
          <a:lstStyle/>
          <a:p>
            <a:r>
              <a:rPr lang="en-US" altLang="en-US" dirty="0"/>
              <a:t>Stateful packet filters</a:t>
            </a:r>
          </a:p>
          <a:p>
            <a:pPr lvl="1"/>
            <a:r>
              <a:rPr lang="en-US" altLang="en-US" dirty="0"/>
              <a:t>Record session-specific information about a network connection, including a </a:t>
            </a:r>
            <a:r>
              <a:rPr lang="en-US" altLang="en-US" b="1" dirty="0"/>
              <a:t>state table</a:t>
            </a:r>
          </a:p>
          <a:p>
            <a:pPr lvl="2"/>
            <a:r>
              <a:rPr lang="en-US" altLang="en-US" dirty="0"/>
              <a:t>State table is a way for the firewall to track the state of connections</a:t>
            </a:r>
          </a:p>
          <a:p>
            <a:pPr lvl="3"/>
            <a:r>
              <a:rPr lang="en-US" altLang="en-US" dirty="0"/>
              <a:t>Based on what kind of traffic is expected in a two-way session</a:t>
            </a:r>
          </a:p>
          <a:p>
            <a:pPr lvl="2"/>
            <a:r>
              <a:rPr lang="en-US" altLang="en-US" dirty="0"/>
              <a:t>Port scans relying on spoofing or sending packets after a three-way handshake are made ineffective if the firewall uses a state table</a:t>
            </a:r>
          </a:p>
          <a:p>
            <a:pPr lvl="2"/>
            <a:r>
              <a:rPr lang="en-US" altLang="en-US" dirty="0"/>
              <a:t>Recognize types of anomalies that most routers ignore</a:t>
            </a:r>
          </a:p>
          <a:p>
            <a:r>
              <a:rPr lang="en-US" altLang="en-US" b="1" dirty="0"/>
              <a:t>Stateless packet filters</a:t>
            </a:r>
          </a:p>
          <a:p>
            <a:pPr lvl="1"/>
            <a:r>
              <a:rPr lang="en-US" altLang="en-US" dirty="0"/>
              <a:t>Handle each packet on an individual basis</a:t>
            </a:r>
          </a:p>
          <a:p>
            <a:pPr lvl="2"/>
            <a:r>
              <a:rPr lang="en-US" altLang="en-US" dirty="0"/>
              <a:t>Hence, not resistant to spoofing or DoS attacks</a:t>
            </a:r>
          </a:p>
        </p:txBody>
      </p:sp>
    </p:spTree>
    <p:extLst>
      <p:ext uri="{BB962C8B-B14F-4D97-AF65-F5344CB8AC3E}">
        <p14:creationId xmlns:p14="http://schemas.microsoft.com/office/powerpoint/2010/main" val="842610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a:lstStyle/>
          <a:p>
            <a:r>
              <a:rPr lang="en-US" altLang="en-US" dirty="0"/>
              <a:t>State Table Example</a:t>
            </a:r>
            <a:endParaRPr lang="en-IN" dirty="0"/>
          </a:p>
        </p:txBody>
      </p:sp>
      <p:graphicFrame>
        <p:nvGraphicFramePr>
          <p:cNvPr id="4" name="Table 5">
            <a:extLst>
              <a:ext uri="{FF2B5EF4-FFF2-40B4-BE49-F238E27FC236}">
                <a16:creationId xmlns:a16="http://schemas.microsoft.com/office/drawing/2014/main" id="{593047C4-FD15-454F-856C-6FC948A57E54}"/>
              </a:ext>
            </a:extLst>
          </p:cNvPr>
          <p:cNvGraphicFramePr>
            <a:graphicFrameLocks noGrp="1"/>
          </p:cNvGraphicFramePr>
          <p:nvPr>
            <p:ph type="tbl" sz="quarter" idx="10"/>
            <p:extLst>
              <p:ext uri="{D42A27DB-BD31-4B8C-83A1-F6EECF244321}">
                <p14:modId xmlns:p14="http://schemas.microsoft.com/office/powerpoint/2010/main" val="230376174"/>
              </p:ext>
            </p:extLst>
          </p:nvPr>
        </p:nvGraphicFramePr>
        <p:xfrm>
          <a:off x="1366837" y="1932589"/>
          <a:ext cx="9458325" cy="2018736"/>
        </p:xfrm>
        <a:graphic>
          <a:graphicData uri="http://schemas.openxmlformats.org/drawingml/2006/table">
            <a:tbl>
              <a:tblPr firstRow="1" bandRow="1">
                <a:tableStyleId>{5C22544A-7EE6-4342-B048-85BDC9FD1C3A}</a:tableStyleId>
              </a:tblPr>
              <a:tblGrid>
                <a:gridCol w="1891665">
                  <a:extLst>
                    <a:ext uri="{9D8B030D-6E8A-4147-A177-3AD203B41FA5}">
                      <a16:colId xmlns:a16="http://schemas.microsoft.com/office/drawing/2014/main" val="52105766"/>
                    </a:ext>
                  </a:extLst>
                </a:gridCol>
                <a:gridCol w="1891665">
                  <a:extLst>
                    <a:ext uri="{9D8B030D-6E8A-4147-A177-3AD203B41FA5}">
                      <a16:colId xmlns:a16="http://schemas.microsoft.com/office/drawing/2014/main" val="3109648077"/>
                    </a:ext>
                  </a:extLst>
                </a:gridCol>
                <a:gridCol w="1891665">
                  <a:extLst>
                    <a:ext uri="{9D8B030D-6E8A-4147-A177-3AD203B41FA5}">
                      <a16:colId xmlns:a16="http://schemas.microsoft.com/office/drawing/2014/main" val="4095132887"/>
                    </a:ext>
                  </a:extLst>
                </a:gridCol>
                <a:gridCol w="1891665">
                  <a:extLst>
                    <a:ext uri="{9D8B030D-6E8A-4147-A177-3AD203B41FA5}">
                      <a16:colId xmlns:a16="http://schemas.microsoft.com/office/drawing/2014/main" val="3041295651"/>
                    </a:ext>
                  </a:extLst>
                </a:gridCol>
                <a:gridCol w="1891665">
                  <a:extLst>
                    <a:ext uri="{9D8B030D-6E8A-4147-A177-3AD203B41FA5}">
                      <a16:colId xmlns:a16="http://schemas.microsoft.com/office/drawing/2014/main" val="2797866090"/>
                    </a:ext>
                  </a:extLst>
                </a:gridCol>
              </a:tblGrid>
              <a:tr h="400708">
                <a:tc>
                  <a:txBody>
                    <a:bodyPr/>
                    <a:lstStyle/>
                    <a:p>
                      <a:r>
                        <a:rPr lang="en-IN" dirty="0"/>
                        <a:t>Source IP</a:t>
                      </a:r>
                    </a:p>
                  </a:txBody>
                  <a:tcPr/>
                </a:tc>
                <a:tc>
                  <a:txBody>
                    <a:bodyPr/>
                    <a:lstStyle/>
                    <a:p>
                      <a:r>
                        <a:rPr lang="en-IN" dirty="0"/>
                        <a:t>Source port</a:t>
                      </a:r>
                    </a:p>
                  </a:txBody>
                  <a:tcPr/>
                </a:tc>
                <a:tc>
                  <a:txBody>
                    <a:bodyPr/>
                    <a:lstStyle/>
                    <a:p>
                      <a:r>
                        <a:rPr lang="en-IN" dirty="0"/>
                        <a:t>Destination IP</a:t>
                      </a:r>
                    </a:p>
                  </a:txBody>
                  <a:tcPr/>
                </a:tc>
                <a:tc>
                  <a:txBody>
                    <a:bodyPr/>
                    <a:lstStyle/>
                    <a:p>
                      <a:r>
                        <a:rPr lang="en-IN" dirty="0"/>
                        <a:t>Destination port</a:t>
                      </a:r>
                    </a:p>
                  </a:txBody>
                  <a:tcPr/>
                </a:tc>
                <a:tc>
                  <a:txBody>
                    <a:bodyPr/>
                    <a:lstStyle/>
                    <a:p>
                      <a:r>
                        <a:rPr lang="en-IN" dirty="0"/>
                        <a:t>Connection state</a:t>
                      </a:r>
                    </a:p>
                  </a:txBody>
                  <a:tcPr/>
                </a:tc>
                <a:extLst>
                  <a:ext uri="{0D108BD9-81ED-4DB2-BD59-A6C34878D82A}">
                    <a16:rowId xmlns:a16="http://schemas.microsoft.com/office/drawing/2014/main" val="2926548311"/>
                  </a:ext>
                </a:extLst>
              </a:tr>
              <a:tr h="404507">
                <a:tc>
                  <a:txBody>
                    <a:bodyPr/>
                    <a:lstStyle/>
                    <a:p>
                      <a:r>
                        <a:rPr lang="en-IN" sz="1800" b="0" i="0" u="none" strike="noStrike" kern="1200" baseline="0" dirty="0">
                          <a:solidFill>
                            <a:schemeClr val="dk1"/>
                          </a:solidFill>
                          <a:latin typeface="+mn-lt"/>
                          <a:ea typeface="+mn-ea"/>
                          <a:cs typeface="+mn-cs"/>
                        </a:rPr>
                        <a:t>10.1.1.100</a:t>
                      </a:r>
                      <a:endParaRPr lang="en-IN" dirty="0"/>
                    </a:p>
                  </a:txBody>
                  <a:tcPr/>
                </a:tc>
                <a:tc>
                  <a:txBody>
                    <a:bodyPr/>
                    <a:lstStyle/>
                    <a:p>
                      <a:r>
                        <a:rPr lang="en-IN" sz="1800" b="0" i="0" u="none" strike="noStrike" kern="1200" baseline="0" dirty="0">
                          <a:solidFill>
                            <a:schemeClr val="dk1"/>
                          </a:solidFill>
                          <a:latin typeface="+mn-lt"/>
                          <a:ea typeface="+mn-ea"/>
                          <a:cs typeface="+mn-cs"/>
                        </a:rPr>
                        <a:t>1022</a:t>
                      </a:r>
                      <a:endParaRPr lang="en-IN" dirty="0"/>
                    </a:p>
                  </a:txBody>
                  <a:tcPr/>
                </a:tc>
                <a:tc>
                  <a:txBody>
                    <a:bodyPr/>
                    <a:lstStyle/>
                    <a:p>
                      <a:r>
                        <a:rPr lang="en-IN" sz="1800" b="0" i="0" u="none" strike="noStrike" kern="1200" baseline="0" dirty="0">
                          <a:solidFill>
                            <a:schemeClr val="dk1"/>
                          </a:solidFill>
                          <a:latin typeface="+mn-lt"/>
                          <a:ea typeface="+mn-ea"/>
                          <a:cs typeface="+mn-cs"/>
                        </a:rPr>
                        <a:t>193.145.85.201</a:t>
                      </a:r>
                      <a:endParaRPr lang="en-IN" dirty="0"/>
                    </a:p>
                  </a:txBody>
                  <a:tcPr/>
                </a:tc>
                <a:tc>
                  <a:txBody>
                    <a:bodyPr/>
                    <a:lstStyle/>
                    <a:p>
                      <a:r>
                        <a:rPr lang="en-IN" sz="1800" b="0" i="0" u="none" strike="noStrike" kern="1200" baseline="0" dirty="0">
                          <a:solidFill>
                            <a:schemeClr val="dk1"/>
                          </a:solidFill>
                          <a:latin typeface="+mn-lt"/>
                          <a:ea typeface="+mn-ea"/>
                          <a:cs typeface="+mn-cs"/>
                        </a:rPr>
                        <a:t>80</a:t>
                      </a:r>
                      <a:endParaRPr lang="en-IN" dirty="0"/>
                    </a:p>
                  </a:txBody>
                  <a:tcPr/>
                </a:tc>
                <a:tc>
                  <a:txBody>
                    <a:bodyPr/>
                    <a:lstStyle/>
                    <a:p>
                      <a:r>
                        <a:rPr lang="en-IN" sz="1800" b="0" i="0" u="none" strike="noStrike" kern="1200" baseline="0" dirty="0">
                          <a:solidFill>
                            <a:schemeClr val="dk1"/>
                          </a:solidFill>
                          <a:latin typeface="+mn-lt"/>
                          <a:ea typeface="+mn-ea"/>
                          <a:cs typeface="+mn-cs"/>
                        </a:rPr>
                        <a:t>Established</a:t>
                      </a:r>
                      <a:endParaRPr lang="en-IN" dirty="0"/>
                    </a:p>
                  </a:txBody>
                  <a:tcPr/>
                </a:tc>
                <a:extLst>
                  <a:ext uri="{0D108BD9-81ED-4DB2-BD59-A6C34878D82A}">
                    <a16:rowId xmlns:a16="http://schemas.microsoft.com/office/drawing/2014/main" val="985533563"/>
                  </a:ext>
                </a:extLst>
              </a:tr>
              <a:tr h="404507">
                <a:tc>
                  <a:txBody>
                    <a:bodyPr/>
                    <a:lstStyle/>
                    <a:p>
                      <a:r>
                        <a:rPr lang="en-IN" sz="1800" b="0" i="0" u="none" strike="noStrike" kern="1200" baseline="0" dirty="0">
                          <a:solidFill>
                            <a:schemeClr val="dk1"/>
                          </a:solidFill>
                          <a:latin typeface="+mn-lt"/>
                          <a:ea typeface="+mn-ea"/>
                          <a:cs typeface="+mn-cs"/>
                        </a:rPr>
                        <a:t>10.1.1.102</a:t>
                      </a:r>
                      <a:endParaRPr lang="en-IN" dirty="0"/>
                    </a:p>
                  </a:txBody>
                  <a:tcPr/>
                </a:tc>
                <a:tc>
                  <a:txBody>
                    <a:bodyPr/>
                    <a:lstStyle/>
                    <a:p>
                      <a:r>
                        <a:rPr lang="en-IN" sz="1800" b="0" i="0" u="none" strike="noStrike" kern="1200" baseline="0" dirty="0">
                          <a:solidFill>
                            <a:schemeClr val="dk1"/>
                          </a:solidFill>
                          <a:latin typeface="+mn-lt"/>
                          <a:ea typeface="+mn-ea"/>
                          <a:cs typeface="+mn-cs"/>
                        </a:rPr>
                        <a:t>1040</a:t>
                      </a:r>
                      <a:endParaRPr lang="en-IN" dirty="0"/>
                    </a:p>
                  </a:txBody>
                  <a:tcPr/>
                </a:tc>
                <a:tc>
                  <a:txBody>
                    <a:bodyPr/>
                    <a:lstStyle/>
                    <a:p>
                      <a:r>
                        <a:rPr lang="en-IN" sz="1800" b="0" i="0" u="none" strike="noStrike" kern="1200" baseline="0" dirty="0">
                          <a:solidFill>
                            <a:schemeClr val="dk1"/>
                          </a:solidFill>
                          <a:latin typeface="+mn-lt"/>
                          <a:ea typeface="+mn-ea"/>
                          <a:cs typeface="+mn-cs"/>
                        </a:rPr>
                        <a:t>193.145.85.1</a:t>
                      </a:r>
                      <a:endParaRPr lang="en-IN" dirty="0"/>
                    </a:p>
                  </a:txBody>
                  <a:tcPr/>
                </a:tc>
                <a:tc>
                  <a:txBody>
                    <a:bodyPr/>
                    <a:lstStyle/>
                    <a:p>
                      <a:r>
                        <a:rPr lang="en-IN" sz="1800" b="0" i="0" u="none" strike="noStrike" kern="1200" baseline="0" dirty="0">
                          <a:solidFill>
                            <a:schemeClr val="dk1"/>
                          </a:solidFill>
                          <a:latin typeface="+mn-lt"/>
                          <a:ea typeface="+mn-ea"/>
                          <a:cs typeface="+mn-cs"/>
                        </a:rPr>
                        <a:t>80</a:t>
                      </a:r>
                      <a:endParaRPr lang="en-IN" dirty="0"/>
                    </a:p>
                  </a:txBody>
                  <a:tcPr/>
                </a:tc>
                <a:tc>
                  <a:txBody>
                    <a:bodyPr/>
                    <a:lstStyle/>
                    <a:p>
                      <a:r>
                        <a:rPr lang="en-IN" sz="1800" b="0" i="0" u="none" strike="noStrike" kern="1200" baseline="0" dirty="0">
                          <a:solidFill>
                            <a:schemeClr val="dk1"/>
                          </a:solidFill>
                          <a:latin typeface="+mn-lt"/>
                          <a:ea typeface="+mn-ea"/>
                          <a:cs typeface="+mn-cs"/>
                        </a:rPr>
                        <a:t>Established</a:t>
                      </a:r>
                      <a:endParaRPr lang="en-IN" dirty="0"/>
                    </a:p>
                  </a:txBody>
                  <a:tcPr/>
                </a:tc>
                <a:extLst>
                  <a:ext uri="{0D108BD9-81ED-4DB2-BD59-A6C34878D82A}">
                    <a16:rowId xmlns:a16="http://schemas.microsoft.com/office/drawing/2014/main" val="1084235349"/>
                  </a:ext>
                </a:extLst>
              </a:tr>
              <a:tr h="404507">
                <a:tc>
                  <a:txBody>
                    <a:bodyPr/>
                    <a:lstStyle/>
                    <a:p>
                      <a:r>
                        <a:rPr lang="en-IN" sz="1800" b="0" i="0" u="none" strike="noStrike" kern="1200" baseline="0" dirty="0">
                          <a:solidFill>
                            <a:schemeClr val="dk1"/>
                          </a:solidFill>
                          <a:latin typeface="+mn-lt"/>
                          <a:ea typeface="+mn-ea"/>
                          <a:cs typeface="+mn-cs"/>
                        </a:rPr>
                        <a:t>10.1.1.110</a:t>
                      </a:r>
                      <a:endParaRPr lang="en-IN" dirty="0"/>
                    </a:p>
                  </a:txBody>
                  <a:tcPr/>
                </a:tc>
                <a:tc>
                  <a:txBody>
                    <a:bodyPr/>
                    <a:lstStyle/>
                    <a:p>
                      <a:r>
                        <a:rPr lang="en-IN" sz="1800" b="0" i="0" u="none" strike="noStrike" kern="1200" baseline="0" dirty="0">
                          <a:solidFill>
                            <a:schemeClr val="dk1"/>
                          </a:solidFill>
                          <a:latin typeface="+mn-lt"/>
                          <a:ea typeface="+mn-ea"/>
                          <a:cs typeface="+mn-cs"/>
                        </a:rPr>
                        <a:t>1035</a:t>
                      </a:r>
                      <a:endParaRPr lang="en-IN" dirty="0"/>
                    </a:p>
                  </a:txBody>
                  <a:tcPr/>
                </a:tc>
                <a:tc>
                  <a:txBody>
                    <a:bodyPr/>
                    <a:lstStyle/>
                    <a:p>
                      <a:r>
                        <a:rPr lang="en-IN" sz="1800" b="0" i="0" u="none" strike="noStrike" kern="1200" baseline="0" dirty="0">
                          <a:solidFill>
                            <a:schemeClr val="dk1"/>
                          </a:solidFill>
                          <a:latin typeface="+mn-lt"/>
                          <a:ea typeface="+mn-ea"/>
                          <a:cs typeface="+mn-cs"/>
                        </a:rPr>
                        <a:t>193.145.85.117</a:t>
                      </a:r>
                      <a:endParaRPr lang="en-IN" dirty="0"/>
                    </a:p>
                  </a:txBody>
                  <a:tcPr/>
                </a:tc>
                <a:tc>
                  <a:txBody>
                    <a:bodyPr/>
                    <a:lstStyle/>
                    <a:p>
                      <a:r>
                        <a:rPr lang="en-IN" sz="1800" b="0" i="0" u="none" strike="noStrike" kern="1200" baseline="0" dirty="0">
                          <a:solidFill>
                            <a:schemeClr val="dk1"/>
                          </a:solidFill>
                          <a:latin typeface="+mn-lt"/>
                          <a:ea typeface="+mn-ea"/>
                          <a:cs typeface="+mn-cs"/>
                        </a:rPr>
                        <a:t>23</a:t>
                      </a:r>
                      <a:endParaRPr lang="en-IN" dirty="0"/>
                    </a:p>
                  </a:txBody>
                  <a:tcPr/>
                </a:tc>
                <a:tc>
                  <a:txBody>
                    <a:bodyPr/>
                    <a:lstStyle/>
                    <a:p>
                      <a:r>
                        <a:rPr lang="en-IN" sz="1800" b="0" i="0" u="none" strike="noStrike" kern="1200" baseline="0" dirty="0">
                          <a:solidFill>
                            <a:schemeClr val="dk1"/>
                          </a:solidFill>
                          <a:latin typeface="+mn-lt"/>
                          <a:ea typeface="+mn-ea"/>
                          <a:cs typeface="+mn-cs"/>
                        </a:rPr>
                        <a:t>Established</a:t>
                      </a:r>
                      <a:endParaRPr lang="en-IN" dirty="0"/>
                    </a:p>
                  </a:txBody>
                  <a:tcPr/>
                </a:tc>
                <a:extLst>
                  <a:ext uri="{0D108BD9-81ED-4DB2-BD59-A6C34878D82A}">
                    <a16:rowId xmlns:a16="http://schemas.microsoft.com/office/drawing/2014/main" val="4152940717"/>
                  </a:ext>
                </a:extLst>
              </a:tr>
              <a:tr h="404507">
                <a:tc>
                  <a:txBody>
                    <a:bodyPr/>
                    <a:lstStyle/>
                    <a:p>
                      <a:r>
                        <a:rPr lang="en-IN" sz="1800" b="0" i="0" u="none" strike="noStrike" kern="1200" baseline="0" dirty="0">
                          <a:solidFill>
                            <a:schemeClr val="dk1"/>
                          </a:solidFill>
                          <a:latin typeface="+mn-lt"/>
                          <a:ea typeface="+mn-ea"/>
                          <a:cs typeface="+mn-cs"/>
                        </a:rPr>
                        <a:t>192.145.85.20</a:t>
                      </a:r>
                      <a:endParaRPr lang="en-IN" dirty="0"/>
                    </a:p>
                  </a:txBody>
                  <a:tcPr/>
                </a:tc>
                <a:tc>
                  <a:txBody>
                    <a:bodyPr/>
                    <a:lstStyle/>
                    <a:p>
                      <a:r>
                        <a:rPr lang="en-IN" sz="1800" b="0" i="0" u="none" strike="noStrike" kern="1200" baseline="0" dirty="0">
                          <a:solidFill>
                            <a:schemeClr val="dk1"/>
                          </a:solidFill>
                          <a:latin typeface="+mn-lt"/>
                          <a:ea typeface="+mn-ea"/>
                          <a:cs typeface="+mn-cs"/>
                        </a:rPr>
                        <a:t>1080</a:t>
                      </a:r>
                      <a:endParaRPr lang="en-IN" dirty="0"/>
                    </a:p>
                  </a:txBody>
                  <a:tcPr/>
                </a:tc>
                <a:tc>
                  <a:txBody>
                    <a:bodyPr/>
                    <a:lstStyle/>
                    <a:p>
                      <a:r>
                        <a:rPr lang="en-IN" sz="1800" b="0" i="0" u="none" strike="noStrike" kern="1200" baseline="0" dirty="0">
                          <a:solidFill>
                            <a:schemeClr val="dk1"/>
                          </a:solidFill>
                          <a:latin typeface="+mn-lt"/>
                          <a:ea typeface="+mn-ea"/>
                          <a:cs typeface="+mn-cs"/>
                        </a:rPr>
                        <a:t>10.1.1.210</a:t>
                      </a:r>
                      <a:endParaRPr lang="en-IN" dirty="0"/>
                    </a:p>
                  </a:txBody>
                  <a:tcPr/>
                </a:tc>
                <a:tc>
                  <a:txBody>
                    <a:bodyPr/>
                    <a:lstStyle/>
                    <a:p>
                      <a:r>
                        <a:rPr lang="en-IN" sz="1800" b="0" i="0" u="none" strike="noStrike" kern="1200" baseline="0" dirty="0">
                          <a:solidFill>
                            <a:schemeClr val="dk1"/>
                          </a:solidFill>
                          <a:latin typeface="+mn-lt"/>
                          <a:ea typeface="+mn-ea"/>
                          <a:cs typeface="+mn-cs"/>
                        </a:rPr>
                        <a:t>25</a:t>
                      </a:r>
                      <a:endParaRPr lang="en-IN" dirty="0"/>
                    </a:p>
                  </a:txBody>
                  <a:tcPr/>
                </a:tc>
                <a:tc>
                  <a:txBody>
                    <a:bodyPr/>
                    <a:lstStyle/>
                    <a:p>
                      <a:r>
                        <a:rPr lang="en-IN" sz="1800" b="0" i="0" u="none" strike="noStrike" kern="1200" baseline="0" dirty="0">
                          <a:solidFill>
                            <a:schemeClr val="dk1"/>
                          </a:solidFill>
                          <a:latin typeface="+mn-lt"/>
                          <a:ea typeface="+mn-ea"/>
                          <a:cs typeface="+mn-cs"/>
                        </a:rPr>
                        <a:t>Closed</a:t>
                      </a:r>
                      <a:endParaRPr lang="en-IN" dirty="0"/>
                    </a:p>
                  </a:txBody>
                  <a:tcPr/>
                </a:tc>
                <a:extLst>
                  <a:ext uri="{0D108BD9-81ED-4DB2-BD59-A6C34878D82A}">
                    <a16:rowId xmlns:a16="http://schemas.microsoft.com/office/drawing/2014/main" val="3603920857"/>
                  </a:ext>
                </a:extLst>
              </a:tr>
            </a:tbl>
          </a:graphicData>
        </a:graphic>
      </p:graphicFrame>
    </p:spTree>
    <p:extLst>
      <p:ext uri="{BB962C8B-B14F-4D97-AF65-F5344CB8AC3E}">
        <p14:creationId xmlns:p14="http://schemas.microsoft.com/office/powerpoint/2010/main" val="36366063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a:lstStyle/>
          <a:p>
            <a:r>
              <a:rPr lang="en-US" altLang="en-US" dirty="0"/>
              <a:t>Application Layer Inspection</a:t>
            </a:r>
            <a:endParaRPr lang="en-IN" dirty="0"/>
          </a:p>
        </p:txBody>
      </p:sp>
      <p:sp>
        <p:nvSpPr>
          <p:cNvPr id="3" name="Text Placeholder 2">
            <a:extLst>
              <a:ext uri="{FF2B5EF4-FFF2-40B4-BE49-F238E27FC236}">
                <a16:creationId xmlns:a16="http://schemas.microsoft.com/office/drawing/2014/main" id="{23E86B04-DF53-4733-A983-09A6D7E30D64}"/>
              </a:ext>
            </a:extLst>
          </p:cNvPr>
          <p:cNvSpPr>
            <a:spLocks noGrp="1"/>
          </p:cNvSpPr>
          <p:nvPr>
            <p:ph type="body" sz="quarter" idx="17"/>
          </p:nvPr>
        </p:nvSpPr>
        <p:spPr/>
        <p:txBody>
          <a:bodyPr/>
          <a:lstStyle/>
          <a:p>
            <a:r>
              <a:rPr lang="en-US" altLang="en-US" b="1" dirty="0"/>
              <a:t>Application-aware firewall</a:t>
            </a:r>
          </a:p>
          <a:p>
            <a:pPr lvl="1"/>
            <a:r>
              <a:rPr lang="en-US" altLang="en-US" dirty="0"/>
              <a:t>Inspects network traffic at a higher level in the OSI model than a traditional SPI firewall does</a:t>
            </a:r>
          </a:p>
          <a:p>
            <a:pPr lvl="2"/>
            <a:r>
              <a:rPr lang="en-US" altLang="en-US" dirty="0"/>
              <a:t>SPI ensures that a packet’s source, destination, and port are inspected before forwarding the packet</a:t>
            </a:r>
          </a:p>
          <a:p>
            <a:pPr lvl="2"/>
            <a:r>
              <a:rPr lang="en-US" altLang="en-US" dirty="0"/>
              <a:t>A firewall performing application layer inspection ensures that the network traffic’s application protocol is the type allowed by a rule</a:t>
            </a:r>
          </a:p>
          <a:p>
            <a:pPr lvl="1"/>
            <a:r>
              <a:rPr lang="en-US" altLang="en-US" dirty="0"/>
              <a:t>Some application-aware firewalls act as a proxy for all connections</a:t>
            </a:r>
          </a:p>
          <a:p>
            <a:pPr lvl="2"/>
            <a:r>
              <a:rPr lang="en-US" altLang="en-US" dirty="0"/>
              <a:t>Act as a safety net for servers or clients (or both)</a:t>
            </a:r>
          </a:p>
          <a:p>
            <a:pPr lvl="3"/>
            <a:r>
              <a:rPr lang="en-US" altLang="en-US" dirty="0"/>
              <a:t>Depending on what the firewall is protecting</a:t>
            </a:r>
          </a:p>
          <a:p>
            <a:pPr lvl="2"/>
            <a:r>
              <a:rPr lang="en-US" altLang="en-US" b="1" dirty="0"/>
              <a:t>Web application firewall (WAF)</a:t>
            </a:r>
          </a:p>
          <a:p>
            <a:pPr lvl="3"/>
            <a:r>
              <a:rPr lang="en-US" altLang="en-US" dirty="0"/>
              <a:t>An application-aware firewall that is protecting a web application</a:t>
            </a:r>
          </a:p>
        </p:txBody>
      </p:sp>
    </p:spTree>
    <p:extLst>
      <p:ext uri="{BB962C8B-B14F-4D97-AF65-F5344CB8AC3E}">
        <p14:creationId xmlns:p14="http://schemas.microsoft.com/office/powerpoint/2010/main" val="3972297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a:lstStyle/>
          <a:p>
            <a:r>
              <a:rPr lang="en-US" altLang="en-US" dirty="0"/>
              <a:t>Implementing a Firewall</a:t>
            </a:r>
            <a:endParaRPr lang="en-IN" dirty="0"/>
          </a:p>
        </p:txBody>
      </p:sp>
      <p:sp>
        <p:nvSpPr>
          <p:cNvPr id="3" name="Text Placeholder 2">
            <a:extLst>
              <a:ext uri="{FF2B5EF4-FFF2-40B4-BE49-F238E27FC236}">
                <a16:creationId xmlns:a16="http://schemas.microsoft.com/office/drawing/2014/main" id="{23E86B04-DF53-4733-A983-09A6D7E30D64}"/>
              </a:ext>
            </a:extLst>
          </p:cNvPr>
          <p:cNvSpPr>
            <a:spLocks noGrp="1"/>
          </p:cNvSpPr>
          <p:nvPr>
            <p:ph type="body" sz="quarter" idx="17"/>
          </p:nvPr>
        </p:nvSpPr>
        <p:spPr/>
        <p:txBody>
          <a:bodyPr/>
          <a:lstStyle/>
          <a:p>
            <a:r>
              <a:rPr lang="en-US" altLang="en-US" dirty="0"/>
              <a:t>Using a single firewall between a company’s internal network and the Internet can be dangerous</a:t>
            </a:r>
          </a:p>
          <a:p>
            <a:pPr lvl="1"/>
            <a:r>
              <a:rPr lang="en-US" altLang="en-US" dirty="0"/>
              <a:t>Provides hackers complete access to the internal network if the firewall is compromised</a:t>
            </a:r>
          </a:p>
          <a:p>
            <a:r>
              <a:rPr lang="en-US" altLang="en-US" dirty="0"/>
              <a:t>Use a demilitarized zone (DMZ) instead</a:t>
            </a:r>
          </a:p>
          <a:p>
            <a:pPr lvl="1"/>
            <a:r>
              <a:rPr lang="en-US" altLang="en-US" dirty="0"/>
              <a:t>Adds a layer of defense</a:t>
            </a:r>
          </a:p>
        </p:txBody>
      </p:sp>
    </p:spTree>
    <p:extLst>
      <p:ext uri="{BB962C8B-B14F-4D97-AF65-F5344CB8AC3E}">
        <p14:creationId xmlns:p14="http://schemas.microsoft.com/office/powerpoint/2010/main" val="17157122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a:lstStyle/>
          <a:p>
            <a:r>
              <a:rPr lang="en-US" altLang="en-US" dirty="0"/>
              <a:t>Demilitarized Zone (1 of 3)</a:t>
            </a:r>
            <a:endParaRPr lang="en-IN" dirty="0"/>
          </a:p>
        </p:txBody>
      </p:sp>
      <p:sp>
        <p:nvSpPr>
          <p:cNvPr id="3" name="Text Placeholder 2">
            <a:extLst>
              <a:ext uri="{FF2B5EF4-FFF2-40B4-BE49-F238E27FC236}">
                <a16:creationId xmlns:a16="http://schemas.microsoft.com/office/drawing/2014/main" id="{23E86B04-DF53-4733-A983-09A6D7E30D64}"/>
              </a:ext>
            </a:extLst>
          </p:cNvPr>
          <p:cNvSpPr>
            <a:spLocks noGrp="1"/>
          </p:cNvSpPr>
          <p:nvPr>
            <p:ph type="body" sz="quarter" idx="17"/>
          </p:nvPr>
        </p:nvSpPr>
        <p:spPr/>
        <p:txBody>
          <a:bodyPr/>
          <a:lstStyle/>
          <a:p>
            <a:pPr eaLnBrk="1" hangingPunct="1"/>
            <a:r>
              <a:rPr lang="en-US" altLang="en-US" dirty="0"/>
              <a:t>Small network containing resources that a company wants to make available to Internet users</a:t>
            </a:r>
          </a:p>
          <a:p>
            <a:pPr lvl="1"/>
            <a:r>
              <a:rPr lang="en-US" altLang="en-US" dirty="0"/>
              <a:t>Helps maintain security on the company’s internal network</a:t>
            </a:r>
          </a:p>
          <a:p>
            <a:pPr eaLnBrk="1" hangingPunct="1"/>
            <a:r>
              <a:rPr lang="en-US" altLang="en-US" dirty="0"/>
              <a:t>Sits between the Internet and the internal network</a:t>
            </a:r>
          </a:p>
          <a:p>
            <a:pPr lvl="1" eaLnBrk="1" hangingPunct="1"/>
            <a:r>
              <a:rPr lang="en-US" altLang="en-US" dirty="0"/>
              <a:t>Sometimes referred to as a “perimeter network”</a:t>
            </a:r>
          </a:p>
        </p:txBody>
      </p:sp>
    </p:spTree>
    <p:extLst>
      <p:ext uri="{BB962C8B-B14F-4D97-AF65-F5344CB8AC3E}">
        <p14:creationId xmlns:p14="http://schemas.microsoft.com/office/powerpoint/2010/main" val="3720485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a:lstStyle/>
          <a:p>
            <a:r>
              <a:rPr lang="en-US" altLang="en-US" dirty="0"/>
              <a:t>Demilitarized Zone (2 of 3)</a:t>
            </a:r>
            <a:endParaRPr lang="en-IN" dirty="0"/>
          </a:p>
        </p:txBody>
      </p:sp>
      <p:sp>
        <p:nvSpPr>
          <p:cNvPr id="5" name="Text Placeholder 4">
            <a:extLst>
              <a:ext uri="{FF2B5EF4-FFF2-40B4-BE49-F238E27FC236}">
                <a16:creationId xmlns:a16="http://schemas.microsoft.com/office/drawing/2014/main" id="{74C31D3B-AC2D-4D3F-98F5-87E69D3A2C19}"/>
              </a:ext>
            </a:extLst>
          </p:cNvPr>
          <p:cNvSpPr>
            <a:spLocks noGrp="1"/>
          </p:cNvSpPr>
          <p:nvPr>
            <p:ph type="body" sz="quarter" idx="11"/>
          </p:nvPr>
        </p:nvSpPr>
        <p:spPr>
          <a:xfrm>
            <a:off x="3894083" y="5495139"/>
            <a:ext cx="5297214" cy="403595"/>
          </a:xfrm>
        </p:spPr>
        <p:txBody>
          <a:bodyPr/>
          <a:lstStyle/>
          <a:p>
            <a:r>
              <a:rPr lang="en-US" b="1" dirty="0"/>
              <a:t>Figure 13-2 </a:t>
            </a:r>
            <a:r>
              <a:rPr lang="en-US" dirty="0"/>
              <a:t>A DMZ protecting an internal network</a:t>
            </a:r>
            <a:endParaRPr lang="en-IN" dirty="0"/>
          </a:p>
        </p:txBody>
      </p:sp>
      <p:pic>
        <p:nvPicPr>
          <p:cNvPr id="8" name="Picture Placeholder 7" descr="A diagram showing a web server and an email server in a DMZ network connected to the internet cloud. A firewall is situated between these servers and the internal network. ">
            <a:extLst>
              <a:ext uri="{FF2B5EF4-FFF2-40B4-BE49-F238E27FC236}">
                <a16:creationId xmlns:a16="http://schemas.microsoft.com/office/drawing/2014/main" id="{EF3F176A-F29F-4B81-94C3-9F55E3D90DF3}"/>
              </a:ext>
            </a:extLst>
          </p:cNvPr>
          <p:cNvPicPr>
            <a:picLocks noGrp="1" noChangeAspect="1"/>
          </p:cNvPicPr>
          <p:nvPr>
            <p:ph type="pic" sz="quarter" idx="10"/>
          </p:nvPr>
        </p:nvPicPr>
        <p:blipFill rotWithShape="1">
          <a:blip r:embed="rId2"/>
          <a:srcRect l="1490" r="126"/>
          <a:stretch/>
        </p:blipFill>
        <p:spPr>
          <a:xfrm>
            <a:off x="2060926" y="1161063"/>
            <a:ext cx="8328550" cy="3813675"/>
          </a:xfrm>
        </p:spPr>
      </p:pic>
    </p:spTree>
    <p:extLst>
      <p:ext uri="{BB962C8B-B14F-4D97-AF65-F5344CB8AC3E}">
        <p14:creationId xmlns:p14="http://schemas.microsoft.com/office/powerpoint/2010/main" val="10548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a:lstStyle/>
          <a:p>
            <a:r>
              <a:rPr lang="en-US" altLang="en-US" dirty="0"/>
              <a:t>Demilitarized Zone (3 of 3)</a:t>
            </a:r>
            <a:endParaRPr lang="en-IN" dirty="0"/>
          </a:p>
        </p:txBody>
      </p:sp>
      <p:sp>
        <p:nvSpPr>
          <p:cNvPr id="5" name="Text Placeholder 4">
            <a:extLst>
              <a:ext uri="{FF2B5EF4-FFF2-40B4-BE49-F238E27FC236}">
                <a16:creationId xmlns:a16="http://schemas.microsoft.com/office/drawing/2014/main" id="{74C31D3B-AC2D-4D3F-98F5-87E69D3A2C19}"/>
              </a:ext>
            </a:extLst>
          </p:cNvPr>
          <p:cNvSpPr>
            <a:spLocks noGrp="1"/>
          </p:cNvSpPr>
          <p:nvPr>
            <p:ph type="body" sz="quarter" idx="11"/>
          </p:nvPr>
        </p:nvSpPr>
        <p:spPr>
          <a:xfrm>
            <a:off x="3184635" y="5463993"/>
            <a:ext cx="6794938" cy="306186"/>
          </a:xfrm>
        </p:spPr>
        <p:txBody>
          <a:bodyPr/>
          <a:lstStyle/>
          <a:p>
            <a:r>
              <a:rPr lang="en-US" b="1" dirty="0"/>
              <a:t>Figure 13-3 </a:t>
            </a:r>
            <a:r>
              <a:rPr lang="en-US" dirty="0"/>
              <a:t>An additional firewall used to protect the DMZ</a:t>
            </a:r>
            <a:endParaRPr lang="en-IN" dirty="0"/>
          </a:p>
        </p:txBody>
      </p:sp>
      <p:pic>
        <p:nvPicPr>
          <p:cNvPr id="7" name="Picture Placeholder 6" descr="A diagram showing a web server and an email server in a D M Z network connected to the internet cloud. A firewall is situated between these servers and the internal network, and an additional firewall is situated between these servers and the Internet.">
            <a:extLst>
              <a:ext uri="{FF2B5EF4-FFF2-40B4-BE49-F238E27FC236}">
                <a16:creationId xmlns:a16="http://schemas.microsoft.com/office/drawing/2014/main" id="{978C79F3-6109-46B0-9666-C46A1638E350}"/>
              </a:ext>
            </a:extLst>
          </p:cNvPr>
          <p:cNvPicPr>
            <a:picLocks noGrp="1" noChangeAspect="1"/>
          </p:cNvPicPr>
          <p:nvPr>
            <p:ph type="pic" sz="quarter" idx="10"/>
          </p:nvPr>
        </p:nvPicPr>
        <p:blipFill rotWithShape="1">
          <a:blip r:embed="rId2"/>
          <a:srcRect l="6692" r="570"/>
          <a:stretch/>
        </p:blipFill>
        <p:spPr>
          <a:xfrm>
            <a:off x="1497724" y="1355834"/>
            <a:ext cx="9205491" cy="3650822"/>
          </a:xfrm>
        </p:spPr>
      </p:pic>
    </p:spTree>
    <p:extLst>
      <p:ext uri="{BB962C8B-B14F-4D97-AF65-F5344CB8AC3E}">
        <p14:creationId xmlns:p14="http://schemas.microsoft.com/office/powerpoint/2010/main" val="525125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55FDC-AFF9-471E-8FBC-765AD3B9E765}"/>
              </a:ext>
            </a:extLst>
          </p:cNvPr>
          <p:cNvSpPr>
            <a:spLocks noGrp="1"/>
          </p:cNvSpPr>
          <p:nvPr>
            <p:ph type="title"/>
          </p:nvPr>
        </p:nvSpPr>
        <p:spPr/>
        <p:txBody>
          <a:bodyPr/>
          <a:lstStyle/>
          <a:p>
            <a:r>
              <a:rPr lang="en-US" altLang="en-US" sz="3000" dirty="0"/>
              <a:t>Examining the Cisco Adaptive Security Appliance Firewall</a:t>
            </a:r>
            <a:endParaRPr lang="en-IN" sz="3000" dirty="0"/>
          </a:p>
        </p:txBody>
      </p:sp>
      <p:sp>
        <p:nvSpPr>
          <p:cNvPr id="3" name="Text Placeholder 2">
            <a:extLst>
              <a:ext uri="{FF2B5EF4-FFF2-40B4-BE49-F238E27FC236}">
                <a16:creationId xmlns:a16="http://schemas.microsoft.com/office/drawing/2014/main" id="{3F5D9B23-6174-473D-9A03-61B458315866}"/>
              </a:ext>
            </a:extLst>
          </p:cNvPr>
          <p:cNvSpPr>
            <a:spLocks noGrp="1"/>
          </p:cNvSpPr>
          <p:nvPr>
            <p:ph type="body" sz="quarter" idx="17"/>
          </p:nvPr>
        </p:nvSpPr>
        <p:spPr/>
        <p:txBody>
          <a:bodyPr/>
          <a:lstStyle/>
          <a:p>
            <a:r>
              <a:rPr lang="en-US" altLang="en-US" dirty="0"/>
              <a:t>Cisco Adaptive Security Appliance (A S A) firewall</a:t>
            </a:r>
          </a:p>
          <a:p>
            <a:pPr lvl="1"/>
            <a:r>
              <a:rPr lang="en-US" altLang="en-US" dirty="0"/>
              <a:t>One of the most widely used firewalls</a:t>
            </a:r>
          </a:p>
          <a:p>
            <a:pPr lvl="1"/>
            <a:r>
              <a:rPr lang="en-US" altLang="en-US" dirty="0"/>
              <a:t>Replaced the Cisco PIX firewall</a:t>
            </a:r>
          </a:p>
          <a:p>
            <a:pPr lvl="1"/>
            <a:r>
              <a:rPr lang="en-US" altLang="en-US" dirty="0"/>
              <a:t>Added advanced modular features</a:t>
            </a:r>
          </a:p>
          <a:p>
            <a:pPr lvl="2"/>
            <a:r>
              <a:rPr lang="en-US" altLang="en-US" dirty="0"/>
              <a:t>Intrusion detection and prevention</a:t>
            </a:r>
          </a:p>
          <a:p>
            <a:pPr lvl="2"/>
            <a:r>
              <a:rPr lang="en-US" altLang="en-US" dirty="0"/>
              <a:t>More sophisticated application layer inspection</a:t>
            </a:r>
          </a:p>
        </p:txBody>
      </p:sp>
    </p:spTree>
    <p:extLst>
      <p:ext uri="{BB962C8B-B14F-4D97-AF65-F5344CB8AC3E}">
        <p14:creationId xmlns:p14="http://schemas.microsoft.com/office/powerpoint/2010/main" val="4246640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Configuring the A S A Firewall (1 of 2)</a:t>
            </a:r>
            <a:endParaRPr lang="en-US" dirty="0"/>
          </a:p>
        </p:txBody>
      </p:sp>
      <p:sp>
        <p:nvSpPr>
          <p:cNvPr id="2" name="Text Placeholder 1"/>
          <p:cNvSpPr>
            <a:spLocks noGrp="1"/>
          </p:cNvSpPr>
          <p:nvPr>
            <p:ph type="body" sz="quarter" idx="17"/>
          </p:nvPr>
        </p:nvSpPr>
        <p:spPr/>
        <p:txBody>
          <a:bodyPr>
            <a:noAutofit/>
          </a:bodyPr>
          <a:lstStyle/>
          <a:p>
            <a:pPr eaLnBrk="1" hangingPunct="1"/>
            <a:r>
              <a:rPr lang="en-US" altLang="en-US" dirty="0"/>
              <a:t>Similar logon prompt as a Cisco router</a:t>
            </a:r>
          </a:p>
          <a:p>
            <a:pPr lvl="1" eaLnBrk="1" hangingPunct="1"/>
            <a:r>
              <a:rPr lang="en-US" altLang="en-US" dirty="0"/>
              <a:t>Prompt</a:t>
            </a:r>
          </a:p>
          <a:p>
            <a:pPr lvl="1" eaLnBrk="1" hangingPunct="1">
              <a:buFontTx/>
              <a:buNone/>
            </a:pPr>
            <a:r>
              <a:rPr lang="en-US" altLang="en-US" sz="1800" dirty="0">
                <a:latin typeface="Courier New" panose="02070309020205020404" pitchFamily="49" charset="0"/>
              </a:rPr>
              <a:t>	</a:t>
            </a:r>
            <a:r>
              <a:rPr lang="en-US" altLang="en-US" dirty="0">
                <a:latin typeface="Courier New" panose="02070309020205020404" pitchFamily="49" charset="0"/>
              </a:rPr>
              <a:t>If you are not authorized to be in this XYZ Hawaii network device, log out immediately!</a:t>
            </a:r>
          </a:p>
          <a:p>
            <a:pPr lvl="1" eaLnBrk="1" hangingPunct="1">
              <a:buFontTx/>
              <a:buNone/>
            </a:pPr>
            <a:r>
              <a:rPr lang="en-US" altLang="en-US" dirty="0">
                <a:latin typeface="Courier New" panose="02070309020205020404" pitchFamily="49" charset="0"/>
              </a:rPr>
              <a:t>	Username: admin</a:t>
            </a:r>
          </a:p>
          <a:p>
            <a:pPr lvl="1" eaLnBrk="1" hangingPunct="1">
              <a:buFontTx/>
              <a:buNone/>
            </a:pPr>
            <a:r>
              <a:rPr lang="en-US" altLang="en-US" dirty="0">
                <a:latin typeface="Courier New" panose="02070309020205020404" pitchFamily="49" charset="0"/>
              </a:rPr>
              <a:t>	Password: ******** </a:t>
            </a:r>
          </a:p>
          <a:p>
            <a:pPr lvl="2"/>
            <a:r>
              <a:rPr lang="en-US" altLang="en-US" dirty="0"/>
              <a:t>The banner warning serves a legal purpose</a:t>
            </a:r>
          </a:p>
          <a:p>
            <a:pPr lvl="1" eaLnBrk="1" hangingPunct="1"/>
            <a:r>
              <a:rPr lang="en-US" altLang="en-US" dirty="0"/>
              <a:t>Prompt after successful log on</a:t>
            </a:r>
          </a:p>
          <a:p>
            <a:pPr lvl="1" eaLnBrk="1" hangingPunct="1">
              <a:buFontTx/>
              <a:buNone/>
            </a:pPr>
            <a:r>
              <a:rPr lang="en-US" altLang="en-US" sz="1800" dirty="0">
                <a:latin typeface="Courier New" panose="02070309020205020404" pitchFamily="49" charset="0"/>
              </a:rPr>
              <a:t>	</a:t>
            </a:r>
            <a:r>
              <a:rPr lang="en-US" altLang="en-US" dirty="0">
                <a:latin typeface="Courier New" panose="02070309020205020404" pitchFamily="49" charset="0"/>
              </a:rPr>
              <a:t>Type help or '?' for a list of available commands.</a:t>
            </a:r>
          </a:p>
          <a:p>
            <a:pPr lvl="1" eaLnBrk="1" hangingPunct="1">
              <a:buFontTx/>
              <a:buNone/>
            </a:pPr>
            <a:r>
              <a:rPr lang="en-US" altLang="en-US" dirty="0">
                <a:latin typeface="Courier New" panose="02070309020205020404" pitchFamily="49" charset="0"/>
              </a:rPr>
              <a:t>	ciscoasa&gt;</a:t>
            </a:r>
          </a:p>
        </p:txBody>
      </p:sp>
    </p:spTree>
    <p:extLst>
      <p:ext uri="{BB962C8B-B14F-4D97-AF65-F5344CB8AC3E}">
        <p14:creationId xmlns:p14="http://schemas.microsoft.com/office/powerpoint/2010/main" val="1460256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Configuring the A S A Firewall (2 of 2)</a:t>
            </a:r>
            <a:endParaRPr lang="en-US" dirty="0"/>
          </a:p>
        </p:txBody>
      </p:sp>
      <p:sp>
        <p:nvSpPr>
          <p:cNvPr id="2" name="Text Placeholder 1"/>
          <p:cNvSpPr>
            <a:spLocks noGrp="1"/>
          </p:cNvSpPr>
          <p:nvPr>
            <p:ph type="body" sz="quarter" idx="17"/>
          </p:nvPr>
        </p:nvSpPr>
        <p:spPr/>
        <p:txBody>
          <a:bodyPr>
            <a:noAutofit/>
          </a:bodyPr>
          <a:lstStyle/>
          <a:p>
            <a:pPr eaLnBrk="1" hangingPunct="1">
              <a:defRPr/>
            </a:pPr>
            <a:r>
              <a:rPr lang="en-US" dirty="0"/>
              <a:t>After entering the correct password, you are placed in a privileged mode</a:t>
            </a:r>
          </a:p>
          <a:p>
            <a:pPr eaLnBrk="1" hangingPunct="1">
              <a:defRPr/>
            </a:pPr>
            <a:r>
              <a:rPr lang="en-US" dirty="0"/>
              <a:t>To enter configuration mode in A S A:</a:t>
            </a:r>
          </a:p>
          <a:p>
            <a:pPr lvl="1" eaLnBrk="1" hangingPunct="1">
              <a:defRPr/>
            </a:pPr>
            <a:r>
              <a:rPr lang="en-US" dirty="0"/>
              <a:t>Use the same command as on a Cisco router</a:t>
            </a:r>
          </a:p>
          <a:p>
            <a:pPr lvl="1" eaLnBrk="1" hangingPunct="1">
              <a:buFontTx/>
              <a:buNone/>
              <a:defRPr/>
            </a:pPr>
            <a:r>
              <a:rPr lang="en-US" dirty="0">
                <a:latin typeface="Courier New" panose="02070309020205020404" pitchFamily="49" charset="0"/>
                <a:cs typeface="Courier New" panose="02070309020205020404" pitchFamily="49" charset="0"/>
              </a:rPr>
              <a:t>	configure terminal </a:t>
            </a:r>
            <a:r>
              <a:rPr lang="en-US" dirty="0"/>
              <a:t>or</a:t>
            </a:r>
            <a:r>
              <a:rPr lang="en-US" dirty="0">
                <a:latin typeface="Courier New" panose="02070309020205020404" pitchFamily="49" charset="0"/>
                <a:cs typeface="Courier New" panose="02070309020205020404" pitchFamily="49" charset="0"/>
              </a:rPr>
              <a:t> configure t</a:t>
            </a:r>
          </a:p>
          <a:p>
            <a:pPr eaLnBrk="1" hangingPunct="1">
              <a:defRPr/>
            </a:pPr>
            <a:r>
              <a:rPr lang="en-US" dirty="0"/>
              <a:t>Look at how the firewall uses access lists to filter traffic</a:t>
            </a:r>
          </a:p>
          <a:p>
            <a:pPr lvl="1" eaLnBrk="1" hangingPunct="1">
              <a:defRPr/>
            </a:pPr>
            <a:r>
              <a:rPr lang="en-US" dirty="0"/>
              <a:t>To view access list type, use the following command:</a:t>
            </a:r>
          </a:p>
          <a:p>
            <a:pPr marL="457200" lvl="1" indent="0" eaLnBrk="1" hangingPunct="1">
              <a:buFontTx/>
              <a:buNone/>
              <a:defRPr/>
            </a:pPr>
            <a:r>
              <a:rPr lang="en-US" dirty="0"/>
              <a:t>		# </a:t>
            </a:r>
            <a:r>
              <a:rPr lang="en-US" dirty="0">
                <a:latin typeface="Courier New" panose="02070309020205020404" pitchFamily="49" charset="0"/>
                <a:cs typeface="Courier New" panose="02070309020205020404" pitchFamily="49" charset="0"/>
              </a:rPr>
              <a:t>show run access-list</a:t>
            </a:r>
          </a:p>
          <a:p>
            <a:pPr marL="342900" lvl="1" indent="-342900">
              <a:spcBef>
                <a:spcPts val="1000"/>
              </a:spcBef>
              <a:buClr>
                <a:srgbClr val="004A78"/>
              </a:buClr>
              <a:defRPr/>
            </a:pPr>
            <a:r>
              <a:rPr lang="en-US" dirty="0"/>
              <a:t>Next, look at the object group listing in the A S A configuration</a:t>
            </a:r>
          </a:p>
          <a:p>
            <a:pPr marL="0" lvl="1" indent="0">
              <a:spcBef>
                <a:spcPts val="1000"/>
              </a:spcBef>
              <a:buClr>
                <a:srgbClr val="004A78"/>
              </a:buClr>
              <a:buNone/>
              <a:defRPr/>
            </a:pPr>
            <a:r>
              <a:rPr lang="en-US" dirty="0"/>
              <a:t>	</a:t>
            </a:r>
            <a:r>
              <a:rPr lang="en-IN" i="0" u="none" strike="noStrike" baseline="0" dirty="0">
                <a:latin typeface="CourierStd-Bold"/>
              </a:rPr>
              <a:t>show run object-group</a:t>
            </a:r>
            <a:endParaRPr lang="en-US" sz="2400" dirty="0"/>
          </a:p>
        </p:txBody>
      </p:sp>
    </p:spTree>
    <p:extLst>
      <p:ext uri="{BB962C8B-B14F-4D97-AF65-F5344CB8AC3E}">
        <p14:creationId xmlns:p14="http://schemas.microsoft.com/office/powerpoint/2010/main" val="1739030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2800" dirty="0"/>
              <a:t>Using Configuration and Risk Analysis Tools for Firewalls and Routers (1 of 3)</a:t>
            </a:r>
            <a:endParaRPr lang="en-US" sz="2800" dirty="0"/>
          </a:p>
        </p:txBody>
      </p:sp>
      <p:sp>
        <p:nvSpPr>
          <p:cNvPr id="2" name="Text Placeholder 1"/>
          <p:cNvSpPr>
            <a:spLocks noGrp="1"/>
          </p:cNvSpPr>
          <p:nvPr>
            <p:ph type="body" sz="quarter" idx="17"/>
          </p:nvPr>
        </p:nvSpPr>
        <p:spPr/>
        <p:txBody>
          <a:bodyPr>
            <a:noAutofit/>
          </a:bodyPr>
          <a:lstStyle/>
          <a:p>
            <a:r>
              <a:rPr lang="en-US" altLang="en-US" dirty="0"/>
              <a:t>Center for Internet Security (C I S)</a:t>
            </a:r>
          </a:p>
          <a:p>
            <a:pPr lvl="1"/>
            <a:r>
              <a:rPr lang="en-US" altLang="en-US" dirty="0"/>
              <a:t>One of the best websites for finding configuration benchmarks and configuration assessment tools</a:t>
            </a:r>
          </a:p>
          <a:p>
            <a:r>
              <a:rPr lang="en-US" altLang="en-US" dirty="0"/>
              <a:t>Benchmark </a:t>
            </a:r>
          </a:p>
          <a:p>
            <a:pPr lvl="1"/>
            <a:r>
              <a:rPr lang="en-US" altLang="en-US" dirty="0"/>
              <a:t>Industry consensus of best configuration practices on how and why to secure a Cisco router or firewall</a:t>
            </a:r>
          </a:p>
          <a:p>
            <a:pPr lvl="2"/>
            <a:r>
              <a:rPr lang="en-US" altLang="en-US" dirty="0"/>
              <a:t>For Cisco devices, use the C I S Cisco IOS Benchmark</a:t>
            </a:r>
          </a:p>
          <a:p>
            <a:pPr lvl="2"/>
            <a:r>
              <a:rPr lang="en-US" altLang="en-US" dirty="0"/>
              <a:t>The most recent version is 16.0</a:t>
            </a:r>
          </a:p>
          <a:p>
            <a:r>
              <a:rPr lang="en-US" altLang="en-US" dirty="0"/>
              <a:t>C I S offers a useful tool called Configuration Assessment Tool (C A T)</a:t>
            </a:r>
          </a:p>
          <a:p>
            <a:pPr lvl="1"/>
            <a:r>
              <a:rPr lang="en-US" altLang="en-US" dirty="0"/>
              <a:t>Faster and easier to use</a:t>
            </a:r>
          </a:p>
          <a:p>
            <a:pPr lvl="1"/>
            <a:r>
              <a:rPr lang="en-US" altLang="en-US" dirty="0"/>
              <a:t>Available for both *nix and Windows systems</a:t>
            </a:r>
          </a:p>
        </p:txBody>
      </p:sp>
    </p:spTree>
    <p:extLst>
      <p:ext uri="{BB962C8B-B14F-4D97-AF65-F5344CB8AC3E}">
        <p14:creationId xmlns:p14="http://schemas.microsoft.com/office/powerpoint/2010/main" val="17630901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2800" dirty="0"/>
              <a:t>Using Configuration and Risk Analysis Tools for Firewalls and Routers (2 of 3)</a:t>
            </a:r>
            <a:endParaRPr lang="en-US" sz="2800" dirty="0"/>
          </a:p>
        </p:txBody>
      </p:sp>
      <p:sp>
        <p:nvSpPr>
          <p:cNvPr id="2" name="Text Placeholder 1"/>
          <p:cNvSpPr>
            <a:spLocks noGrp="1"/>
          </p:cNvSpPr>
          <p:nvPr>
            <p:ph type="body" sz="quarter" idx="17"/>
          </p:nvPr>
        </p:nvSpPr>
        <p:spPr/>
        <p:txBody>
          <a:bodyPr>
            <a:noAutofit/>
          </a:bodyPr>
          <a:lstStyle/>
          <a:p>
            <a:r>
              <a:rPr lang="en-US" altLang="en-US" dirty="0"/>
              <a:t>RedSeal</a:t>
            </a:r>
          </a:p>
          <a:p>
            <a:pPr lvl="1"/>
            <a:r>
              <a:rPr lang="en-US" altLang="en-US" dirty="0"/>
              <a:t>A unique network risk analysis and mapping tool</a:t>
            </a:r>
          </a:p>
          <a:p>
            <a:pPr lvl="1"/>
            <a:r>
              <a:rPr lang="en-US" altLang="en-US" dirty="0"/>
              <a:t>Can identify configuration vulnerabilities in routers or firewalls</a:t>
            </a:r>
          </a:p>
          <a:p>
            <a:pPr lvl="1"/>
            <a:r>
              <a:rPr lang="en-US" altLang="en-US" dirty="0"/>
              <a:t>Generates professional-looking reports that can be customized</a:t>
            </a:r>
          </a:p>
          <a:p>
            <a:pPr lvl="1"/>
            <a:r>
              <a:rPr lang="en-US" altLang="en-US" dirty="0"/>
              <a:t>Analyzes IPSs and OS vulnerability scans of a network</a:t>
            </a:r>
          </a:p>
          <a:p>
            <a:pPr lvl="2"/>
            <a:r>
              <a:rPr lang="en-US" altLang="en-US" dirty="0"/>
              <a:t>To produce detailed analysis and mapping</a:t>
            </a:r>
          </a:p>
          <a:p>
            <a:pPr lvl="1"/>
            <a:r>
              <a:rPr lang="en-US" altLang="en-US" dirty="0"/>
              <a:t>Shows a graphical representation of vulnerabilities discovered in the context of the network on which they are found</a:t>
            </a:r>
          </a:p>
        </p:txBody>
      </p:sp>
    </p:spTree>
    <p:extLst>
      <p:ext uri="{BB962C8B-B14F-4D97-AF65-F5344CB8AC3E}">
        <p14:creationId xmlns:p14="http://schemas.microsoft.com/office/powerpoint/2010/main" val="4071233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2800" dirty="0"/>
              <a:t>Using Configuration and Risk Analysis Tools for Firewalls and Routers (3 of 3)</a:t>
            </a:r>
            <a:endParaRPr lang="en-US" sz="2800" dirty="0"/>
          </a:p>
        </p:txBody>
      </p:sp>
      <p:pic>
        <p:nvPicPr>
          <p:cNvPr id="8" name="Picture Placeholder 7" descr="A network map showing connectivity between many devices (including routers) indicating what devices are threatened as a result of a single host being compromised.">
            <a:extLst>
              <a:ext uri="{FF2B5EF4-FFF2-40B4-BE49-F238E27FC236}">
                <a16:creationId xmlns:a16="http://schemas.microsoft.com/office/drawing/2014/main" id="{8710CA24-3601-4FAD-B112-E3E93EA565DB}"/>
              </a:ext>
            </a:extLst>
          </p:cNvPr>
          <p:cNvPicPr>
            <a:picLocks noGrp="1" noChangeAspect="1"/>
          </p:cNvPicPr>
          <p:nvPr>
            <p:ph type="pic" sz="quarter" idx="10"/>
          </p:nvPr>
        </p:nvPicPr>
        <p:blipFill rotWithShape="1">
          <a:blip r:embed="rId3"/>
          <a:srcRect l="1419" r="855"/>
          <a:stretch/>
        </p:blipFill>
        <p:spPr>
          <a:xfrm>
            <a:off x="504497" y="1619557"/>
            <a:ext cx="6974475" cy="4259263"/>
          </a:xfrm>
        </p:spPr>
      </p:pic>
      <p:sp>
        <p:nvSpPr>
          <p:cNvPr id="6" name="Text Placeholder 5">
            <a:extLst>
              <a:ext uri="{FF2B5EF4-FFF2-40B4-BE49-F238E27FC236}">
                <a16:creationId xmlns:a16="http://schemas.microsoft.com/office/drawing/2014/main" id="{5AB97553-B880-419C-B4CF-B7C08A2EACA5}"/>
              </a:ext>
            </a:extLst>
          </p:cNvPr>
          <p:cNvSpPr>
            <a:spLocks noGrp="1"/>
          </p:cNvSpPr>
          <p:nvPr>
            <p:ph type="body" sz="quarter" idx="12"/>
          </p:nvPr>
        </p:nvSpPr>
        <p:spPr>
          <a:xfrm rot="16200000">
            <a:off x="5756410" y="3767707"/>
            <a:ext cx="3707552" cy="262425"/>
          </a:xfrm>
        </p:spPr>
        <p:txBody>
          <a:bodyPr/>
          <a:lstStyle/>
          <a:p>
            <a:r>
              <a:rPr lang="en-IN" dirty="0"/>
              <a:t>Source: RedSeal</a:t>
            </a:r>
          </a:p>
        </p:txBody>
      </p:sp>
      <p:sp>
        <p:nvSpPr>
          <p:cNvPr id="5" name="Text Placeholder 4">
            <a:extLst>
              <a:ext uri="{FF2B5EF4-FFF2-40B4-BE49-F238E27FC236}">
                <a16:creationId xmlns:a16="http://schemas.microsoft.com/office/drawing/2014/main" id="{61697485-A492-4019-9821-2F2A4CE71668}"/>
              </a:ext>
            </a:extLst>
          </p:cNvPr>
          <p:cNvSpPr>
            <a:spLocks noGrp="1"/>
          </p:cNvSpPr>
          <p:nvPr>
            <p:ph type="body" sz="quarter" idx="11"/>
          </p:nvPr>
        </p:nvSpPr>
        <p:spPr>
          <a:xfrm>
            <a:off x="7898524" y="4871546"/>
            <a:ext cx="4051738" cy="672105"/>
          </a:xfrm>
        </p:spPr>
        <p:txBody>
          <a:bodyPr/>
          <a:lstStyle/>
          <a:p>
            <a:r>
              <a:rPr lang="en-US" b="1" dirty="0"/>
              <a:t>Figure 13-4 </a:t>
            </a:r>
            <a:r>
              <a:rPr lang="en-US" dirty="0"/>
              <a:t>The RedSeal network risk map</a:t>
            </a:r>
            <a:endParaRPr lang="en-IN" dirty="0"/>
          </a:p>
        </p:txBody>
      </p:sp>
    </p:spTree>
    <p:extLst>
      <p:ext uri="{BB962C8B-B14F-4D97-AF65-F5344CB8AC3E}">
        <p14:creationId xmlns:p14="http://schemas.microsoft.com/office/powerpoint/2010/main" val="1153234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13-2</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Firewalls use which of the following to hide the internal network topology from outside users?</a:t>
            </a:r>
          </a:p>
          <a:p>
            <a:endParaRPr lang="en-US" sz="2000" dirty="0"/>
          </a:p>
          <a:p>
            <a:pPr marL="457200" indent="-457200">
              <a:buFont typeface="+mj-lt"/>
              <a:buAutoNum type="alphaLcPeriod"/>
            </a:pPr>
            <a:r>
              <a:rPr lang="sv-SE" sz="2000" dirty="0"/>
              <a:t>Packet filtering</a:t>
            </a:r>
          </a:p>
          <a:p>
            <a:pPr marL="457200" indent="-457200">
              <a:buFont typeface="+mj-lt"/>
              <a:buAutoNum type="alphaLcPeriod"/>
            </a:pPr>
            <a:r>
              <a:rPr lang="sv-SE" sz="2000" dirty="0"/>
              <a:t>SPI</a:t>
            </a:r>
          </a:p>
          <a:p>
            <a:pPr marL="457200" indent="-457200">
              <a:buFont typeface="+mj-lt"/>
              <a:buAutoNum type="alphaLcPeriod"/>
            </a:pPr>
            <a:r>
              <a:rPr lang="sv-SE" sz="2000" dirty="0"/>
              <a:t>ACL</a:t>
            </a:r>
          </a:p>
          <a:p>
            <a:pPr marL="457200" indent="-457200">
              <a:buFont typeface="+mj-lt"/>
              <a:buAutoNum type="alphaLcPeriod"/>
            </a:pPr>
            <a:r>
              <a:rPr lang="sv-SE" sz="2000" dirty="0"/>
              <a:t>N A T</a:t>
            </a:r>
          </a:p>
        </p:txBody>
      </p:sp>
    </p:spTree>
    <p:extLst>
      <p:ext uri="{BB962C8B-B14F-4D97-AF65-F5344CB8AC3E}">
        <p14:creationId xmlns:p14="http://schemas.microsoft.com/office/powerpoint/2010/main" val="8538104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13-2: Answer</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Firewalls use which of the following to hide the internal network topology from outside users?</a:t>
            </a:r>
          </a:p>
          <a:p>
            <a:pPr>
              <a:spcBef>
                <a:spcPts val="600"/>
              </a:spcBef>
              <a:spcAft>
                <a:spcPts val="600"/>
              </a:spcAft>
            </a:pPr>
            <a:endParaRPr lang="en-US" sz="2000" b="1" dirty="0"/>
          </a:p>
          <a:p>
            <a:pPr>
              <a:spcBef>
                <a:spcPts val="600"/>
              </a:spcBef>
              <a:spcAft>
                <a:spcPts val="600"/>
              </a:spcAft>
            </a:pPr>
            <a:r>
              <a:rPr lang="en-US" sz="2000" b="1" dirty="0"/>
              <a:t>Answer: d. N A T</a:t>
            </a:r>
          </a:p>
          <a:p>
            <a:pPr>
              <a:spcBef>
                <a:spcPts val="600"/>
              </a:spcBef>
              <a:spcAft>
                <a:spcPts val="600"/>
              </a:spcAft>
            </a:pPr>
            <a:r>
              <a:rPr lang="en-US" sz="2000" b="1" dirty="0"/>
              <a:t>The most basic security feature of a firewall is Network Address Translation (N A T). With N A T, internal private IP addresses are mapped to public external IP addresses, hiding the internal infrastructure from unauthorized personnel.</a:t>
            </a:r>
          </a:p>
        </p:txBody>
      </p:sp>
    </p:spTree>
    <p:extLst>
      <p:ext uri="{BB962C8B-B14F-4D97-AF65-F5344CB8AC3E}">
        <p14:creationId xmlns:p14="http://schemas.microsoft.com/office/powerpoint/2010/main" val="30564639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2800" dirty="0"/>
              <a:t>Protecting with Intrusion Detection and Prevention Systems</a:t>
            </a:r>
            <a:endParaRPr lang="en-US" sz="2800" dirty="0"/>
          </a:p>
        </p:txBody>
      </p:sp>
      <p:sp>
        <p:nvSpPr>
          <p:cNvPr id="2" name="Text Placeholder 1"/>
          <p:cNvSpPr>
            <a:spLocks noGrp="1"/>
          </p:cNvSpPr>
          <p:nvPr>
            <p:ph type="body" sz="quarter" idx="17"/>
          </p:nvPr>
        </p:nvSpPr>
        <p:spPr/>
        <p:txBody>
          <a:bodyPr>
            <a:noAutofit/>
          </a:bodyPr>
          <a:lstStyle/>
          <a:p>
            <a:r>
              <a:rPr lang="en-US" altLang="en-US" b="1" dirty="0"/>
              <a:t>Intrusion detection systems (IDSs)</a:t>
            </a:r>
          </a:p>
          <a:p>
            <a:pPr lvl="1"/>
            <a:r>
              <a:rPr lang="en-US" altLang="en-US" dirty="0"/>
              <a:t>Monitor network devices </a:t>
            </a:r>
          </a:p>
          <a:p>
            <a:pPr lvl="2"/>
            <a:r>
              <a:rPr lang="en-US" altLang="en-US" dirty="0"/>
              <a:t>Security administrators can identify attacks in progress and stop them</a:t>
            </a:r>
          </a:p>
          <a:p>
            <a:pPr lvl="1"/>
            <a:r>
              <a:rPr lang="en-US" altLang="en-US" dirty="0"/>
              <a:t>Examine the traffic traversing a connection and compares it with known exploits</a:t>
            </a:r>
          </a:p>
          <a:p>
            <a:pPr lvl="2"/>
            <a:r>
              <a:rPr lang="en-US" altLang="en-US" dirty="0"/>
              <a:t>Similar to virus software using a signature file to identify viruses</a:t>
            </a:r>
          </a:p>
          <a:p>
            <a:r>
              <a:rPr lang="en-US" altLang="en-US" b="1" dirty="0"/>
              <a:t>Intrusion prevention systems (IPSs) </a:t>
            </a:r>
          </a:p>
          <a:p>
            <a:pPr lvl="1"/>
            <a:r>
              <a:rPr lang="en-US" altLang="en-US" dirty="0"/>
              <a:t>Similar to IDSs</a:t>
            </a:r>
          </a:p>
          <a:p>
            <a:pPr lvl="1"/>
            <a:r>
              <a:rPr lang="en-US" altLang="en-US" dirty="0"/>
              <a:t>Also perform some sort of action to prevent the intrusion</a:t>
            </a:r>
          </a:p>
        </p:txBody>
      </p:sp>
    </p:spTree>
    <p:extLst>
      <p:ext uri="{BB962C8B-B14F-4D97-AF65-F5344CB8AC3E}">
        <p14:creationId xmlns:p14="http://schemas.microsoft.com/office/powerpoint/2010/main" val="26162018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t>Network-Based and Host-Based IDSs and IPSs (1 of 4)</a:t>
            </a:r>
            <a:endParaRPr lang="en-US" sz="3200" dirty="0"/>
          </a:p>
        </p:txBody>
      </p:sp>
      <p:sp>
        <p:nvSpPr>
          <p:cNvPr id="2" name="Text Placeholder 1"/>
          <p:cNvSpPr>
            <a:spLocks noGrp="1"/>
          </p:cNvSpPr>
          <p:nvPr>
            <p:ph type="body" sz="quarter" idx="17"/>
          </p:nvPr>
        </p:nvSpPr>
        <p:spPr/>
        <p:txBody>
          <a:bodyPr>
            <a:noAutofit/>
          </a:bodyPr>
          <a:lstStyle/>
          <a:p>
            <a:pPr eaLnBrk="1" hangingPunct="1"/>
            <a:r>
              <a:rPr lang="en-US" altLang="en-US" b="1" dirty="0"/>
              <a:t>Network-based IDSs/IPSs</a:t>
            </a:r>
          </a:p>
          <a:p>
            <a:pPr lvl="1" eaLnBrk="1" hangingPunct="1"/>
            <a:r>
              <a:rPr lang="en-US" altLang="en-US" dirty="0"/>
              <a:t>Monitor activity on network segments</a:t>
            </a:r>
          </a:p>
          <a:p>
            <a:pPr lvl="1" eaLnBrk="1" hangingPunct="1"/>
            <a:r>
              <a:rPr lang="en-US" altLang="en-US" dirty="0"/>
              <a:t>Sniff traffic as it flows over the network</a:t>
            </a:r>
          </a:p>
          <a:p>
            <a:pPr lvl="2"/>
            <a:r>
              <a:rPr lang="en-US" altLang="en-US" dirty="0"/>
              <a:t>Alerts security administrator when something suspicious occurs</a:t>
            </a:r>
          </a:p>
          <a:p>
            <a:pPr lvl="1"/>
            <a:r>
              <a:rPr lang="en-US" altLang="en-US" dirty="0"/>
              <a:t>Some of these systems can block traffic</a:t>
            </a:r>
          </a:p>
          <a:p>
            <a:pPr eaLnBrk="1" hangingPunct="1"/>
            <a:r>
              <a:rPr lang="en-US" altLang="en-US" b="1" dirty="0"/>
              <a:t>Host-based IDSs/IPSs</a:t>
            </a:r>
          </a:p>
          <a:p>
            <a:pPr lvl="1" eaLnBrk="1" hangingPunct="1"/>
            <a:r>
              <a:rPr lang="en-US" altLang="en-US" dirty="0"/>
              <a:t>Used to protect a critical network server or database server</a:t>
            </a:r>
          </a:p>
          <a:p>
            <a:pPr lvl="1" eaLnBrk="1" hangingPunct="1"/>
            <a:r>
              <a:rPr lang="en-US" altLang="en-US" dirty="0"/>
              <a:t>The IDS or IPS software is installed on the system you’re attempting to protect</a:t>
            </a:r>
          </a:p>
        </p:txBody>
      </p:sp>
    </p:spTree>
    <p:extLst>
      <p:ext uri="{BB962C8B-B14F-4D97-AF65-F5344CB8AC3E}">
        <p14:creationId xmlns:p14="http://schemas.microsoft.com/office/powerpoint/2010/main" val="24676113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t>Network-Based and Host-Based IDSs and IPSs (2 of 4)</a:t>
            </a:r>
            <a:endParaRPr lang="en-US" sz="3200" dirty="0"/>
          </a:p>
        </p:txBody>
      </p:sp>
      <p:sp>
        <p:nvSpPr>
          <p:cNvPr id="2" name="Text Placeholder 1"/>
          <p:cNvSpPr>
            <a:spLocks noGrp="1"/>
          </p:cNvSpPr>
          <p:nvPr>
            <p:ph type="body" sz="quarter" idx="17"/>
          </p:nvPr>
        </p:nvSpPr>
        <p:spPr/>
        <p:txBody>
          <a:bodyPr>
            <a:noAutofit/>
          </a:bodyPr>
          <a:lstStyle/>
          <a:p>
            <a:r>
              <a:rPr lang="en-US" altLang="en-US" dirty="0"/>
              <a:t>IDSs can also be categorized by how they react when they detect suspicious behavior</a:t>
            </a:r>
          </a:p>
          <a:p>
            <a:pPr lvl="1"/>
            <a:r>
              <a:rPr lang="en-US" altLang="en-US" b="1" dirty="0"/>
              <a:t>Passive systems</a:t>
            </a:r>
          </a:p>
          <a:p>
            <a:pPr lvl="2"/>
            <a:r>
              <a:rPr lang="en-US" altLang="en-US" dirty="0"/>
              <a:t>Don’t take preventative action</a:t>
            </a:r>
          </a:p>
          <a:p>
            <a:pPr lvl="2"/>
            <a:r>
              <a:rPr lang="en-US" altLang="en-US" dirty="0"/>
              <a:t>Send out an alert and log the activity</a:t>
            </a:r>
          </a:p>
          <a:p>
            <a:pPr lvl="1"/>
            <a:r>
              <a:rPr lang="en-US" altLang="en-US" b="1" dirty="0"/>
              <a:t>Active systems</a:t>
            </a:r>
          </a:p>
          <a:p>
            <a:pPr lvl="2"/>
            <a:r>
              <a:rPr lang="en-US" altLang="en-US" dirty="0"/>
              <a:t>Log events and send out alerts</a:t>
            </a:r>
          </a:p>
          <a:p>
            <a:pPr lvl="2"/>
            <a:r>
              <a:rPr lang="en-US" altLang="en-US" dirty="0"/>
              <a:t>Can also interoperate with routers and firewalls to stop an attack</a:t>
            </a:r>
          </a:p>
        </p:txBody>
      </p:sp>
    </p:spTree>
    <p:extLst>
      <p:ext uri="{BB962C8B-B14F-4D97-AF65-F5344CB8AC3E}">
        <p14:creationId xmlns:p14="http://schemas.microsoft.com/office/powerpoint/2010/main" val="19416250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t>Network-Based and Host-Based IDSs and IPSs (3 of 4)</a:t>
            </a:r>
            <a:endParaRPr lang="en-US" sz="3200" dirty="0"/>
          </a:p>
        </p:txBody>
      </p:sp>
      <p:sp>
        <p:nvSpPr>
          <p:cNvPr id="2" name="Text Placeholder 1"/>
          <p:cNvSpPr>
            <a:spLocks noGrp="1"/>
          </p:cNvSpPr>
          <p:nvPr>
            <p:ph type="body" sz="quarter" idx="17"/>
          </p:nvPr>
        </p:nvSpPr>
        <p:spPr/>
        <p:txBody>
          <a:bodyPr>
            <a:noAutofit/>
          </a:bodyPr>
          <a:lstStyle/>
          <a:p>
            <a:r>
              <a:rPr lang="en-US" altLang="en-US" dirty="0"/>
              <a:t>Vendors have started focusing their marketing efforts on IPSs</a:t>
            </a:r>
          </a:p>
          <a:p>
            <a:pPr lvl="1"/>
            <a:r>
              <a:rPr lang="en-US" altLang="en-US" dirty="0"/>
              <a:t>A true network-based IPS is installed inline to network infrastructure</a:t>
            </a:r>
          </a:p>
          <a:p>
            <a:pPr lvl="2"/>
            <a:r>
              <a:rPr lang="en-US" altLang="en-US" dirty="0"/>
              <a:t>Traffic has to pass through IPS before going into or out of the network</a:t>
            </a:r>
          </a:p>
          <a:p>
            <a:pPr lvl="1"/>
            <a:r>
              <a:rPr lang="en-US" altLang="en-US" dirty="0"/>
              <a:t>More capable of stopping malicious traffic because it is inline</a:t>
            </a:r>
          </a:p>
          <a:p>
            <a:pPr lvl="1"/>
            <a:r>
              <a:rPr lang="en-US" altLang="en-US" dirty="0"/>
              <a:t>Host-based IPSs operate at the OS (or kernel) level</a:t>
            </a:r>
          </a:p>
          <a:p>
            <a:pPr lvl="2"/>
            <a:r>
              <a:rPr lang="en-US" altLang="en-US" dirty="0"/>
              <a:t>Intercept traffic that is not allowed by the host policy</a:t>
            </a:r>
          </a:p>
        </p:txBody>
      </p:sp>
    </p:spTree>
    <p:extLst>
      <p:ext uri="{BB962C8B-B14F-4D97-AF65-F5344CB8AC3E}">
        <p14:creationId xmlns:p14="http://schemas.microsoft.com/office/powerpoint/2010/main" val="22594701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t>Network-Based and Host-Based IDSs and IPSs (4 of 4)</a:t>
            </a:r>
            <a:endParaRPr lang="en-US" sz="3200" dirty="0"/>
          </a:p>
        </p:txBody>
      </p:sp>
      <p:sp>
        <p:nvSpPr>
          <p:cNvPr id="6" name="Text Placeholder 5">
            <a:extLst>
              <a:ext uri="{FF2B5EF4-FFF2-40B4-BE49-F238E27FC236}">
                <a16:creationId xmlns:a16="http://schemas.microsoft.com/office/drawing/2014/main" id="{FF622052-0362-4A01-A493-7714761A4F5C}"/>
              </a:ext>
            </a:extLst>
          </p:cNvPr>
          <p:cNvSpPr>
            <a:spLocks noGrp="1"/>
          </p:cNvSpPr>
          <p:nvPr>
            <p:ph type="body" sz="quarter" idx="17"/>
          </p:nvPr>
        </p:nvSpPr>
        <p:spPr/>
        <p:txBody>
          <a:bodyPr/>
          <a:lstStyle/>
          <a:p>
            <a:r>
              <a:rPr lang="en-US" altLang="en-US" b="1" dirty="0"/>
              <a:t>Anomaly-based IDS</a:t>
            </a:r>
          </a:p>
          <a:p>
            <a:pPr lvl="1"/>
            <a:r>
              <a:rPr lang="en-US" altLang="en-US" dirty="0"/>
              <a:t>Uses a baseline of normal activity</a:t>
            </a:r>
          </a:p>
          <a:p>
            <a:pPr lvl="2"/>
            <a:r>
              <a:rPr lang="en-US" altLang="en-US" dirty="0"/>
              <a:t>Sends an alert if the activity deviates significantly from this baseline</a:t>
            </a:r>
          </a:p>
          <a:p>
            <a:pPr lvl="1"/>
            <a:r>
              <a:rPr lang="en-US" altLang="en-US" dirty="0"/>
              <a:t>Most IDS/IPS solutions have anomaly-detection capabilities built in</a:t>
            </a:r>
          </a:p>
        </p:txBody>
      </p:sp>
      <p:graphicFrame>
        <p:nvGraphicFramePr>
          <p:cNvPr id="3" name="Table 4">
            <a:extLst>
              <a:ext uri="{FF2B5EF4-FFF2-40B4-BE49-F238E27FC236}">
                <a16:creationId xmlns:a16="http://schemas.microsoft.com/office/drawing/2014/main" id="{65592E30-4B43-447D-8055-86BD26CCF8E7}"/>
              </a:ext>
            </a:extLst>
          </p:cNvPr>
          <p:cNvGraphicFramePr>
            <a:graphicFrameLocks noGrp="1"/>
          </p:cNvGraphicFramePr>
          <p:nvPr>
            <p:ph type="tbl" sz="quarter" idx="18"/>
            <p:extLst>
              <p:ext uri="{D42A27DB-BD31-4B8C-83A1-F6EECF244321}">
                <p14:modId xmlns:p14="http://schemas.microsoft.com/office/powerpoint/2010/main" val="3935552412"/>
              </p:ext>
            </p:extLst>
          </p:nvPr>
        </p:nvGraphicFramePr>
        <p:xfrm>
          <a:off x="1014414" y="3135674"/>
          <a:ext cx="10587036" cy="2123440"/>
        </p:xfrm>
        <a:graphic>
          <a:graphicData uri="http://schemas.openxmlformats.org/drawingml/2006/table">
            <a:tbl>
              <a:tblPr firstRow="1" bandRow="1">
                <a:tableStyleId>{5C22544A-7EE6-4342-B048-85BDC9FD1C3A}</a:tableStyleId>
              </a:tblPr>
              <a:tblGrid>
                <a:gridCol w="3920193">
                  <a:extLst>
                    <a:ext uri="{9D8B030D-6E8A-4147-A177-3AD203B41FA5}">
                      <a16:colId xmlns:a16="http://schemas.microsoft.com/office/drawing/2014/main" val="3168628857"/>
                    </a:ext>
                  </a:extLst>
                </a:gridCol>
                <a:gridCol w="6666843">
                  <a:extLst>
                    <a:ext uri="{9D8B030D-6E8A-4147-A177-3AD203B41FA5}">
                      <a16:colId xmlns:a16="http://schemas.microsoft.com/office/drawing/2014/main" val="4018112705"/>
                    </a:ext>
                  </a:extLst>
                </a:gridCol>
              </a:tblGrid>
              <a:tr h="370840">
                <a:tc>
                  <a:txBody>
                    <a:bodyPr/>
                    <a:lstStyle/>
                    <a:p>
                      <a:r>
                        <a:rPr lang="en-IN" dirty="0"/>
                        <a:t>Product</a:t>
                      </a:r>
                    </a:p>
                  </a:txBody>
                  <a:tcPr/>
                </a:tc>
                <a:tc>
                  <a:txBody>
                    <a:bodyPr/>
                    <a:lstStyle/>
                    <a:p>
                      <a:r>
                        <a:rPr lang="en-IN" dirty="0"/>
                        <a:t>Description</a:t>
                      </a:r>
                    </a:p>
                  </a:txBody>
                  <a:tcPr/>
                </a:tc>
                <a:extLst>
                  <a:ext uri="{0D108BD9-81ED-4DB2-BD59-A6C34878D82A}">
                    <a16:rowId xmlns:a16="http://schemas.microsoft.com/office/drawing/2014/main" val="1652441169"/>
                  </a:ext>
                </a:extLst>
              </a:tr>
              <a:tr h="370840">
                <a:tc>
                  <a:txBody>
                    <a:bodyPr/>
                    <a:lstStyle/>
                    <a:p>
                      <a:r>
                        <a:rPr lang="en-US" sz="1800" b="0" i="0" u="none" strike="noStrike" kern="1200" baseline="0" dirty="0">
                          <a:solidFill>
                            <a:schemeClr val="dk1"/>
                          </a:solidFill>
                          <a:latin typeface="+mn-lt"/>
                          <a:ea typeface="+mn-ea"/>
                          <a:cs typeface="+mn-cs"/>
                          <a:hlinkClick r:id="rId3"/>
                        </a:rPr>
                        <a:t>McAfee Network Protection System</a:t>
                      </a:r>
                      <a:endParaRPr lang="en-IN" dirty="0"/>
                    </a:p>
                  </a:txBody>
                  <a:tcPr/>
                </a:tc>
                <a:tc>
                  <a:txBody>
                    <a:bodyPr/>
                    <a:lstStyle/>
                    <a:p>
                      <a:r>
                        <a:rPr lang="en-US" sz="1800" b="0" i="0" u="none" strike="noStrike" kern="1200" baseline="0" dirty="0">
                          <a:solidFill>
                            <a:schemeClr val="dk1"/>
                          </a:solidFill>
                          <a:latin typeface="+mn-lt"/>
                          <a:ea typeface="+mn-ea"/>
                          <a:cs typeface="+mn-cs"/>
                        </a:rPr>
                        <a:t>A network-based IDS/IPS with anomaly-detection capabilities</a:t>
                      </a:r>
                      <a:endParaRPr lang="en-IN" dirty="0"/>
                    </a:p>
                  </a:txBody>
                  <a:tcPr/>
                </a:tc>
                <a:extLst>
                  <a:ext uri="{0D108BD9-81ED-4DB2-BD59-A6C34878D82A}">
                    <a16:rowId xmlns:a16="http://schemas.microsoft.com/office/drawing/2014/main" val="3715161114"/>
                  </a:ext>
                </a:extLst>
              </a:tr>
              <a:tr h="370840">
                <a:tc>
                  <a:txBody>
                    <a:bodyPr/>
                    <a:lstStyle/>
                    <a:p>
                      <a:r>
                        <a:rPr lang="en-IN" sz="1800" b="0" i="0" u="none" strike="noStrike" kern="1200" baseline="0" dirty="0">
                          <a:solidFill>
                            <a:schemeClr val="dk1"/>
                          </a:solidFill>
                          <a:latin typeface="+mn-lt"/>
                          <a:ea typeface="+mn-ea"/>
                          <a:cs typeface="+mn-cs"/>
                          <a:hlinkClick r:id="rId4"/>
                        </a:rPr>
                        <a:t>Snort</a:t>
                      </a:r>
                      <a:endParaRPr lang="en-IN" dirty="0"/>
                    </a:p>
                  </a:txBody>
                  <a:tcPr/>
                </a:tc>
                <a:tc>
                  <a:txBody>
                    <a:bodyPr/>
                    <a:lstStyle/>
                    <a:p>
                      <a:r>
                        <a:rPr lang="en-US" sz="1800" b="0" i="0" u="none" strike="noStrike" kern="1200" baseline="0" dirty="0">
                          <a:solidFill>
                            <a:schemeClr val="dk1"/>
                          </a:solidFill>
                          <a:latin typeface="+mn-lt"/>
                          <a:ea typeface="+mn-ea"/>
                          <a:cs typeface="+mn-cs"/>
                        </a:rPr>
                        <a:t>A popular open-source network-based IDS</a:t>
                      </a:r>
                      <a:endParaRPr lang="en-IN" dirty="0"/>
                    </a:p>
                  </a:txBody>
                  <a:tcPr/>
                </a:tc>
                <a:extLst>
                  <a:ext uri="{0D108BD9-81ED-4DB2-BD59-A6C34878D82A}">
                    <a16:rowId xmlns:a16="http://schemas.microsoft.com/office/drawing/2014/main" val="4124232598"/>
                  </a:ext>
                </a:extLst>
              </a:tr>
              <a:tr h="370840">
                <a:tc>
                  <a:txBody>
                    <a:bodyPr/>
                    <a:lstStyle/>
                    <a:p>
                      <a:r>
                        <a:rPr lang="en-IN" sz="1800" b="0" i="0" u="none" strike="noStrike" kern="1200" baseline="0" dirty="0">
                          <a:solidFill>
                            <a:schemeClr val="dk1"/>
                          </a:solidFill>
                          <a:latin typeface="+mn-lt"/>
                          <a:ea typeface="+mn-ea"/>
                          <a:cs typeface="+mn-cs"/>
                          <a:hlinkClick r:id="rId5"/>
                        </a:rPr>
                        <a:t>Cisco Sourcefire</a:t>
                      </a:r>
                      <a:endParaRPr lang="en-IN" dirty="0"/>
                    </a:p>
                  </a:txBody>
                  <a:tcPr/>
                </a:tc>
                <a:tc>
                  <a:txBody>
                    <a:bodyPr/>
                    <a:lstStyle/>
                    <a:p>
                      <a:r>
                        <a:rPr lang="en-US" sz="1800" b="0" i="0" u="none" strike="noStrike" kern="1200" baseline="0" dirty="0">
                          <a:solidFill>
                            <a:schemeClr val="dk1"/>
                          </a:solidFill>
                          <a:latin typeface="+mn-lt"/>
                          <a:ea typeface="+mn-ea"/>
                          <a:cs typeface="+mn-cs"/>
                        </a:rPr>
                        <a:t>Enterprise Snort-based IDSs and IPSs</a:t>
                      </a:r>
                      <a:endParaRPr lang="en-IN" dirty="0"/>
                    </a:p>
                  </a:txBody>
                  <a:tcPr/>
                </a:tc>
                <a:extLst>
                  <a:ext uri="{0D108BD9-81ED-4DB2-BD59-A6C34878D82A}">
                    <a16:rowId xmlns:a16="http://schemas.microsoft.com/office/drawing/2014/main" val="1652950891"/>
                  </a:ext>
                </a:extLst>
              </a:tr>
              <a:tr h="370840">
                <a:tc>
                  <a:txBody>
                    <a:bodyPr/>
                    <a:lstStyle/>
                    <a:p>
                      <a:r>
                        <a:rPr lang="en-IN" sz="1800" b="0" i="0" u="none" strike="noStrike" kern="1200" baseline="0" dirty="0">
                          <a:solidFill>
                            <a:schemeClr val="dk1"/>
                          </a:solidFill>
                          <a:latin typeface="+mn-lt"/>
                          <a:ea typeface="+mn-ea"/>
                          <a:cs typeface="+mn-cs"/>
                          <a:hlinkClick r:id="rId6"/>
                        </a:rPr>
                        <a:t>FireEye Intrusion Prevention System</a:t>
                      </a:r>
                      <a:endParaRPr lang="en-IN" dirty="0"/>
                    </a:p>
                  </a:txBody>
                  <a:tcPr/>
                </a:tc>
                <a:tc>
                  <a:txBody>
                    <a:bodyPr/>
                    <a:lstStyle/>
                    <a:p>
                      <a:r>
                        <a:rPr lang="en-US" sz="1800" b="0" i="0" u="none" strike="noStrike" kern="1200" baseline="0" dirty="0">
                          <a:solidFill>
                            <a:schemeClr val="dk1"/>
                          </a:solidFill>
                          <a:latin typeface="+mn-lt"/>
                          <a:ea typeface="+mn-ea"/>
                          <a:cs typeface="+mn-cs"/>
                        </a:rPr>
                        <a:t>A network-based IDS/IPS which can be deployed as a physical</a:t>
                      </a:r>
                    </a:p>
                    <a:p>
                      <a:r>
                        <a:rPr lang="en-US" sz="1800" b="0" i="0" u="none" strike="noStrike" kern="1200" baseline="0" dirty="0">
                          <a:solidFill>
                            <a:schemeClr val="dk1"/>
                          </a:solidFill>
                          <a:latin typeface="+mn-lt"/>
                          <a:ea typeface="+mn-ea"/>
                          <a:cs typeface="+mn-cs"/>
                        </a:rPr>
                        <a:t>appliance or a cloud-based virtual appliance.</a:t>
                      </a:r>
                      <a:endParaRPr lang="en-IN" dirty="0"/>
                    </a:p>
                  </a:txBody>
                  <a:tcPr/>
                </a:tc>
                <a:extLst>
                  <a:ext uri="{0D108BD9-81ED-4DB2-BD59-A6C34878D82A}">
                    <a16:rowId xmlns:a16="http://schemas.microsoft.com/office/drawing/2014/main" val="1155077937"/>
                  </a:ext>
                </a:extLst>
              </a:tr>
            </a:tbl>
          </a:graphicData>
        </a:graphic>
      </p:graphicFrame>
    </p:spTree>
    <p:extLst>
      <p:ext uri="{BB962C8B-B14F-4D97-AF65-F5344CB8AC3E}">
        <p14:creationId xmlns:p14="http://schemas.microsoft.com/office/powerpoint/2010/main" val="39084845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Web Filtering (1 of 2)</a:t>
            </a:r>
            <a:endParaRPr lang="en-US" dirty="0"/>
          </a:p>
        </p:txBody>
      </p:sp>
      <p:sp>
        <p:nvSpPr>
          <p:cNvPr id="2" name="Text Placeholder 1"/>
          <p:cNvSpPr>
            <a:spLocks noGrp="1"/>
          </p:cNvSpPr>
          <p:nvPr>
            <p:ph type="body" sz="quarter" idx="17"/>
          </p:nvPr>
        </p:nvSpPr>
        <p:spPr>
          <a:xfrm>
            <a:off x="743576" y="1638300"/>
            <a:ext cx="10711543" cy="4394200"/>
          </a:xfrm>
        </p:spPr>
        <p:txBody>
          <a:bodyPr>
            <a:noAutofit/>
          </a:bodyPr>
          <a:lstStyle/>
          <a:p>
            <a:r>
              <a:rPr lang="en-US" altLang="en-US" dirty="0"/>
              <a:t>Attackers commonly target the user workstations that are usually allowed access to the Internet</a:t>
            </a:r>
          </a:p>
          <a:p>
            <a:pPr lvl="1"/>
            <a:r>
              <a:rPr lang="en-US" altLang="en-US" dirty="0"/>
              <a:t>If they get an internal user to visit a bogus website or install malicious code from an email attachment, they don’t need to break through a firewall</a:t>
            </a:r>
          </a:p>
          <a:p>
            <a:pPr lvl="1"/>
            <a:r>
              <a:rPr lang="en-US" altLang="en-US" dirty="0"/>
              <a:t>After Trojan code is installed on a user’s workstation, the attackers can control the Trojan remotely with commands that might seem to be normal traffic</a:t>
            </a:r>
          </a:p>
          <a:p>
            <a:pPr lvl="2"/>
            <a:r>
              <a:rPr lang="en-US" altLang="en-US" dirty="0"/>
              <a:t>Can run network scans from the compromised workstation</a:t>
            </a:r>
          </a:p>
        </p:txBody>
      </p:sp>
    </p:spTree>
    <p:extLst>
      <p:ext uri="{BB962C8B-B14F-4D97-AF65-F5344CB8AC3E}">
        <p14:creationId xmlns:p14="http://schemas.microsoft.com/office/powerpoint/2010/main" val="36924448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Web Filtering (2 of 2)</a:t>
            </a:r>
            <a:endParaRPr lang="en-US" dirty="0"/>
          </a:p>
        </p:txBody>
      </p:sp>
      <p:sp>
        <p:nvSpPr>
          <p:cNvPr id="2" name="Text Placeholder 1"/>
          <p:cNvSpPr>
            <a:spLocks noGrp="1"/>
          </p:cNvSpPr>
          <p:nvPr>
            <p:ph type="body" sz="quarter" idx="17"/>
          </p:nvPr>
        </p:nvSpPr>
        <p:spPr>
          <a:xfrm>
            <a:off x="743576" y="1638300"/>
            <a:ext cx="10711543" cy="4394200"/>
          </a:xfrm>
        </p:spPr>
        <p:txBody>
          <a:bodyPr>
            <a:noAutofit/>
          </a:bodyPr>
          <a:lstStyle/>
          <a:p>
            <a:r>
              <a:rPr lang="en-US" altLang="en-US" dirty="0"/>
              <a:t>Web filtering is used to detect users’ attempts to access known malicious websites and block them</a:t>
            </a:r>
          </a:p>
          <a:p>
            <a:pPr lvl="1"/>
            <a:r>
              <a:rPr lang="en-US" altLang="en-US" dirty="0"/>
              <a:t>Some web-filtering systems can actually block malicious code:</a:t>
            </a:r>
          </a:p>
          <a:p>
            <a:pPr lvl="2"/>
            <a:r>
              <a:rPr lang="en-US" altLang="en-US" dirty="0"/>
              <a:t>Before it gets to a user’s workstation </a:t>
            </a:r>
          </a:p>
          <a:p>
            <a:pPr lvl="2"/>
            <a:r>
              <a:rPr lang="en-US" altLang="en-US" dirty="0"/>
              <a:t>Before it has a chance to connect to an attacker’s control system outside the network</a:t>
            </a:r>
          </a:p>
          <a:p>
            <a:r>
              <a:rPr lang="en-US" altLang="en-US" dirty="0"/>
              <a:t>Mass compromises are used to initiate </a:t>
            </a:r>
            <a:r>
              <a:rPr lang="en-US" altLang="en-US" b="1" dirty="0"/>
              <a:t>drive-by downloads</a:t>
            </a:r>
          </a:p>
          <a:p>
            <a:pPr lvl="1"/>
            <a:r>
              <a:rPr lang="en-US" altLang="en-US" dirty="0"/>
              <a:t>Website visitors download malicious code without their knowledge</a:t>
            </a:r>
          </a:p>
          <a:p>
            <a:pPr lvl="1"/>
            <a:r>
              <a:rPr lang="en-US" altLang="en-US" dirty="0"/>
              <a:t>Exploit a security flaw in the browser or a third-party application</a:t>
            </a:r>
          </a:p>
        </p:txBody>
      </p:sp>
    </p:spTree>
    <p:extLst>
      <p:ext uri="{BB962C8B-B14F-4D97-AF65-F5344CB8AC3E}">
        <p14:creationId xmlns:p14="http://schemas.microsoft.com/office/powerpoint/2010/main" val="35149339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sz="3200" dirty="0"/>
              <a:t>Security Operations Center (SOC)</a:t>
            </a:r>
            <a:endParaRPr lang="en-US" sz="3000" dirty="0"/>
          </a:p>
        </p:txBody>
      </p:sp>
      <p:sp>
        <p:nvSpPr>
          <p:cNvPr id="2" name="Text Placeholder 1"/>
          <p:cNvSpPr>
            <a:spLocks noGrp="1"/>
          </p:cNvSpPr>
          <p:nvPr>
            <p:ph type="body" sz="quarter" idx="17"/>
          </p:nvPr>
        </p:nvSpPr>
        <p:spPr>
          <a:xfrm>
            <a:off x="743576" y="1638300"/>
            <a:ext cx="10711543" cy="4394200"/>
          </a:xfrm>
        </p:spPr>
        <p:txBody>
          <a:bodyPr>
            <a:noAutofit/>
          </a:bodyPr>
          <a:lstStyle/>
          <a:p>
            <a:r>
              <a:rPr lang="en-US" altLang="en-US" b="1" dirty="0"/>
              <a:t>SOC</a:t>
            </a:r>
          </a:p>
          <a:p>
            <a:pPr lvl="1"/>
            <a:r>
              <a:rPr lang="en-US" altLang="en-US" dirty="0"/>
              <a:t>Permanent team whose members are responsible solely for security-response functions</a:t>
            </a:r>
          </a:p>
          <a:p>
            <a:r>
              <a:rPr lang="en-US" altLang="en-US" b="1" dirty="0"/>
              <a:t>Indicators of compromise</a:t>
            </a:r>
          </a:p>
          <a:p>
            <a:pPr lvl="1"/>
            <a:r>
              <a:rPr lang="en-US" altLang="en-US" dirty="0"/>
              <a:t>Artifacts left behind by attackers, which indicate that a system or network has been compromised</a:t>
            </a:r>
          </a:p>
          <a:p>
            <a:r>
              <a:rPr lang="en-US" altLang="en-US" b="1" dirty="0"/>
              <a:t>Security Information and Event Management (SIEM</a:t>
            </a:r>
            <a:r>
              <a:rPr lang="en-US" altLang="en-US" dirty="0"/>
              <a:t>) tools</a:t>
            </a:r>
          </a:p>
          <a:p>
            <a:pPr lvl="1"/>
            <a:r>
              <a:rPr lang="en-US" altLang="en-US" dirty="0"/>
              <a:t>Help SOC teams identify attacks and indicators of compromise by collecting, aggregating, and correlating log and alert data from various tools</a:t>
            </a:r>
          </a:p>
          <a:p>
            <a:pPr lvl="2"/>
            <a:r>
              <a:rPr lang="en-US" altLang="en-US" dirty="0"/>
              <a:t>Routers, firewalls, IDS/IPS, end point logs, web-filtering devices, honeypots, and other security tools</a:t>
            </a:r>
          </a:p>
        </p:txBody>
      </p:sp>
    </p:spTree>
    <p:extLst>
      <p:ext uri="{BB962C8B-B14F-4D97-AF65-F5344CB8AC3E}">
        <p14:creationId xmlns:p14="http://schemas.microsoft.com/office/powerpoint/2010/main" val="29094135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13-2</a:t>
            </a:r>
          </a:p>
        </p:txBody>
      </p:sp>
      <p:sp>
        <p:nvSpPr>
          <p:cNvPr id="2" name="Text Placeholder 1"/>
          <p:cNvSpPr>
            <a:spLocks noGrp="1"/>
          </p:cNvSpPr>
          <p:nvPr>
            <p:ph type="body" sz="quarter" idx="15"/>
          </p:nvPr>
        </p:nvSpPr>
        <p:spPr/>
        <p:txBody>
          <a:bodyPr/>
          <a:lstStyle/>
          <a:p>
            <a:r>
              <a:rPr lang="en-US" sz="2000" dirty="0"/>
              <a:t>Which of the following describes a tool that collects logs and alerts from multiple devices for security analysis?</a:t>
            </a:r>
          </a:p>
          <a:p>
            <a:endParaRPr lang="en-US" sz="2000" dirty="0"/>
          </a:p>
          <a:p>
            <a:pPr marL="457200" indent="-457200">
              <a:buFont typeface="+mj-lt"/>
              <a:buAutoNum type="alphaLcPeriod"/>
            </a:pPr>
            <a:r>
              <a:rPr lang="en-US" sz="2000" dirty="0"/>
              <a:t>Log Management System (LMS)</a:t>
            </a:r>
          </a:p>
          <a:p>
            <a:pPr marL="457200" indent="-457200">
              <a:buFont typeface="+mj-lt"/>
              <a:buAutoNum type="alphaLcPeriod"/>
            </a:pPr>
            <a:r>
              <a:rPr lang="en-US" sz="2000" dirty="0"/>
              <a:t>Security Information and Event Management (SIEM)</a:t>
            </a:r>
          </a:p>
          <a:p>
            <a:pPr marL="457200" indent="-457200">
              <a:buFont typeface="+mj-lt"/>
              <a:buAutoNum type="alphaLcPeriod"/>
            </a:pPr>
            <a:r>
              <a:rPr lang="en-US" sz="2000" dirty="0"/>
              <a:t>Network-based IPS</a:t>
            </a:r>
          </a:p>
          <a:p>
            <a:pPr marL="457200" indent="-457200">
              <a:buFont typeface="+mj-lt"/>
              <a:buAutoNum type="alphaLcPeriod"/>
            </a:pPr>
            <a:r>
              <a:rPr lang="en-US" sz="2000" dirty="0"/>
              <a:t>Honeypot</a:t>
            </a:r>
          </a:p>
        </p:txBody>
      </p:sp>
    </p:spTree>
    <p:extLst>
      <p:ext uri="{BB962C8B-B14F-4D97-AF65-F5344CB8AC3E}">
        <p14:creationId xmlns:p14="http://schemas.microsoft.com/office/powerpoint/2010/main" val="33562995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13-2: Answer</a:t>
            </a:r>
          </a:p>
        </p:txBody>
      </p:sp>
      <p:sp>
        <p:nvSpPr>
          <p:cNvPr id="2" name="Text Placeholder 1"/>
          <p:cNvSpPr>
            <a:spLocks noGrp="1"/>
          </p:cNvSpPr>
          <p:nvPr>
            <p:ph type="body" sz="quarter" idx="15"/>
          </p:nvPr>
        </p:nvSpPr>
        <p:spPr/>
        <p:txBody>
          <a:bodyPr/>
          <a:lstStyle/>
          <a:p>
            <a:r>
              <a:rPr lang="en-US" sz="2000" dirty="0"/>
              <a:t>Which of the following describes a tool that collects logs and alerts from multiple devices for security analysis?</a:t>
            </a:r>
          </a:p>
          <a:p>
            <a:endParaRPr lang="en-US" sz="2000" b="1" dirty="0"/>
          </a:p>
          <a:p>
            <a:pPr>
              <a:spcBef>
                <a:spcPts val="600"/>
              </a:spcBef>
              <a:spcAft>
                <a:spcPts val="600"/>
              </a:spcAft>
            </a:pPr>
            <a:r>
              <a:rPr lang="en-US" sz="2000" b="1" dirty="0"/>
              <a:t>Answer: b. Security Information and Event Management (SIEM)</a:t>
            </a:r>
          </a:p>
          <a:p>
            <a:pPr>
              <a:spcBef>
                <a:spcPts val="600"/>
              </a:spcBef>
              <a:spcAft>
                <a:spcPts val="600"/>
              </a:spcAft>
            </a:pPr>
            <a:r>
              <a:rPr lang="en-US" sz="2000" b="1" dirty="0"/>
              <a:t>SIEM is a tool that can help security-response teams identify attacks and indicators of compromise by collecting, aggregating, and correlating log and alert data from routers, firewalls, IDS/IPS, end point logs, web-filtering devices, honeypots, and other security tools.</a:t>
            </a:r>
          </a:p>
        </p:txBody>
      </p:sp>
    </p:spTree>
    <p:extLst>
      <p:ext uri="{BB962C8B-B14F-4D97-AF65-F5344CB8AC3E}">
        <p14:creationId xmlns:p14="http://schemas.microsoft.com/office/powerpoint/2010/main" val="27366402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 Activity 13-1</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Discuss which type of malicious activity can be prevented by web filters.</a:t>
            </a:r>
          </a:p>
        </p:txBody>
      </p:sp>
    </p:spTree>
    <p:extLst>
      <p:ext uri="{BB962C8B-B14F-4D97-AF65-F5344CB8AC3E}">
        <p14:creationId xmlns:p14="http://schemas.microsoft.com/office/powerpoint/2010/main" val="4717102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 Activity 13-1: Answer</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Discuss which type of malicious activity can be prevented by web filters.</a:t>
            </a:r>
          </a:p>
          <a:p>
            <a:endParaRPr lang="en-US" sz="2000" b="1" dirty="0"/>
          </a:p>
          <a:p>
            <a:pPr>
              <a:spcBef>
                <a:spcPts val="600"/>
              </a:spcBef>
              <a:spcAft>
                <a:spcPts val="600"/>
              </a:spcAft>
            </a:pPr>
            <a:r>
              <a:rPr lang="en-US" sz="2000" b="1" dirty="0"/>
              <a:t>Answer: Drive-by download</a:t>
            </a:r>
          </a:p>
          <a:p>
            <a:pPr>
              <a:spcBef>
                <a:spcPts val="600"/>
              </a:spcBef>
              <a:spcAft>
                <a:spcPts val="600"/>
              </a:spcAft>
            </a:pPr>
            <a:r>
              <a:rPr lang="en-US" sz="2000" b="1" dirty="0"/>
              <a:t>Explanation: In 1988, the National Security Agency (NSA) thought the Data Encryption Standard (DES) was at risk of being broken because of its longevity and the increasing power of computers. NSA proved to be correct in its assumption. The increased processing power of computers soon made it possible to break DES encryption.</a:t>
            </a:r>
          </a:p>
        </p:txBody>
      </p:sp>
    </p:spTree>
    <p:extLst>
      <p:ext uri="{BB962C8B-B14F-4D97-AF65-F5344CB8AC3E}">
        <p14:creationId xmlns:p14="http://schemas.microsoft.com/office/powerpoint/2010/main" val="28246047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Using Honeypots</a:t>
            </a:r>
            <a:endParaRPr lang="en-US" dirty="0"/>
          </a:p>
        </p:txBody>
      </p:sp>
      <p:sp>
        <p:nvSpPr>
          <p:cNvPr id="2" name="Text Placeholder 1"/>
          <p:cNvSpPr>
            <a:spLocks noGrp="1"/>
          </p:cNvSpPr>
          <p:nvPr>
            <p:ph type="body" sz="quarter" idx="17"/>
          </p:nvPr>
        </p:nvSpPr>
        <p:spPr/>
        <p:txBody>
          <a:bodyPr/>
          <a:lstStyle/>
          <a:p>
            <a:pPr eaLnBrk="1" hangingPunct="1"/>
            <a:r>
              <a:rPr lang="en-US" altLang="en-US" b="1" dirty="0"/>
              <a:t>Honeypot</a:t>
            </a:r>
          </a:p>
          <a:p>
            <a:pPr lvl="1" eaLnBrk="1" hangingPunct="1"/>
            <a:r>
              <a:rPr lang="en-US" altLang="en-US" dirty="0"/>
              <a:t>Computer placed on the network perimeter</a:t>
            </a:r>
          </a:p>
          <a:p>
            <a:pPr lvl="2" eaLnBrk="1" hangingPunct="1"/>
            <a:r>
              <a:rPr lang="en-US" altLang="en-US" dirty="0"/>
              <a:t>Contains information to lure and then trap hackers</a:t>
            </a:r>
          </a:p>
          <a:p>
            <a:pPr lvl="1" eaLnBrk="1" hangingPunct="1"/>
            <a:r>
              <a:rPr lang="en-US" altLang="en-US" dirty="0"/>
              <a:t>Main goal is to distract hackers from attacking legitimate network resources</a:t>
            </a:r>
          </a:p>
          <a:p>
            <a:pPr lvl="1" eaLnBrk="1" hangingPunct="1"/>
            <a:r>
              <a:rPr lang="en-US" altLang="en-US" dirty="0"/>
              <a:t>A security professional configures the computer to have vulnerabilities </a:t>
            </a:r>
          </a:p>
          <a:p>
            <a:pPr lvl="2"/>
            <a:r>
              <a:rPr lang="en-US" altLang="en-US" dirty="0"/>
              <a:t>So, hackers spend time trying to exploit these vulnerabilities</a:t>
            </a:r>
          </a:p>
          <a:p>
            <a:pPr lvl="1" eaLnBrk="1" hangingPunct="1"/>
            <a:r>
              <a:rPr lang="en-US" altLang="en-US" dirty="0"/>
              <a:t>Another goal is to have hackers connected to the “phony” computer long enough to be detected</a:t>
            </a:r>
          </a:p>
          <a:p>
            <a:pPr lvl="1" eaLnBrk="1" hangingPunct="1"/>
            <a:r>
              <a:rPr lang="en-US" altLang="en-US" dirty="0"/>
              <a:t>Serves as an excellent data collector and early warning system</a:t>
            </a:r>
          </a:p>
        </p:txBody>
      </p:sp>
    </p:spTree>
    <p:extLst>
      <p:ext uri="{BB962C8B-B14F-4D97-AF65-F5344CB8AC3E}">
        <p14:creationId xmlns:p14="http://schemas.microsoft.com/office/powerpoint/2010/main" val="8358403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How Honeypots Work</a:t>
            </a:r>
            <a:endParaRPr lang="en-US" dirty="0"/>
          </a:p>
        </p:txBody>
      </p:sp>
      <p:sp>
        <p:nvSpPr>
          <p:cNvPr id="2" name="Text Placeholder 1"/>
          <p:cNvSpPr>
            <a:spLocks noGrp="1"/>
          </p:cNvSpPr>
          <p:nvPr>
            <p:ph type="body" sz="quarter" idx="17"/>
          </p:nvPr>
        </p:nvSpPr>
        <p:spPr/>
        <p:txBody>
          <a:bodyPr/>
          <a:lstStyle/>
          <a:p>
            <a:r>
              <a:rPr lang="en-US" altLang="en-US" dirty="0"/>
              <a:t>Honeypot appears to have important data or sensitive information stored on it</a:t>
            </a:r>
          </a:p>
          <a:p>
            <a:pPr lvl="1"/>
            <a:r>
              <a:rPr lang="en-US" altLang="en-US" dirty="0"/>
              <a:t>Could store fake financial data that tempts hackers into attempting to browse through the data</a:t>
            </a:r>
          </a:p>
          <a:p>
            <a:r>
              <a:rPr lang="en-US" altLang="en-US" dirty="0"/>
              <a:t>Basic belief is that hackers will spend time exploiting vulnerabilities</a:t>
            </a:r>
          </a:p>
          <a:p>
            <a:pPr lvl="1"/>
            <a:r>
              <a:rPr lang="en-US" altLang="en-US" dirty="0"/>
              <a:t>Stop looking for other areas to exploit and access a company’s resources</a:t>
            </a:r>
          </a:p>
          <a:p>
            <a:r>
              <a:rPr lang="en-US" altLang="en-US" dirty="0"/>
              <a:t>Enables security professionals to collect data on attackers</a:t>
            </a:r>
          </a:p>
          <a:p>
            <a:r>
              <a:rPr lang="en-US" altLang="en-US" dirty="0"/>
              <a:t>Virtual honeypots</a:t>
            </a:r>
          </a:p>
          <a:p>
            <a:pPr lvl="1"/>
            <a:r>
              <a:rPr lang="en-US" altLang="en-US" dirty="0"/>
              <a:t>Created using a programming language rather than configuring a physical device</a:t>
            </a:r>
          </a:p>
        </p:txBody>
      </p:sp>
    </p:spTree>
    <p:extLst>
      <p:ext uri="{BB962C8B-B14F-4D97-AF65-F5344CB8AC3E}">
        <p14:creationId xmlns:p14="http://schemas.microsoft.com/office/powerpoint/2010/main" val="15377966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Self-Assessment</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What is the main goal of using honeypots?</a:t>
            </a:r>
          </a:p>
          <a:p>
            <a:endParaRPr lang="en-US" sz="2000" dirty="0"/>
          </a:p>
          <a:p>
            <a:r>
              <a:rPr lang="en-US" sz="2000" dirty="0"/>
              <a:t>Describe the different routing protocols used in the best-path decision making process.</a:t>
            </a:r>
          </a:p>
        </p:txBody>
      </p:sp>
    </p:spTree>
    <p:extLst>
      <p:ext uri="{BB962C8B-B14F-4D97-AF65-F5344CB8AC3E}">
        <p14:creationId xmlns:p14="http://schemas.microsoft.com/office/powerpoint/2010/main" val="4221364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Summary</a:t>
            </a:r>
            <a:endParaRPr lang="en-US" dirty="0"/>
          </a:p>
        </p:txBody>
      </p:sp>
      <p:sp>
        <p:nvSpPr>
          <p:cNvPr id="2" name="Text Placeholder 1"/>
          <p:cNvSpPr>
            <a:spLocks noGrp="1"/>
          </p:cNvSpPr>
          <p:nvPr>
            <p:ph type="body" sz="quarter" idx="17"/>
          </p:nvPr>
        </p:nvSpPr>
        <p:spPr/>
        <p:txBody>
          <a:bodyPr/>
          <a:lstStyle/>
          <a:p>
            <a:r>
              <a:rPr lang="en-US" altLang="en-US" dirty="0"/>
              <a:t>Now that the lesson has ended, you should be able to:</a:t>
            </a:r>
          </a:p>
          <a:p>
            <a:pPr lvl="1">
              <a:defRPr/>
            </a:pPr>
            <a:r>
              <a:rPr lang="en-US" dirty="0"/>
              <a:t>Explain how routers are used as network protection systems</a:t>
            </a:r>
          </a:p>
          <a:p>
            <a:pPr lvl="1">
              <a:defRPr/>
            </a:pPr>
            <a:r>
              <a:rPr lang="en-US" dirty="0"/>
              <a:t>Describe firewall technology and tools for configuring firewalls and routers</a:t>
            </a:r>
          </a:p>
          <a:p>
            <a:pPr lvl="1">
              <a:defRPr/>
            </a:pPr>
            <a:r>
              <a:rPr lang="en-US" dirty="0"/>
              <a:t>Describe intrusion detection and prevention systems and web-filtering technology</a:t>
            </a:r>
          </a:p>
          <a:p>
            <a:pPr lvl="1">
              <a:defRPr/>
            </a:pPr>
            <a:r>
              <a:rPr lang="en-US" dirty="0"/>
              <a:t>Explain the purpose of honeypots</a:t>
            </a:r>
          </a:p>
        </p:txBody>
      </p:sp>
    </p:spTree>
    <p:extLst>
      <p:ext uri="{BB962C8B-B14F-4D97-AF65-F5344CB8AC3E}">
        <p14:creationId xmlns:p14="http://schemas.microsoft.com/office/powerpoint/2010/main" val="2599268247"/>
      </p:ext>
    </p:extLst>
  </p:cSld>
  <p:clrMapOvr>
    <a:masterClrMapping/>
  </p:clrMapOvr>
</p:sld>
</file>

<file path=ppt/theme/theme1.xml><?xml version="1.0" encoding="utf-8"?>
<a:theme xmlns:a="http://schemas.openxmlformats.org/drawingml/2006/main"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9BA192-EF86-48DF-982C-2C526A268392}">
  <ds:schemaRefs>
    <ds:schemaRef ds:uri="http://purl.org/dc/terms/"/>
    <ds:schemaRef ds:uri="5b47f0fb-e24d-44b9-89a4-ff46b5ce035f"/>
    <ds:schemaRef ds:uri="http://www.w3.org/XML/1998/namespace"/>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http://purl.org/dc/dcmitype/"/>
    <ds:schemaRef ds:uri="dbac95d4-689a-4a2b-9845-ea50641fb23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19417</TotalTime>
  <Words>3660</Words>
  <Application>Microsoft Office PowerPoint</Application>
  <PresentationFormat>Widescreen</PresentationFormat>
  <Paragraphs>536</Paragraphs>
  <Slides>55</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Arial</vt:lpstr>
      <vt:lpstr>Arial</vt:lpstr>
      <vt:lpstr>Calibri</vt:lpstr>
      <vt:lpstr>Courier New</vt:lpstr>
      <vt:lpstr>CourierStd</vt:lpstr>
      <vt:lpstr>CourierStd-Bold</vt:lpstr>
      <vt:lpstr>Helvetica</vt:lpstr>
      <vt:lpstr>Open Sans</vt:lpstr>
      <vt:lpstr>Summer Font</vt:lpstr>
      <vt:lpstr>Office Theme</vt:lpstr>
      <vt:lpstr>Hands-On Ethical Hacking and Network Defense, Edition 4</vt:lpstr>
      <vt:lpstr>Module Objectives</vt:lpstr>
      <vt:lpstr>Using Network Protection Systems</vt:lpstr>
      <vt:lpstr>Using Routers to Reduce Network Attacks</vt:lpstr>
      <vt:lpstr>Cisco Router Components (1 of 2)</vt:lpstr>
      <vt:lpstr>Cisco Router Components (2 of 2)</vt:lpstr>
      <vt:lpstr>Cisco Router Configuration (1 of 2)</vt:lpstr>
      <vt:lpstr>Cisco Router Configuration (2 of 2)</vt:lpstr>
      <vt:lpstr>Cisco Commands (1 of 3)</vt:lpstr>
      <vt:lpstr>Cisco Commands (2 of 3)</vt:lpstr>
      <vt:lpstr>Cisco Commands (3 of 3)</vt:lpstr>
      <vt:lpstr>Using Access Control Lists</vt:lpstr>
      <vt:lpstr>Standard IP Access Lists</vt:lpstr>
      <vt:lpstr>Extended IP Access Lists</vt:lpstr>
      <vt:lpstr>Knowledge Check Activity 13-1</vt:lpstr>
      <vt:lpstr>Knowledge Check Activity 13-1: Answer</vt:lpstr>
      <vt:lpstr>Polling Activity 13-1</vt:lpstr>
      <vt:lpstr>Polling Activity 13-1: Answer</vt:lpstr>
      <vt:lpstr>Protecting with Firewalls (1 of 2)</vt:lpstr>
      <vt:lpstr>Protecting with Firewalls (2 of 2)</vt:lpstr>
      <vt:lpstr>Examining Firewall Technology</vt:lpstr>
      <vt:lpstr>Network Address Translation</vt:lpstr>
      <vt:lpstr>Access Lists</vt:lpstr>
      <vt:lpstr>Packet Filtering</vt:lpstr>
      <vt:lpstr>Stateful Packet Inspection</vt:lpstr>
      <vt:lpstr>State Table Example</vt:lpstr>
      <vt:lpstr>Application Layer Inspection</vt:lpstr>
      <vt:lpstr>Implementing a Firewall</vt:lpstr>
      <vt:lpstr>Demilitarized Zone (1 of 3)</vt:lpstr>
      <vt:lpstr>Demilitarized Zone (2 of 3)</vt:lpstr>
      <vt:lpstr>Demilitarized Zone (3 of 3)</vt:lpstr>
      <vt:lpstr>Examining the Cisco Adaptive Security Appliance Firewall</vt:lpstr>
      <vt:lpstr>Configuring the A S A Firewall (1 of 2)</vt:lpstr>
      <vt:lpstr>Configuring the A S A Firewall (2 of 2)</vt:lpstr>
      <vt:lpstr>Using Configuration and Risk Analysis Tools for Firewalls and Routers (1 of 3)</vt:lpstr>
      <vt:lpstr>Using Configuration and Risk Analysis Tools for Firewalls and Routers (2 of 3)</vt:lpstr>
      <vt:lpstr>Using Configuration and Risk Analysis Tools for Firewalls and Routers (3 of 3)</vt:lpstr>
      <vt:lpstr>Polling Activity 13-2</vt:lpstr>
      <vt:lpstr>Polling Activity 13-2: Answer</vt:lpstr>
      <vt:lpstr>Protecting with Intrusion Detection and Prevention Systems</vt:lpstr>
      <vt:lpstr>Network-Based and Host-Based IDSs and IPSs (1 of 4)</vt:lpstr>
      <vt:lpstr>Network-Based and Host-Based IDSs and IPSs (2 of 4)</vt:lpstr>
      <vt:lpstr>Network-Based and Host-Based IDSs and IPSs (3 of 4)</vt:lpstr>
      <vt:lpstr>Network-Based and Host-Based IDSs and IPSs (4 of 4)</vt:lpstr>
      <vt:lpstr>Web Filtering (1 of 2)</vt:lpstr>
      <vt:lpstr>Web Filtering (2 of 2)</vt:lpstr>
      <vt:lpstr>Security Operations Center (SOC)</vt:lpstr>
      <vt:lpstr>Knowledge Check Activity 13-2</vt:lpstr>
      <vt:lpstr>Knowledge Check Activity 13-2: Answer</vt:lpstr>
      <vt:lpstr>Discussion Activity 13-1</vt:lpstr>
      <vt:lpstr>Discussion Activity 13-1: Answer</vt:lpstr>
      <vt:lpstr>Using Honeypots</vt:lpstr>
      <vt:lpstr>How Honeypots Work</vt:lpstr>
      <vt:lpstr>Self-Assessment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ansrsource_17</cp:lastModifiedBy>
  <cp:revision>589</cp:revision>
  <dcterms:created xsi:type="dcterms:W3CDTF">2020-07-27T16:46:05Z</dcterms:created>
  <dcterms:modified xsi:type="dcterms:W3CDTF">2022-02-23T13:51:57Z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ies>
</file>